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b2f216fbf6bd0ea75ab1537b989e7b477c1f27d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657475" cy="390525"/>
          </a:xfrm>
          <a:custGeom>
            <a:avLst/>
            <a:gdLst/>
            <a:ahLst/>
            <a:cxnLst/>
            <a:rect l="l" t="t" r="r" b="b"/>
            <a:pathLst>
              <a:path w="2657475" h="390525">
                <a:moveTo>
                  <a:pt x="38100" y="0"/>
                </a:moveTo>
                <a:lnTo>
                  <a:pt x="2619375" y="0"/>
                </a:lnTo>
                <a:cubicBezTo>
                  <a:pt x="2640417" y="0"/>
                  <a:pt x="2657475" y="17058"/>
                  <a:pt x="2657475" y="38100"/>
                </a:cubicBezTo>
                <a:lnTo>
                  <a:pt x="2657475" y="352425"/>
                </a:lnTo>
                <a:cubicBezTo>
                  <a:pt x="2657475" y="373467"/>
                  <a:pt x="2640417" y="390525"/>
                  <a:pt x="261937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509587"/>
            <a:ext cx="2413397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FUNDAMENTALS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515204" y="485775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193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962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3053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 &amp; Red Teams • SOC Operations • Privacy • Security Controls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4813" y="628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62865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Strategies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08374" y="6286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2460799" y="62865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Operations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05535" y="6286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110335" y="62865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00200"/>
            <a:ext cx="5581650" cy="1209675"/>
          </a:xfrm>
          <a:custGeom>
            <a:avLst/>
            <a:gdLst/>
            <a:ahLst/>
            <a:cxnLst/>
            <a:rect l="l" t="t" r="r" b="b"/>
            <a:pathLst>
              <a:path w="5581650" h="1209675">
                <a:moveTo>
                  <a:pt x="38100" y="0"/>
                </a:moveTo>
                <a:lnTo>
                  <a:pt x="5505453" y="0"/>
                </a:lnTo>
                <a:cubicBezTo>
                  <a:pt x="5547507" y="0"/>
                  <a:pt x="5581650" y="34143"/>
                  <a:pt x="5581650" y="76197"/>
                </a:cubicBezTo>
                <a:lnTo>
                  <a:pt x="5581650" y="1133478"/>
                </a:lnTo>
                <a:cubicBezTo>
                  <a:pt x="5581650" y="1175532"/>
                  <a:pt x="5547507" y="1209675"/>
                  <a:pt x="5505453" y="1209675"/>
                </a:cubicBezTo>
                <a:lnTo>
                  <a:pt x="38100" y="1209675"/>
                </a:lnTo>
                <a:cubicBezTo>
                  <a:pt x="17072" y="1209675"/>
                  <a:pt x="0" y="1192603"/>
                  <a:pt x="0" y="1171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1209675"/>
          </a:xfrm>
          <a:custGeom>
            <a:avLst/>
            <a:gdLst/>
            <a:ahLst/>
            <a:cxnLst/>
            <a:rect l="l" t="t" r="r" b="b"/>
            <a:pathLst>
              <a:path w="38100" h="1209675">
                <a:moveTo>
                  <a:pt x="38100" y="0"/>
                </a:moveTo>
                <a:lnTo>
                  <a:pt x="38100" y="0"/>
                </a:lnTo>
                <a:lnTo>
                  <a:pt x="38100" y="1209675"/>
                </a:lnTo>
                <a:lnTo>
                  <a:pt x="38100" y="1209675"/>
                </a:lnTo>
                <a:cubicBezTo>
                  <a:pt x="17072" y="1209675"/>
                  <a:pt x="0" y="1192603"/>
                  <a:pt x="0" y="1171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561975" y="1790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907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 &amp; Red Teams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133600"/>
            <a:ext cx="4638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Offensive vs defensive security operations and the Purple Team collaborative approach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00200"/>
            <a:ext cx="5581650" cy="1209675"/>
          </a:xfrm>
          <a:custGeom>
            <a:avLst/>
            <a:gdLst/>
            <a:ahLst/>
            <a:cxnLst/>
            <a:rect l="l" t="t" r="r" b="b"/>
            <a:pathLst>
              <a:path w="5581650" h="1209675">
                <a:moveTo>
                  <a:pt x="38100" y="0"/>
                </a:moveTo>
                <a:lnTo>
                  <a:pt x="5505453" y="0"/>
                </a:lnTo>
                <a:cubicBezTo>
                  <a:pt x="5547507" y="0"/>
                  <a:pt x="5581650" y="34143"/>
                  <a:pt x="5581650" y="76197"/>
                </a:cubicBezTo>
                <a:lnTo>
                  <a:pt x="5581650" y="1133478"/>
                </a:lnTo>
                <a:cubicBezTo>
                  <a:pt x="5581650" y="1175532"/>
                  <a:pt x="5547507" y="1209675"/>
                  <a:pt x="5505453" y="1209675"/>
                </a:cubicBezTo>
                <a:lnTo>
                  <a:pt x="38100" y="1209675"/>
                </a:lnTo>
                <a:cubicBezTo>
                  <a:pt x="17072" y="1209675"/>
                  <a:pt x="0" y="1192603"/>
                  <a:pt x="0" y="1171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600200"/>
            <a:ext cx="38100" cy="1209675"/>
          </a:xfrm>
          <a:custGeom>
            <a:avLst/>
            <a:gdLst/>
            <a:ahLst/>
            <a:cxnLst/>
            <a:rect l="l" t="t" r="r" b="b"/>
            <a:pathLst>
              <a:path w="38100" h="1209675">
                <a:moveTo>
                  <a:pt x="38100" y="0"/>
                </a:moveTo>
                <a:lnTo>
                  <a:pt x="38100" y="0"/>
                </a:lnTo>
                <a:lnTo>
                  <a:pt x="38100" y="1209675"/>
                </a:lnTo>
                <a:lnTo>
                  <a:pt x="38100" y="1209675"/>
                </a:lnTo>
                <a:cubicBezTo>
                  <a:pt x="17072" y="1209675"/>
                  <a:pt x="0" y="1192603"/>
                  <a:pt x="0" y="1171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89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275" y="1790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790700"/>
            <a:ext cx="3771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Operations Center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0" y="2133600"/>
            <a:ext cx="3743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 functions, structure, and 24/7 threat monitoring capabilities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039070"/>
            <a:ext cx="5581650" cy="990600"/>
          </a:xfrm>
          <a:custGeom>
            <a:avLst/>
            <a:gdLst/>
            <a:ahLst/>
            <a:cxnLst/>
            <a:rect l="l" t="t" r="r" b="b"/>
            <a:pathLst>
              <a:path w="5581650" h="9906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914403"/>
                </a:lnTo>
                <a:cubicBezTo>
                  <a:pt x="5581650" y="956485"/>
                  <a:pt x="5547535" y="990600"/>
                  <a:pt x="55054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03907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229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61975" y="322957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229570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 Job Roles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572470"/>
            <a:ext cx="3590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analyst structure and specialized security positions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039070"/>
            <a:ext cx="5581650" cy="990600"/>
          </a:xfrm>
          <a:custGeom>
            <a:avLst/>
            <a:gdLst/>
            <a:ahLst/>
            <a:cxnLst/>
            <a:rect l="l" t="t" r="r" b="b"/>
            <a:pathLst>
              <a:path w="5581650" h="9906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914403"/>
                </a:lnTo>
                <a:cubicBezTo>
                  <a:pt x="5581650" y="956485"/>
                  <a:pt x="5547535" y="990600"/>
                  <a:pt x="55054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03907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3229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275" y="322957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3229570"/>
            <a:ext cx="410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&amp; Data Protection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3572470"/>
            <a:ext cx="4076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CIA Triad foundation and privacy principles guiding security strategies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261247"/>
            <a:ext cx="5581650" cy="990600"/>
          </a:xfrm>
          <a:custGeom>
            <a:avLst/>
            <a:gdLst/>
            <a:ahLst/>
            <a:cxnLst/>
            <a:rect l="l" t="t" r="r" b="b"/>
            <a:pathLst>
              <a:path w="5581650" h="9906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914403"/>
                </a:lnTo>
                <a:cubicBezTo>
                  <a:pt x="5581650" y="956485"/>
                  <a:pt x="5547535" y="990600"/>
                  <a:pt x="55054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261247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445174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561975" y="4451747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451747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Controls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4794647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framework of administrative, technical, and physical controls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4261247"/>
            <a:ext cx="5581650" cy="990600"/>
          </a:xfrm>
          <a:custGeom>
            <a:avLst/>
            <a:gdLst/>
            <a:ahLst/>
            <a:cxnLst/>
            <a:rect l="l" t="t" r="r" b="b"/>
            <a:pathLst>
              <a:path w="5581650" h="9906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914403"/>
                </a:lnTo>
                <a:cubicBezTo>
                  <a:pt x="5581650" y="956485"/>
                  <a:pt x="5547535" y="990600"/>
                  <a:pt x="55054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4261247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8900" y="445174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275" y="4451747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4451747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Methods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48500" y="4794647"/>
            <a:ext cx="4133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verification factors and multi-factor authentication approaches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483423"/>
            <a:ext cx="11410950" cy="990600"/>
          </a:xfrm>
          <a:custGeom>
            <a:avLst/>
            <a:gdLst/>
            <a:ahLst/>
            <a:cxnLst/>
            <a:rect l="l" t="t" r="r" b="b"/>
            <a:pathLst>
              <a:path w="11410950" h="990600">
                <a:moveTo>
                  <a:pt x="3810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914403"/>
                </a:lnTo>
                <a:cubicBezTo>
                  <a:pt x="11410950" y="956485"/>
                  <a:pt x="11376835" y="990600"/>
                  <a:pt x="113347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48342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6739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61975" y="56739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5673923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Authorization &amp; Access Control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9200" y="6016823"/>
            <a:ext cx="3971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RBAC, MAC, DAC, and ABAC models for controlling resource access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129" y="373129"/>
            <a:ext cx="11511039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103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OFFENSIVE VS DEFENSIVE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129" y="634320"/>
            <a:ext cx="11613650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 Team vs. Red Team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129" y="1082075"/>
            <a:ext cx="1152969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sides of the same mission: testing and strengthening organizational defenses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129" y="1455204"/>
            <a:ext cx="895510" cy="37313"/>
          </a:xfrm>
          <a:custGeom>
            <a:avLst/>
            <a:gdLst/>
            <a:ahLst/>
            <a:cxnLst/>
            <a:rect l="l" t="t" r="r" b="b"/>
            <a:pathLst>
              <a:path w="895510" h="37313">
                <a:moveTo>
                  <a:pt x="0" y="0"/>
                </a:moveTo>
                <a:lnTo>
                  <a:pt x="895510" y="0"/>
                </a:lnTo>
                <a:lnTo>
                  <a:pt x="895510" y="37313"/>
                </a:lnTo>
                <a:lnTo>
                  <a:pt x="0" y="3731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77793" y="1721059"/>
            <a:ext cx="5596940" cy="4290987"/>
          </a:xfrm>
          <a:custGeom>
            <a:avLst/>
            <a:gdLst/>
            <a:ahLst/>
            <a:cxnLst/>
            <a:rect l="l" t="t" r="r" b="b"/>
            <a:pathLst>
              <a:path w="5596940" h="4290987">
                <a:moveTo>
                  <a:pt x="74620" y="0"/>
                </a:moveTo>
                <a:lnTo>
                  <a:pt x="5522319" y="0"/>
                </a:lnTo>
                <a:cubicBezTo>
                  <a:pt x="5563531" y="0"/>
                  <a:pt x="5596940" y="33409"/>
                  <a:pt x="5596940" y="74620"/>
                </a:cubicBezTo>
                <a:lnTo>
                  <a:pt x="5596940" y="4216367"/>
                </a:lnTo>
                <a:cubicBezTo>
                  <a:pt x="5596940" y="4257578"/>
                  <a:pt x="5563531" y="4290987"/>
                  <a:pt x="5522319" y="4290987"/>
                </a:cubicBezTo>
                <a:lnTo>
                  <a:pt x="74620" y="4290987"/>
                </a:lnTo>
                <a:cubicBezTo>
                  <a:pt x="33409" y="4290987"/>
                  <a:pt x="0" y="4257578"/>
                  <a:pt x="0" y="4216367"/>
                </a:cubicBezTo>
                <a:lnTo>
                  <a:pt x="0" y="74620"/>
                </a:lnTo>
                <a:cubicBezTo>
                  <a:pt x="0" y="33409"/>
                  <a:pt x="33409" y="0"/>
                  <a:pt x="7462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335" y="1949601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261191" y="0"/>
                </a:moveTo>
                <a:lnTo>
                  <a:pt x="261191" y="0"/>
                </a:lnTo>
                <a:cubicBezTo>
                  <a:pt x="405442" y="0"/>
                  <a:pt x="522381" y="116939"/>
                  <a:pt x="522381" y="261191"/>
                </a:cubicBezTo>
                <a:lnTo>
                  <a:pt x="522381" y="261191"/>
                </a:lnTo>
                <a:cubicBezTo>
                  <a:pt x="522381" y="405442"/>
                  <a:pt x="405442" y="522381"/>
                  <a:pt x="261191" y="522381"/>
                </a:cubicBezTo>
                <a:lnTo>
                  <a:pt x="261191" y="522381"/>
                </a:lnTo>
                <a:cubicBezTo>
                  <a:pt x="116939" y="522381"/>
                  <a:pt x="0" y="405442"/>
                  <a:pt x="0" y="261191"/>
                </a:cubicBezTo>
                <a:lnTo>
                  <a:pt x="0" y="261191"/>
                </a:lnTo>
                <a:cubicBezTo>
                  <a:pt x="0" y="116939"/>
                  <a:pt x="116939" y="0"/>
                  <a:pt x="261191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741594" y="2098852"/>
            <a:ext cx="251862" cy="223878"/>
          </a:xfrm>
          <a:custGeom>
            <a:avLst/>
            <a:gdLst/>
            <a:ahLst/>
            <a:cxnLst/>
            <a:rect l="l" t="t" r="r" b="b"/>
            <a:pathLst>
              <a:path w="251862" h="223878">
                <a:moveTo>
                  <a:pt x="125931" y="-6996"/>
                </a:moveTo>
                <a:cubicBezTo>
                  <a:pt x="133671" y="-6996"/>
                  <a:pt x="139923" y="-743"/>
                  <a:pt x="139923" y="6996"/>
                </a:cubicBezTo>
                <a:lnTo>
                  <a:pt x="139923" y="14998"/>
                </a:lnTo>
                <a:cubicBezTo>
                  <a:pt x="182819" y="21120"/>
                  <a:pt x="216750" y="55051"/>
                  <a:pt x="222872" y="97946"/>
                </a:cubicBezTo>
                <a:lnTo>
                  <a:pt x="230874" y="97946"/>
                </a:lnTo>
                <a:cubicBezTo>
                  <a:pt x="238613" y="97946"/>
                  <a:pt x="244866" y="104199"/>
                  <a:pt x="244866" y="111939"/>
                </a:cubicBezTo>
                <a:cubicBezTo>
                  <a:pt x="244866" y="119678"/>
                  <a:pt x="238613" y="125931"/>
                  <a:pt x="230874" y="125931"/>
                </a:cubicBezTo>
                <a:lnTo>
                  <a:pt x="222872" y="125931"/>
                </a:lnTo>
                <a:cubicBezTo>
                  <a:pt x="216750" y="168826"/>
                  <a:pt x="182819" y="202758"/>
                  <a:pt x="139923" y="208880"/>
                </a:cubicBezTo>
                <a:lnTo>
                  <a:pt x="139923" y="216881"/>
                </a:lnTo>
                <a:cubicBezTo>
                  <a:pt x="139923" y="224621"/>
                  <a:pt x="133671" y="230874"/>
                  <a:pt x="125931" y="230874"/>
                </a:cubicBezTo>
                <a:cubicBezTo>
                  <a:pt x="118192" y="230874"/>
                  <a:pt x="111939" y="224621"/>
                  <a:pt x="111939" y="216881"/>
                </a:cubicBezTo>
                <a:lnTo>
                  <a:pt x="111939" y="208880"/>
                </a:lnTo>
                <a:cubicBezTo>
                  <a:pt x="69043" y="202758"/>
                  <a:pt x="35112" y="168826"/>
                  <a:pt x="28990" y="125931"/>
                </a:cubicBezTo>
                <a:lnTo>
                  <a:pt x="20989" y="125931"/>
                </a:lnTo>
                <a:cubicBezTo>
                  <a:pt x="13249" y="125931"/>
                  <a:pt x="6996" y="119678"/>
                  <a:pt x="6996" y="111939"/>
                </a:cubicBezTo>
                <a:cubicBezTo>
                  <a:pt x="6996" y="104199"/>
                  <a:pt x="13249" y="97946"/>
                  <a:pt x="20989" y="97946"/>
                </a:cubicBezTo>
                <a:lnTo>
                  <a:pt x="28990" y="97946"/>
                </a:lnTo>
                <a:cubicBezTo>
                  <a:pt x="35112" y="55051"/>
                  <a:pt x="69043" y="21120"/>
                  <a:pt x="111939" y="14998"/>
                </a:cubicBezTo>
                <a:lnTo>
                  <a:pt x="111939" y="6996"/>
                </a:lnTo>
                <a:cubicBezTo>
                  <a:pt x="111939" y="-743"/>
                  <a:pt x="118192" y="-6996"/>
                  <a:pt x="125931" y="-6996"/>
                </a:cubicBezTo>
                <a:close/>
                <a:moveTo>
                  <a:pt x="57369" y="125931"/>
                </a:moveTo>
                <a:cubicBezTo>
                  <a:pt x="62922" y="153347"/>
                  <a:pt x="84523" y="174948"/>
                  <a:pt x="111939" y="180501"/>
                </a:cubicBezTo>
                <a:lnTo>
                  <a:pt x="111939" y="174904"/>
                </a:lnTo>
                <a:cubicBezTo>
                  <a:pt x="111939" y="167165"/>
                  <a:pt x="118192" y="160912"/>
                  <a:pt x="125931" y="160912"/>
                </a:cubicBezTo>
                <a:cubicBezTo>
                  <a:pt x="133671" y="160912"/>
                  <a:pt x="139923" y="167165"/>
                  <a:pt x="139923" y="174904"/>
                </a:cubicBezTo>
                <a:lnTo>
                  <a:pt x="139923" y="180501"/>
                </a:lnTo>
                <a:cubicBezTo>
                  <a:pt x="167340" y="174948"/>
                  <a:pt x="188940" y="153347"/>
                  <a:pt x="194494" y="125931"/>
                </a:cubicBezTo>
                <a:lnTo>
                  <a:pt x="188897" y="125931"/>
                </a:lnTo>
                <a:cubicBezTo>
                  <a:pt x="181157" y="125931"/>
                  <a:pt x="174904" y="119678"/>
                  <a:pt x="174904" y="111939"/>
                </a:cubicBezTo>
                <a:cubicBezTo>
                  <a:pt x="174904" y="104199"/>
                  <a:pt x="181157" y="97946"/>
                  <a:pt x="188897" y="97946"/>
                </a:cubicBezTo>
                <a:lnTo>
                  <a:pt x="194494" y="97946"/>
                </a:lnTo>
                <a:cubicBezTo>
                  <a:pt x="188940" y="70530"/>
                  <a:pt x="167340" y="48929"/>
                  <a:pt x="139923" y="43376"/>
                </a:cubicBezTo>
                <a:lnTo>
                  <a:pt x="139923" y="48973"/>
                </a:lnTo>
                <a:cubicBezTo>
                  <a:pt x="139923" y="56713"/>
                  <a:pt x="133671" y="62966"/>
                  <a:pt x="125931" y="62966"/>
                </a:cubicBezTo>
                <a:cubicBezTo>
                  <a:pt x="118192" y="62966"/>
                  <a:pt x="111939" y="56713"/>
                  <a:pt x="111939" y="48973"/>
                </a:cubicBezTo>
                <a:lnTo>
                  <a:pt x="111939" y="43376"/>
                </a:lnTo>
                <a:cubicBezTo>
                  <a:pt x="84523" y="48929"/>
                  <a:pt x="62922" y="70530"/>
                  <a:pt x="57369" y="97946"/>
                </a:cubicBezTo>
                <a:lnTo>
                  <a:pt x="62966" y="97946"/>
                </a:lnTo>
                <a:cubicBezTo>
                  <a:pt x="70705" y="97946"/>
                  <a:pt x="76958" y="104199"/>
                  <a:pt x="76958" y="111939"/>
                </a:cubicBezTo>
                <a:cubicBezTo>
                  <a:pt x="76958" y="119678"/>
                  <a:pt x="70705" y="125931"/>
                  <a:pt x="62966" y="125931"/>
                </a:cubicBezTo>
                <a:lnTo>
                  <a:pt x="57369" y="125931"/>
                </a:lnTo>
                <a:close/>
                <a:moveTo>
                  <a:pt x="125931" y="90950"/>
                </a:moveTo>
                <a:cubicBezTo>
                  <a:pt x="137515" y="90950"/>
                  <a:pt x="146920" y="100355"/>
                  <a:pt x="146920" y="111939"/>
                </a:cubicBezTo>
                <a:cubicBezTo>
                  <a:pt x="146920" y="123523"/>
                  <a:pt x="137515" y="132927"/>
                  <a:pt x="125931" y="132927"/>
                </a:cubicBezTo>
                <a:cubicBezTo>
                  <a:pt x="114347" y="132927"/>
                  <a:pt x="104943" y="123523"/>
                  <a:pt x="104943" y="111939"/>
                </a:cubicBezTo>
                <a:cubicBezTo>
                  <a:pt x="104943" y="100355"/>
                  <a:pt x="114347" y="90950"/>
                  <a:pt x="125931" y="909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240655" y="1968257"/>
            <a:ext cx="120334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0655" y="2266761"/>
            <a:ext cx="1156701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Offensive Security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992" y="2658546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130595" y="74626"/>
                </a:moveTo>
                <a:cubicBezTo>
                  <a:pt x="130595" y="43736"/>
                  <a:pt x="105516" y="18656"/>
                  <a:pt x="74626" y="18656"/>
                </a:cubicBezTo>
                <a:cubicBezTo>
                  <a:pt x="43736" y="18656"/>
                  <a:pt x="18656" y="43736"/>
                  <a:pt x="18656" y="74626"/>
                </a:cubicBezTo>
                <a:cubicBezTo>
                  <a:pt x="18656" y="105516"/>
                  <a:pt x="43736" y="130595"/>
                  <a:pt x="74626" y="130595"/>
                </a:cubicBezTo>
                <a:cubicBezTo>
                  <a:pt x="105516" y="130595"/>
                  <a:pt x="130595" y="105516"/>
                  <a:pt x="130595" y="74626"/>
                </a:cubicBezTo>
                <a:close/>
                <a:moveTo>
                  <a:pt x="0" y="74626"/>
                </a:moveTo>
                <a:cubicBezTo>
                  <a:pt x="0" y="33439"/>
                  <a:pt x="33439" y="0"/>
                  <a:pt x="74626" y="0"/>
                </a:cubicBezTo>
                <a:cubicBezTo>
                  <a:pt x="115813" y="0"/>
                  <a:pt x="149252" y="33439"/>
                  <a:pt x="149252" y="74626"/>
                </a:cubicBezTo>
                <a:cubicBezTo>
                  <a:pt x="149252" y="115813"/>
                  <a:pt x="115813" y="149252"/>
                  <a:pt x="74626" y="149252"/>
                </a:cubicBezTo>
                <a:cubicBezTo>
                  <a:pt x="33439" y="149252"/>
                  <a:pt x="0" y="115813"/>
                  <a:pt x="0" y="74626"/>
                </a:cubicBezTo>
                <a:close/>
                <a:moveTo>
                  <a:pt x="74626" y="97946"/>
                </a:moveTo>
                <a:cubicBezTo>
                  <a:pt x="87497" y="97946"/>
                  <a:pt x="97946" y="87497"/>
                  <a:pt x="97946" y="74626"/>
                </a:cubicBezTo>
                <a:cubicBezTo>
                  <a:pt x="97946" y="61755"/>
                  <a:pt x="87497" y="51305"/>
                  <a:pt x="74626" y="51305"/>
                </a:cubicBezTo>
                <a:cubicBezTo>
                  <a:pt x="61755" y="51305"/>
                  <a:pt x="51305" y="61755"/>
                  <a:pt x="51305" y="74626"/>
                </a:cubicBezTo>
                <a:cubicBezTo>
                  <a:pt x="51305" y="87497"/>
                  <a:pt x="61755" y="97946"/>
                  <a:pt x="74626" y="97946"/>
                </a:cubicBezTo>
                <a:close/>
                <a:moveTo>
                  <a:pt x="74626" y="32649"/>
                </a:moveTo>
                <a:cubicBezTo>
                  <a:pt x="97794" y="32649"/>
                  <a:pt x="116603" y="51458"/>
                  <a:pt x="116603" y="74626"/>
                </a:cubicBezTo>
                <a:cubicBezTo>
                  <a:pt x="116603" y="97794"/>
                  <a:pt x="97794" y="116603"/>
                  <a:pt x="74626" y="116603"/>
                </a:cubicBezTo>
                <a:cubicBezTo>
                  <a:pt x="51458" y="116603"/>
                  <a:pt x="32649" y="97794"/>
                  <a:pt x="32649" y="74626"/>
                </a:cubicBezTo>
                <a:cubicBezTo>
                  <a:pt x="32649" y="51458"/>
                  <a:pt x="51458" y="32649"/>
                  <a:pt x="74626" y="32649"/>
                </a:cubicBezTo>
                <a:close/>
                <a:moveTo>
                  <a:pt x="65298" y="74626"/>
                </a:moveTo>
                <a:cubicBezTo>
                  <a:pt x="65298" y="69477"/>
                  <a:pt x="69477" y="65298"/>
                  <a:pt x="74626" y="65298"/>
                </a:cubicBezTo>
                <a:cubicBezTo>
                  <a:pt x="79774" y="65298"/>
                  <a:pt x="83954" y="69477"/>
                  <a:pt x="83954" y="74626"/>
                </a:cubicBezTo>
                <a:cubicBezTo>
                  <a:pt x="83954" y="79774"/>
                  <a:pt x="79774" y="83954"/>
                  <a:pt x="74626" y="83954"/>
                </a:cubicBezTo>
                <a:cubicBezTo>
                  <a:pt x="69477" y="83954"/>
                  <a:pt x="65298" y="79774"/>
                  <a:pt x="65298" y="7462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92900" y="2621233"/>
            <a:ext cx="502791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6335" y="2919737"/>
            <a:ext cx="5205154" cy="42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 real-world adversaries to find and exploit vulnerabilities. Think like attackers to uncover weaknesses before malicious actors do.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992" y="3530736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39004" y="10582"/>
                </a:moveTo>
                <a:cubicBezTo>
                  <a:pt x="42181" y="12797"/>
                  <a:pt x="42939" y="17170"/>
                  <a:pt x="40724" y="20318"/>
                </a:cubicBezTo>
                <a:lnTo>
                  <a:pt x="24399" y="43639"/>
                </a:lnTo>
                <a:cubicBezTo>
                  <a:pt x="23204" y="45329"/>
                  <a:pt x="21338" y="46408"/>
                  <a:pt x="19269" y="46583"/>
                </a:cubicBezTo>
                <a:cubicBezTo>
                  <a:pt x="17199" y="46758"/>
                  <a:pt x="15158" y="46058"/>
                  <a:pt x="13701" y="44601"/>
                </a:cubicBezTo>
                <a:lnTo>
                  <a:pt x="2041" y="32940"/>
                </a:lnTo>
                <a:cubicBezTo>
                  <a:pt x="-670" y="30200"/>
                  <a:pt x="-670" y="25769"/>
                  <a:pt x="2041" y="23029"/>
                </a:cubicBezTo>
                <a:cubicBezTo>
                  <a:pt x="4752" y="20289"/>
                  <a:pt x="9212" y="20318"/>
                  <a:pt x="11952" y="23029"/>
                </a:cubicBezTo>
                <a:lnTo>
                  <a:pt x="17724" y="28801"/>
                </a:lnTo>
                <a:lnTo>
                  <a:pt x="29267" y="12302"/>
                </a:lnTo>
                <a:cubicBezTo>
                  <a:pt x="31483" y="9124"/>
                  <a:pt x="35855" y="8366"/>
                  <a:pt x="39004" y="10582"/>
                </a:cubicBezTo>
                <a:close/>
                <a:moveTo>
                  <a:pt x="39004" y="57223"/>
                </a:moveTo>
                <a:cubicBezTo>
                  <a:pt x="42181" y="59438"/>
                  <a:pt x="42939" y="63811"/>
                  <a:pt x="40724" y="66959"/>
                </a:cubicBezTo>
                <a:lnTo>
                  <a:pt x="24399" y="90280"/>
                </a:lnTo>
                <a:cubicBezTo>
                  <a:pt x="23204" y="91971"/>
                  <a:pt x="21338" y="93049"/>
                  <a:pt x="19269" y="93224"/>
                </a:cubicBezTo>
                <a:cubicBezTo>
                  <a:pt x="17199" y="93399"/>
                  <a:pt x="15158" y="92699"/>
                  <a:pt x="13701" y="91242"/>
                </a:cubicBezTo>
                <a:lnTo>
                  <a:pt x="2041" y="79581"/>
                </a:lnTo>
                <a:cubicBezTo>
                  <a:pt x="-700" y="76841"/>
                  <a:pt x="-700" y="72410"/>
                  <a:pt x="2041" y="69699"/>
                </a:cubicBezTo>
                <a:cubicBezTo>
                  <a:pt x="4781" y="66988"/>
                  <a:pt x="9212" y="66959"/>
                  <a:pt x="11923" y="69699"/>
                </a:cubicBezTo>
                <a:lnTo>
                  <a:pt x="17694" y="75471"/>
                </a:lnTo>
                <a:lnTo>
                  <a:pt x="29238" y="58972"/>
                </a:lnTo>
                <a:cubicBezTo>
                  <a:pt x="31454" y="55794"/>
                  <a:pt x="35826" y="55037"/>
                  <a:pt x="38975" y="57252"/>
                </a:cubicBezTo>
                <a:close/>
                <a:moveTo>
                  <a:pt x="65298" y="27985"/>
                </a:moveTo>
                <a:cubicBezTo>
                  <a:pt x="65298" y="22825"/>
                  <a:pt x="69466" y="18656"/>
                  <a:pt x="74626" y="18656"/>
                </a:cubicBezTo>
                <a:lnTo>
                  <a:pt x="139923" y="18656"/>
                </a:lnTo>
                <a:cubicBezTo>
                  <a:pt x="145083" y="18656"/>
                  <a:pt x="149252" y="22825"/>
                  <a:pt x="149252" y="27985"/>
                </a:cubicBezTo>
                <a:cubicBezTo>
                  <a:pt x="149252" y="33144"/>
                  <a:pt x="145083" y="37313"/>
                  <a:pt x="139923" y="37313"/>
                </a:cubicBezTo>
                <a:lnTo>
                  <a:pt x="74626" y="37313"/>
                </a:lnTo>
                <a:cubicBezTo>
                  <a:pt x="69466" y="37313"/>
                  <a:pt x="65298" y="33144"/>
                  <a:pt x="65298" y="27985"/>
                </a:cubicBezTo>
                <a:close/>
                <a:moveTo>
                  <a:pt x="65298" y="74626"/>
                </a:moveTo>
                <a:cubicBezTo>
                  <a:pt x="65298" y="69466"/>
                  <a:pt x="69466" y="65298"/>
                  <a:pt x="74626" y="65298"/>
                </a:cubicBezTo>
                <a:lnTo>
                  <a:pt x="139923" y="65298"/>
                </a:lnTo>
                <a:cubicBezTo>
                  <a:pt x="145083" y="65298"/>
                  <a:pt x="149252" y="69466"/>
                  <a:pt x="149252" y="74626"/>
                </a:cubicBezTo>
                <a:cubicBezTo>
                  <a:pt x="149252" y="79786"/>
                  <a:pt x="145083" y="83954"/>
                  <a:pt x="139923" y="83954"/>
                </a:cubicBezTo>
                <a:lnTo>
                  <a:pt x="74626" y="83954"/>
                </a:lnTo>
                <a:cubicBezTo>
                  <a:pt x="69466" y="83954"/>
                  <a:pt x="65298" y="79786"/>
                  <a:pt x="65298" y="74626"/>
                </a:cubicBezTo>
                <a:close/>
                <a:moveTo>
                  <a:pt x="46641" y="121267"/>
                </a:moveTo>
                <a:cubicBezTo>
                  <a:pt x="46641" y="116107"/>
                  <a:pt x="50810" y="111939"/>
                  <a:pt x="55969" y="111939"/>
                </a:cubicBezTo>
                <a:lnTo>
                  <a:pt x="139923" y="111939"/>
                </a:lnTo>
                <a:cubicBezTo>
                  <a:pt x="145083" y="111939"/>
                  <a:pt x="149252" y="116107"/>
                  <a:pt x="149252" y="121267"/>
                </a:cubicBezTo>
                <a:cubicBezTo>
                  <a:pt x="149252" y="126427"/>
                  <a:pt x="145083" y="130595"/>
                  <a:pt x="139923" y="130595"/>
                </a:cubicBezTo>
                <a:lnTo>
                  <a:pt x="55969" y="130595"/>
                </a:lnTo>
                <a:cubicBezTo>
                  <a:pt x="50810" y="130595"/>
                  <a:pt x="46641" y="126427"/>
                  <a:pt x="46641" y="121267"/>
                </a:cubicBezTo>
                <a:close/>
                <a:moveTo>
                  <a:pt x="18656" y="109607"/>
                </a:moveTo>
                <a:cubicBezTo>
                  <a:pt x="25092" y="109607"/>
                  <a:pt x="30317" y="114832"/>
                  <a:pt x="30317" y="121267"/>
                </a:cubicBezTo>
                <a:cubicBezTo>
                  <a:pt x="30317" y="127703"/>
                  <a:pt x="25092" y="132927"/>
                  <a:pt x="18656" y="132927"/>
                </a:cubicBezTo>
                <a:cubicBezTo>
                  <a:pt x="12221" y="132927"/>
                  <a:pt x="6996" y="127703"/>
                  <a:pt x="6996" y="121267"/>
                </a:cubicBezTo>
                <a:cubicBezTo>
                  <a:pt x="6996" y="114832"/>
                  <a:pt x="12221" y="109607"/>
                  <a:pt x="18656" y="10960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92900" y="3493423"/>
            <a:ext cx="502791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Activities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6335" y="3791927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Penetration testing &amp; vulnerability exploitation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6335" y="4015804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Social engineering &amp; phishing campaigns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6335" y="4239682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Privilege escalation &amp; lateral movement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6335" y="4463559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Physical security bypass attempts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5663" y="4836689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65327" y="28305"/>
                </a:moveTo>
                <a:lnTo>
                  <a:pt x="65327" y="42764"/>
                </a:lnTo>
                <a:lnTo>
                  <a:pt x="65473" y="42910"/>
                </a:lnTo>
                <a:cubicBezTo>
                  <a:pt x="67367" y="18890"/>
                  <a:pt x="87452" y="0"/>
                  <a:pt x="111968" y="0"/>
                </a:cubicBezTo>
                <a:cubicBezTo>
                  <a:pt x="117827" y="0"/>
                  <a:pt x="123453" y="1079"/>
                  <a:pt x="128613" y="3061"/>
                </a:cubicBezTo>
                <a:cubicBezTo>
                  <a:pt x="131528" y="4169"/>
                  <a:pt x="132053" y="7871"/>
                  <a:pt x="129866" y="10086"/>
                </a:cubicBezTo>
                <a:lnTo>
                  <a:pt x="104010" y="35943"/>
                </a:lnTo>
                <a:cubicBezTo>
                  <a:pt x="103135" y="36817"/>
                  <a:pt x="102640" y="38013"/>
                  <a:pt x="102640" y="39237"/>
                </a:cubicBezTo>
                <a:lnTo>
                  <a:pt x="102640" y="51305"/>
                </a:lnTo>
                <a:cubicBezTo>
                  <a:pt x="102640" y="53871"/>
                  <a:pt x="104739" y="55969"/>
                  <a:pt x="107304" y="55969"/>
                </a:cubicBezTo>
                <a:lnTo>
                  <a:pt x="119372" y="55969"/>
                </a:lnTo>
                <a:cubicBezTo>
                  <a:pt x="120597" y="55969"/>
                  <a:pt x="121792" y="55474"/>
                  <a:pt x="122666" y="54599"/>
                </a:cubicBezTo>
                <a:lnTo>
                  <a:pt x="148523" y="28743"/>
                </a:lnTo>
                <a:cubicBezTo>
                  <a:pt x="150738" y="26527"/>
                  <a:pt x="154441" y="27081"/>
                  <a:pt x="155548" y="29996"/>
                </a:cubicBezTo>
                <a:cubicBezTo>
                  <a:pt x="157531" y="35156"/>
                  <a:pt x="158609" y="40782"/>
                  <a:pt x="158609" y="46641"/>
                </a:cubicBezTo>
                <a:cubicBezTo>
                  <a:pt x="158609" y="64307"/>
                  <a:pt x="148785" y="79698"/>
                  <a:pt x="134268" y="87598"/>
                </a:cubicBezTo>
                <a:lnTo>
                  <a:pt x="158026" y="111356"/>
                </a:lnTo>
                <a:cubicBezTo>
                  <a:pt x="163477" y="116807"/>
                  <a:pt x="163477" y="125669"/>
                  <a:pt x="158026" y="131149"/>
                </a:cubicBezTo>
                <a:lnTo>
                  <a:pt x="140507" y="148669"/>
                </a:lnTo>
                <a:cubicBezTo>
                  <a:pt x="135055" y="154120"/>
                  <a:pt x="126193" y="154120"/>
                  <a:pt x="120713" y="148669"/>
                </a:cubicBezTo>
                <a:lnTo>
                  <a:pt x="83983" y="111939"/>
                </a:lnTo>
                <a:cubicBezTo>
                  <a:pt x="75996" y="103951"/>
                  <a:pt x="74189" y="92145"/>
                  <a:pt x="78590" y="82409"/>
                </a:cubicBezTo>
                <a:lnTo>
                  <a:pt x="52151" y="55969"/>
                </a:lnTo>
                <a:lnTo>
                  <a:pt x="37692" y="55969"/>
                </a:lnTo>
                <a:cubicBezTo>
                  <a:pt x="34573" y="55969"/>
                  <a:pt x="31658" y="54424"/>
                  <a:pt x="29938" y="51830"/>
                </a:cubicBezTo>
                <a:lnTo>
                  <a:pt x="6821" y="17170"/>
                </a:lnTo>
                <a:cubicBezTo>
                  <a:pt x="5597" y="15333"/>
                  <a:pt x="5830" y="12855"/>
                  <a:pt x="7404" y="11281"/>
                </a:cubicBezTo>
                <a:lnTo>
                  <a:pt x="20639" y="-1953"/>
                </a:lnTo>
                <a:cubicBezTo>
                  <a:pt x="22213" y="-3527"/>
                  <a:pt x="24662" y="-3760"/>
                  <a:pt x="26527" y="-2536"/>
                </a:cubicBezTo>
                <a:lnTo>
                  <a:pt x="61187" y="20551"/>
                </a:lnTo>
                <a:cubicBezTo>
                  <a:pt x="63782" y="22271"/>
                  <a:pt x="65327" y="25186"/>
                  <a:pt x="65327" y="28305"/>
                </a:cubicBezTo>
                <a:close/>
                <a:moveTo>
                  <a:pt x="62849" y="86461"/>
                </a:moveTo>
                <a:cubicBezTo>
                  <a:pt x="61012" y="97247"/>
                  <a:pt x="63549" y="108645"/>
                  <a:pt x="70545" y="117769"/>
                </a:cubicBezTo>
                <a:lnTo>
                  <a:pt x="42852" y="145433"/>
                </a:lnTo>
                <a:cubicBezTo>
                  <a:pt x="34660" y="153624"/>
                  <a:pt x="21367" y="153624"/>
                  <a:pt x="13176" y="145433"/>
                </a:cubicBezTo>
                <a:cubicBezTo>
                  <a:pt x="4985" y="137242"/>
                  <a:pt x="4985" y="123949"/>
                  <a:pt x="13176" y="115758"/>
                </a:cubicBezTo>
                <a:lnTo>
                  <a:pt x="52646" y="76287"/>
                </a:lnTo>
                <a:lnTo>
                  <a:pt x="62849" y="8649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92900" y="4799376"/>
            <a:ext cx="502791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6335" y="5097879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Metasploit, Cobalt Strike, Burp Suite, custom exploits, phishing frameworks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6335" y="5438360"/>
            <a:ext cx="5139856" cy="9328"/>
          </a:xfrm>
          <a:custGeom>
            <a:avLst/>
            <a:gdLst/>
            <a:ahLst/>
            <a:cxnLst/>
            <a:rect l="l" t="t" r="r" b="b"/>
            <a:pathLst>
              <a:path w="5139856" h="9328">
                <a:moveTo>
                  <a:pt x="0" y="0"/>
                </a:moveTo>
                <a:lnTo>
                  <a:pt x="5139856" y="0"/>
                </a:lnTo>
                <a:lnTo>
                  <a:pt x="5139856" y="9328"/>
                </a:lnTo>
                <a:lnTo>
                  <a:pt x="0" y="9328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6335" y="5592275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Metric: Systems compromised, objectives achieved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1000" y="1721059"/>
            <a:ext cx="5596940" cy="4290987"/>
          </a:xfrm>
          <a:custGeom>
            <a:avLst/>
            <a:gdLst/>
            <a:ahLst/>
            <a:cxnLst/>
            <a:rect l="l" t="t" r="r" b="b"/>
            <a:pathLst>
              <a:path w="5596940" h="4290987">
                <a:moveTo>
                  <a:pt x="74620" y="0"/>
                </a:moveTo>
                <a:lnTo>
                  <a:pt x="5522319" y="0"/>
                </a:lnTo>
                <a:cubicBezTo>
                  <a:pt x="5563531" y="0"/>
                  <a:pt x="5596940" y="33409"/>
                  <a:pt x="5596940" y="74620"/>
                </a:cubicBezTo>
                <a:lnTo>
                  <a:pt x="5596940" y="4216367"/>
                </a:lnTo>
                <a:cubicBezTo>
                  <a:pt x="5596940" y="4257578"/>
                  <a:pt x="5563531" y="4290987"/>
                  <a:pt x="5522319" y="4290987"/>
                </a:cubicBezTo>
                <a:lnTo>
                  <a:pt x="74620" y="4290987"/>
                </a:lnTo>
                <a:cubicBezTo>
                  <a:pt x="33409" y="4290987"/>
                  <a:pt x="0" y="4257578"/>
                  <a:pt x="0" y="4216367"/>
                </a:cubicBezTo>
                <a:lnTo>
                  <a:pt x="0" y="74620"/>
                </a:lnTo>
                <a:cubicBezTo>
                  <a:pt x="0" y="33409"/>
                  <a:pt x="33409" y="0"/>
                  <a:pt x="7462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9541" y="1949601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261191" y="0"/>
                </a:moveTo>
                <a:lnTo>
                  <a:pt x="261191" y="0"/>
                </a:lnTo>
                <a:cubicBezTo>
                  <a:pt x="405442" y="0"/>
                  <a:pt x="522381" y="116939"/>
                  <a:pt x="522381" y="261191"/>
                </a:cubicBezTo>
                <a:lnTo>
                  <a:pt x="522381" y="261191"/>
                </a:lnTo>
                <a:cubicBezTo>
                  <a:pt x="522381" y="405442"/>
                  <a:pt x="405442" y="522381"/>
                  <a:pt x="261191" y="522381"/>
                </a:cubicBezTo>
                <a:lnTo>
                  <a:pt x="261191" y="522381"/>
                </a:lnTo>
                <a:cubicBezTo>
                  <a:pt x="116939" y="522381"/>
                  <a:pt x="0" y="405442"/>
                  <a:pt x="0" y="261191"/>
                </a:cubicBezTo>
                <a:lnTo>
                  <a:pt x="0" y="261191"/>
                </a:lnTo>
                <a:cubicBezTo>
                  <a:pt x="0" y="116939"/>
                  <a:pt x="116939" y="0"/>
                  <a:pt x="261191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8793" y="2098852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111939" y="0"/>
                </a:moveTo>
                <a:cubicBezTo>
                  <a:pt x="113950" y="0"/>
                  <a:pt x="115962" y="437"/>
                  <a:pt x="117798" y="1268"/>
                </a:cubicBezTo>
                <a:lnTo>
                  <a:pt x="200178" y="36205"/>
                </a:lnTo>
                <a:cubicBezTo>
                  <a:pt x="209798" y="40272"/>
                  <a:pt x="216969" y="49760"/>
                  <a:pt x="216925" y="61217"/>
                </a:cubicBezTo>
                <a:cubicBezTo>
                  <a:pt x="216707" y="104593"/>
                  <a:pt x="198866" y="183956"/>
                  <a:pt x="123526" y="220030"/>
                </a:cubicBezTo>
                <a:cubicBezTo>
                  <a:pt x="116224" y="223528"/>
                  <a:pt x="107741" y="223528"/>
                  <a:pt x="100439" y="220030"/>
                </a:cubicBezTo>
                <a:cubicBezTo>
                  <a:pt x="25055" y="183956"/>
                  <a:pt x="7259" y="104593"/>
                  <a:pt x="7040" y="61217"/>
                </a:cubicBezTo>
                <a:cubicBezTo>
                  <a:pt x="6996" y="49760"/>
                  <a:pt x="14167" y="40272"/>
                  <a:pt x="23787" y="36205"/>
                </a:cubicBezTo>
                <a:lnTo>
                  <a:pt x="106123" y="1268"/>
                </a:lnTo>
                <a:cubicBezTo>
                  <a:pt x="107960" y="437"/>
                  <a:pt x="109927" y="0"/>
                  <a:pt x="111939" y="0"/>
                </a:cubicBezTo>
                <a:close/>
                <a:moveTo>
                  <a:pt x="111939" y="29209"/>
                </a:moveTo>
                <a:lnTo>
                  <a:pt x="111939" y="194537"/>
                </a:lnTo>
                <a:cubicBezTo>
                  <a:pt x="172281" y="165328"/>
                  <a:pt x="188503" y="100614"/>
                  <a:pt x="188897" y="61872"/>
                </a:cubicBezTo>
                <a:lnTo>
                  <a:pt x="111939" y="29253"/>
                </a:lnTo>
                <a:lnTo>
                  <a:pt x="111939" y="2925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7073861" y="1968257"/>
            <a:ext cx="1324609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 TEAM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73861" y="2266761"/>
            <a:ext cx="1277968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Defensive Security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8198" y="2658546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130595" y="74626"/>
                </a:moveTo>
                <a:cubicBezTo>
                  <a:pt x="130595" y="43736"/>
                  <a:pt x="105516" y="18656"/>
                  <a:pt x="74626" y="18656"/>
                </a:cubicBezTo>
                <a:cubicBezTo>
                  <a:pt x="43736" y="18656"/>
                  <a:pt x="18656" y="43736"/>
                  <a:pt x="18656" y="74626"/>
                </a:cubicBezTo>
                <a:cubicBezTo>
                  <a:pt x="18656" y="105516"/>
                  <a:pt x="43736" y="130595"/>
                  <a:pt x="74626" y="130595"/>
                </a:cubicBezTo>
                <a:cubicBezTo>
                  <a:pt x="105516" y="130595"/>
                  <a:pt x="130595" y="105516"/>
                  <a:pt x="130595" y="74626"/>
                </a:cubicBezTo>
                <a:close/>
                <a:moveTo>
                  <a:pt x="0" y="74626"/>
                </a:moveTo>
                <a:cubicBezTo>
                  <a:pt x="0" y="33439"/>
                  <a:pt x="33439" y="0"/>
                  <a:pt x="74626" y="0"/>
                </a:cubicBezTo>
                <a:cubicBezTo>
                  <a:pt x="115813" y="0"/>
                  <a:pt x="149252" y="33439"/>
                  <a:pt x="149252" y="74626"/>
                </a:cubicBezTo>
                <a:cubicBezTo>
                  <a:pt x="149252" y="115813"/>
                  <a:pt x="115813" y="149252"/>
                  <a:pt x="74626" y="149252"/>
                </a:cubicBezTo>
                <a:cubicBezTo>
                  <a:pt x="33439" y="149252"/>
                  <a:pt x="0" y="115813"/>
                  <a:pt x="0" y="74626"/>
                </a:cubicBezTo>
                <a:close/>
                <a:moveTo>
                  <a:pt x="74626" y="97946"/>
                </a:moveTo>
                <a:cubicBezTo>
                  <a:pt x="87497" y="97946"/>
                  <a:pt x="97946" y="87497"/>
                  <a:pt x="97946" y="74626"/>
                </a:cubicBezTo>
                <a:cubicBezTo>
                  <a:pt x="97946" y="61755"/>
                  <a:pt x="87497" y="51305"/>
                  <a:pt x="74626" y="51305"/>
                </a:cubicBezTo>
                <a:cubicBezTo>
                  <a:pt x="61755" y="51305"/>
                  <a:pt x="51305" y="61755"/>
                  <a:pt x="51305" y="74626"/>
                </a:cubicBezTo>
                <a:cubicBezTo>
                  <a:pt x="51305" y="87497"/>
                  <a:pt x="61755" y="97946"/>
                  <a:pt x="74626" y="97946"/>
                </a:cubicBezTo>
                <a:close/>
                <a:moveTo>
                  <a:pt x="74626" y="32649"/>
                </a:moveTo>
                <a:cubicBezTo>
                  <a:pt x="97794" y="32649"/>
                  <a:pt x="116603" y="51458"/>
                  <a:pt x="116603" y="74626"/>
                </a:cubicBezTo>
                <a:cubicBezTo>
                  <a:pt x="116603" y="97794"/>
                  <a:pt x="97794" y="116603"/>
                  <a:pt x="74626" y="116603"/>
                </a:cubicBezTo>
                <a:cubicBezTo>
                  <a:pt x="51458" y="116603"/>
                  <a:pt x="32649" y="97794"/>
                  <a:pt x="32649" y="74626"/>
                </a:cubicBezTo>
                <a:cubicBezTo>
                  <a:pt x="32649" y="51458"/>
                  <a:pt x="51458" y="32649"/>
                  <a:pt x="74626" y="32649"/>
                </a:cubicBezTo>
                <a:close/>
                <a:moveTo>
                  <a:pt x="65298" y="74626"/>
                </a:moveTo>
                <a:cubicBezTo>
                  <a:pt x="65298" y="69477"/>
                  <a:pt x="69477" y="65298"/>
                  <a:pt x="74626" y="65298"/>
                </a:cubicBezTo>
                <a:cubicBezTo>
                  <a:pt x="79774" y="65298"/>
                  <a:pt x="83954" y="69477"/>
                  <a:pt x="83954" y="74626"/>
                </a:cubicBezTo>
                <a:cubicBezTo>
                  <a:pt x="83954" y="79774"/>
                  <a:pt x="79774" y="83954"/>
                  <a:pt x="74626" y="83954"/>
                </a:cubicBezTo>
                <a:cubicBezTo>
                  <a:pt x="69477" y="83954"/>
                  <a:pt x="65298" y="79774"/>
                  <a:pt x="65298" y="74626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6626106" y="2621233"/>
            <a:ext cx="502791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9541" y="2919737"/>
            <a:ext cx="5205154" cy="42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organizational assets, detect threats in real-time, and respond to security incidents to minimize damage and prevent breaches.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8198" y="3530736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39004" y="10582"/>
                </a:moveTo>
                <a:cubicBezTo>
                  <a:pt x="42181" y="12797"/>
                  <a:pt x="42939" y="17170"/>
                  <a:pt x="40724" y="20318"/>
                </a:cubicBezTo>
                <a:lnTo>
                  <a:pt x="24399" y="43639"/>
                </a:lnTo>
                <a:cubicBezTo>
                  <a:pt x="23204" y="45329"/>
                  <a:pt x="21338" y="46408"/>
                  <a:pt x="19269" y="46583"/>
                </a:cubicBezTo>
                <a:cubicBezTo>
                  <a:pt x="17199" y="46758"/>
                  <a:pt x="15158" y="46058"/>
                  <a:pt x="13701" y="44601"/>
                </a:cubicBezTo>
                <a:lnTo>
                  <a:pt x="2041" y="32940"/>
                </a:lnTo>
                <a:cubicBezTo>
                  <a:pt x="-670" y="30200"/>
                  <a:pt x="-670" y="25769"/>
                  <a:pt x="2041" y="23029"/>
                </a:cubicBezTo>
                <a:cubicBezTo>
                  <a:pt x="4752" y="20289"/>
                  <a:pt x="9212" y="20318"/>
                  <a:pt x="11952" y="23029"/>
                </a:cubicBezTo>
                <a:lnTo>
                  <a:pt x="17724" y="28801"/>
                </a:lnTo>
                <a:lnTo>
                  <a:pt x="29267" y="12302"/>
                </a:lnTo>
                <a:cubicBezTo>
                  <a:pt x="31483" y="9124"/>
                  <a:pt x="35855" y="8366"/>
                  <a:pt x="39004" y="10582"/>
                </a:cubicBezTo>
                <a:close/>
                <a:moveTo>
                  <a:pt x="39004" y="57223"/>
                </a:moveTo>
                <a:cubicBezTo>
                  <a:pt x="42181" y="59438"/>
                  <a:pt x="42939" y="63811"/>
                  <a:pt x="40724" y="66959"/>
                </a:cubicBezTo>
                <a:lnTo>
                  <a:pt x="24399" y="90280"/>
                </a:lnTo>
                <a:cubicBezTo>
                  <a:pt x="23204" y="91971"/>
                  <a:pt x="21338" y="93049"/>
                  <a:pt x="19269" y="93224"/>
                </a:cubicBezTo>
                <a:cubicBezTo>
                  <a:pt x="17199" y="93399"/>
                  <a:pt x="15158" y="92699"/>
                  <a:pt x="13701" y="91242"/>
                </a:cubicBezTo>
                <a:lnTo>
                  <a:pt x="2041" y="79581"/>
                </a:lnTo>
                <a:cubicBezTo>
                  <a:pt x="-700" y="76841"/>
                  <a:pt x="-700" y="72410"/>
                  <a:pt x="2041" y="69699"/>
                </a:cubicBezTo>
                <a:cubicBezTo>
                  <a:pt x="4781" y="66988"/>
                  <a:pt x="9212" y="66959"/>
                  <a:pt x="11923" y="69699"/>
                </a:cubicBezTo>
                <a:lnTo>
                  <a:pt x="17694" y="75471"/>
                </a:lnTo>
                <a:lnTo>
                  <a:pt x="29238" y="58972"/>
                </a:lnTo>
                <a:cubicBezTo>
                  <a:pt x="31454" y="55794"/>
                  <a:pt x="35826" y="55037"/>
                  <a:pt x="38975" y="57252"/>
                </a:cubicBezTo>
                <a:close/>
                <a:moveTo>
                  <a:pt x="65298" y="27985"/>
                </a:moveTo>
                <a:cubicBezTo>
                  <a:pt x="65298" y="22825"/>
                  <a:pt x="69466" y="18656"/>
                  <a:pt x="74626" y="18656"/>
                </a:cubicBezTo>
                <a:lnTo>
                  <a:pt x="139923" y="18656"/>
                </a:lnTo>
                <a:cubicBezTo>
                  <a:pt x="145083" y="18656"/>
                  <a:pt x="149252" y="22825"/>
                  <a:pt x="149252" y="27985"/>
                </a:cubicBezTo>
                <a:cubicBezTo>
                  <a:pt x="149252" y="33144"/>
                  <a:pt x="145083" y="37313"/>
                  <a:pt x="139923" y="37313"/>
                </a:cubicBezTo>
                <a:lnTo>
                  <a:pt x="74626" y="37313"/>
                </a:lnTo>
                <a:cubicBezTo>
                  <a:pt x="69466" y="37313"/>
                  <a:pt x="65298" y="33144"/>
                  <a:pt x="65298" y="27985"/>
                </a:cubicBezTo>
                <a:close/>
                <a:moveTo>
                  <a:pt x="65298" y="74626"/>
                </a:moveTo>
                <a:cubicBezTo>
                  <a:pt x="65298" y="69466"/>
                  <a:pt x="69466" y="65298"/>
                  <a:pt x="74626" y="65298"/>
                </a:cubicBezTo>
                <a:lnTo>
                  <a:pt x="139923" y="65298"/>
                </a:lnTo>
                <a:cubicBezTo>
                  <a:pt x="145083" y="65298"/>
                  <a:pt x="149252" y="69466"/>
                  <a:pt x="149252" y="74626"/>
                </a:cubicBezTo>
                <a:cubicBezTo>
                  <a:pt x="149252" y="79786"/>
                  <a:pt x="145083" y="83954"/>
                  <a:pt x="139923" y="83954"/>
                </a:cubicBezTo>
                <a:lnTo>
                  <a:pt x="74626" y="83954"/>
                </a:lnTo>
                <a:cubicBezTo>
                  <a:pt x="69466" y="83954"/>
                  <a:pt x="65298" y="79786"/>
                  <a:pt x="65298" y="74626"/>
                </a:cubicBezTo>
                <a:close/>
                <a:moveTo>
                  <a:pt x="46641" y="121267"/>
                </a:moveTo>
                <a:cubicBezTo>
                  <a:pt x="46641" y="116107"/>
                  <a:pt x="50810" y="111939"/>
                  <a:pt x="55969" y="111939"/>
                </a:cubicBezTo>
                <a:lnTo>
                  <a:pt x="139923" y="111939"/>
                </a:lnTo>
                <a:cubicBezTo>
                  <a:pt x="145083" y="111939"/>
                  <a:pt x="149252" y="116107"/>
                  <a:pt x="149252" y="121267"/>
                </a:cubicBezTo>
                <a:cubicBezTo>
                  <a:pt x="149252" y="126427"/>
                  <a:pt x="145083" y="130595"/>
                  <a:pt x="139923" y="130595"/>
                </a:cubicBezTo>
                <a:lnTo>
                  <a:pt x="55969" y="130595"/>
                </a:lnTo>
                <a:cubicBezTo>
                  <a:pt x="50810" y="130595"/>
                  <a:pt x="46641" y="126427"/>
                  <a:pt x="46641" y="121267"/>
                </a:cubicBezTo>
                <a:close/>
                <a:moveTo>
                  <a:pt x="18656" y="109607"/>
                </a:moveTo>
                <a:cubicBezTo>
                  <a:pt x="25092" y="109607"/>
                  <a:pt x="30317" y="114832"/>
                  <a:pt x="30317" y="121267"/>
                </a:cubicBezTo>
                <a:cubicBezTo>
                  <a:pt x="30317" y="127703"/>
                  <a:pt x="25092" y="132927"/>
                  <a:pt x="18656" y="132927"/>
                </a:cubicBezTo>
                <a:cubicBezTo>
                  <a:pt x="12221" y="132927"/>
                  <a:pt x="6996" y="127703"/>
                  <a:pt x="6996" y="121267"/>
                </a:cubicBezTo>
                <a:cubicBezTo>
                  <a:pt x="6996" y="114832"/>
                  <a:pt x="12221" y="109607"/>
                  <a:pt x="18656" y="10960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6626106" y="3493423"/>
            <a:ext cx="502791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Activities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39541" y="3791927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24/7 security monitoring &amp; threat detection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9541" y="4015804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Incident response &amp; containment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39541" y="4239682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Security tool management &amp; tuning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39541" y="4463559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Vulnerability management &amp; patching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8870" y="4836689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65327" y="28305"/>
                </a:moveTo>
                <a:lnTo>
                  <a:pt x="65327" y="42764"/>
                </a:lnTo>
                <a:lnTo>
                  <a:pt x="65473" y="42910"/>
                </a:lnTo>
                <a:cubicBezTo>
                  <a:pt x="67367" y="18890"/>
                  <a:pt x="87452" y="0"/>
                  <a:pt x="111968" y="0"/>
                </a:cubicBezTo>
                <a:cubicBezTo>
                  <a:pt x="117827" y="0"/>
                  <a:pt x="123453" y="1079"/>
                  <a:pt x="128613" y="3061"/>
                </a:cubicBezTo>
                <a:cubicBezTo>
                  <a:pt x="131528" y="4169"/>
                  <a:pt x="132053" y="7871"/>
                  <a:pt x="129866" y="10086"/>
                </a:cubicBezTo>
                <a:lnTo>
                  <a:pt x="104010" y="35943"/>
                </a:lnTo>
                <a:cubicBezTo>
                  <a:pt x="103135" y="36817"/>
                  <a:pt x="102640" y="38013"/>
                  <a:pt x="102640" y="39237"/>
                </a:cubicBezTo>
                <a:lnTo>
                  <a:pt x="102640" y="51305"/>
                </a:lnTo>
                <a:cubicBezTo>
                  <a:pt x="102640" y="53871"/>
                  <a:pt x="104739" y="55969"/>
                  <a:pt x="107304" y="55969"/>
                </a:cubicBezTo>
                <a:lnTo>
                  <a:pt x="119372" y="55969"/>
                </a:lnTo>
                <a:cubicBezTo>
                  <a:pt x="120597" y="55969"/>
                  <a:pt x="121792" y="55474"/>
                  <a:pt x="122666" y="54599"/>
                </a:cubicBezTo>
                <a:lnTo>
                  <a:pt x="148523" y="28743"/>
                </a:lnTo>
                <a:cubicBezTo>
                  <a:pt x="150738" y="26527"/>
                  <a:pt x="154441" y="27081"/>
                  <a:pt x="155548" y="29996"/>
                </a:cubicBezTo>
                <a:cubicBezTo>
                  <a:pt x="157531" y="35156"/>
                  <a:pt x="158609" y="40782"/>
                  <a:pt x="158609" y="46641"/>
                </a:cubicBezTo>
                <a:cubicBezTo>
                  <a:pt x="158609" y="64307"/>
                  <a:pt x="148785" y="79698"/>
                  <a:pt x="134268" y="87598"/>
                </a:cubicBezTo>
                <a:lnTo>
                  <a:pt x="158026" y="111356"/>
                </a:lnTo>
                <a:cubicBezTo>
                  <a:pt x="163477" y="116807"/>
                  <a:pt x="163477" y="125669"/>
                  <a:pt x="158026" y="131149"/>
                </a:cubicBezTo>
                <a:lnTo>
                  <a:pt x="140507" y="148669"/>
                </a:lnTo>
                <a:cubicBezTo>
                  <a:pt x="135055" y="154120"/>
                  <a:pt x="126193" y="154120"/>
                  <a:pt x="120713" y="148669"/>
                </a:cubicBezTo>
                <a:lnTo>
                  <a:pt x="83983" y="111939"/>
                </a:lnTo>
                <a:cubicBezTo>
                  <a:pt x="75996" y="103951"/>
                  <a:pt x="74189" y="92145"/>
                  <a:pt x="78590" y="82409"/>
                </a:cubicBezTo>
                <a:lnTo>
                  <a:pt x="52151" y="55969"/>
                </a:lnTo>
                <a:lnTo>
                  <a:pt x="37692" y="55969"/>
                </a:lnTo>
                <a:cubicBezTo>
                  <a:pt x="34573" y="55969"/>
                  <a:pt x="31658" y="54424"/>
                  <a:pt x="29938" y="51830"/>
                </a:cubicBezTo>
                <a:lnTo>
                  <a:pt x="6821" y="17170"/>
                </a:lnTo>
                <a:cubicBezTo>
                  <a:pt x="5597" y="15333"/>
                  <a:pt x="5830" y="12855"/>
                  <a:pt x="7404" y="11281"/>
                </a:cubicBezTo>
                <a:lnTo>
                  <a:pt x="20639" y="-1953"/>
                </a:lnTo>
                <a:cubicBezTo>
                  <a:pt x="22213" y="-3527"/>
                  <a:pt x="24662" y="-3760"/>
                  <a:pt x="26527" y="-2536"/>
                </a:cubicBezTo>
                <a:lnTo>
                  <a:pt x="61187" y="20551"/>
                </a:lnTo>
                <a:cubicBezTo>
                  <a:pt x="63782" y="22271"/>
                  <a:pt x="65327" y="25186"/>
                  <a:pt x="65327" y="28305"/>
                </a:cubicBezTo>
                <a:close/>
                <a:moveTo>
                  <a:pt x="62849" y="86461"/>
                </a:moveTo>
                <a:cubicBezTo>
                  <a:pt x="61012" y="97247"/>
                  <a:pt x="63549" y="108645"/>
                  <a:pt x="70545" y="117769"/>
                </a:cubicBezTo>
                <a:lnTo>
                  <a:pt x="42852" y="145433"/>
                </a:lnTo>
                <a:cubicBezTo>
                  <a:pt x="34660" y="153624"/>
                  <a:pt x="21367" y="153624"/>
                  <a:pt x="13176" y="145433"/>
                </a:cubicBezTo>
                <a:cubicBezTo>
                  <a:pt x="4985" y="137242"/>
                  <a:pt x="4985" y="123949"/>
                  <a:pt x="13176" y="115758"/>
                </a:cubicBezTo>
                <a:lnTo>
                  <a:pt x="52646" y="76287"/>
                </a:lnTo>
                <a:lnTo>
                  <a:pt x="62849" y="8649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626106" y="4799376"/>
            <a:ext cx="502791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9541" y="5097879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SIEM (Splunk, QRadar), EDR/XDR, firewalls, IDS/IPS, threat intelligence platforms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39541" y="5438360"/>
            <a:ext cx="5139856" cy="9328"/>
          </a:xfrm>
          <a:custGeom>
            <a:avLst/>
            <a:gdLst/>
            <a:ahLst/>
            <a:cxnLst/>
            <a:rect l="l" t="t" r="r" b="b"/>
            <a:pathLst>
              <a:path w="5139856" h="9328">
                <a:moveTo>
                  <a:pt x="0" y="0"/>
                </a:moveTo>
                <a:lnTo>
                  <a:pt x="5139856" y="0"/>
                </a:lnTo>
                <a:lnTo>
                  <a:pt x="5139856" y="9328"/>
                </a:lnTo>
                <a:lnTo>
                  <a:pt x="0" y="9328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39541" y="5592275"/>
            <a:ext cx="520515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Metric: Mean time to detect/respond, attacks blocked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77793" y="6165962"/>
            <a:ext cx="11436413" cy="680961"/>
          </a:xfrm>
          <a:custGeom>
            <a:avLst/>
            <a:gdLst/>
            <a:ahLst/>
            <a:cxnLst/>
            <a:rect l="l" t="t" r="r" b="b"/>
            <a:pathLst>
              <a:path w="11436413" h="680961">
                <a:moveTo>
                  <a:pt x="74627" y="0"/>
                </a:moveTo>
                <a:lnTo>
                  <a:pt x="11361787" y="0"/>
                </a:lnTo>
                <a:cubicBezTo>
                  <a:pt x="11403002" y="0"/>
                  <a:pt x="11436413" y="33411"/>
                  <a:pt x="11436413" y="74627"/>
                </a:cubicBezTo>
                <a:lnTo>
                  <a:pt x="11436413" y="606334"/>
                </a:lnTo>
                <a:cubicBezTo>
                  <a:pt x="11436413" y="647550"/>
                  <a:pt x="11403002" y="680961"/>
                  <a:pt x="11361787" y="680961"/>
                </a:cubicBezTo>
                <a:lnTo>
                  <a:pt x="74627" y="680961"/>
                </a:lnTo>
                <a:cubicBezTo>
                  <a:pt x="33411" y="680961"/>
                  <a:pt x="0" y="647550"/>
                  <a:pt x="0" y="606334"/>
                </a:cubicBezTo>
                <a:lnTo>
                  <a:pt x="0" y="74627"/>
                </a:lnTo>
                <a:cubicBezTo>
                  <a:pt x="0" y="33439"/>
                  <a:pt x="33439" y="0"/>
                  <a:pt x="7462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350" y="6413160"/>
            <a:ext cx="139923" cy="186565"/>
          </a:xfrm>
          <a:custGeom>
            <a:avLst/>
            <a:gdLst/>
            <a:ahLst/>
            <a:cxnLst/>
            <a:rect l="l" t="t" r="r" b="b"/>
            <a:pathLst>
              <a:path w="139923" h="186565">
                <a:moveTo>
                  <a:pt x="106728" y="139923"/>
                </a:moveTo>
                <a:cubicBezTo>
                  <a:pt x="109388" y="131798"/>
                  <a:pt x="114708" y="124437"/>
                  <a:pt x="120720" y="118097"/>
                </a:cubicBezTo>
                <a:cubicBezTo>
                  <a:pt x="132636" y="105562"/>
                  <a:pt x="139923" y="88618"/>
                  <a:pt x="139923" y="69962"/>
                </a:cubicBezTo>
                <a:cubicBezTo>
                  <a:pt x="139923" y="31337"/>
                  <a:pt x="108586" y="0"/>
                  <a:pt x="69962" y="0"/>
                </a:cubicBezTo>
                <a:cubicBezTo>
                  <a:pt x="31337" y="0"/>
                  <a:pt x="0" y="31337"/>
                  <a:pt x="0" y="69962"/>
                </a:cubicBezTo>
                <a:cubicBezTo>
                  <a:pt x="0" y="88618"/>
                  <a:pt x="7288" y="105562"/>
                  <a:pt x="19203" y="118097"/>
                </a:cubicBezTo>
                <a:cubicBezTo>
                  <a:pt x="25215" y="124437"/>
                  <a:pt x="30572" y="131798"/>
                  <a:pt x="33195" y="139923"/>
                </a:cubicBezTo>
                <a:lnTo>
                  <a:pt x="106692" y="139923"/>
                </a:lnTo>
                <a:close/>
                <a:moveTo>
                  <a:pt x="104943" y="157414"/>
                </a:moveTo>
                <a:lnTo>
                  <a:pt x="34981" y="157414"/>
                </a:lnTo>
                <a:lnTo>
                  <a:pt x="34981" y="163244"/>
                </a:lnTo>
                <a:cubicBezTo>
                  <a:pt x="34981" y="179350"/>
                  <a:pt x="48026" y="192395"/>
                  <a:pt x="64132" y="192395"/>
                </a:cubicBezTo>
                <a:lnTo>
                  <a:pt x="75792" y="192395"/>
                </a:lnTo>
                <a:cubicBezTo>
                  <a:pt x="91898" y="192395"/>
                  <a:pt x="104943" y="179350"/>
                  <a:pt x="104943" y="163244"/>
                </a:cubicBezTo>
                <a:lnTo>
                  <a:pt x="104943" y="157414"/>
                </a:lnTo>
                <a:close/>
                <a:moveTo>
                  <a:pt x="67047" y="40811"/>
                </a:moveTo>
                <a:cubicBezTo>
                  <a:pt x="52544" y="40811"/>
                  <a:pt x="40811" y="52544"/>
                  <a:pt x="40811" y="67047"/>
                </a:cubicBezTo>
                <a:cubicBezTo>
                  <a:pt x="40811" y="71893"/>
                  <a:pt x="36912" y="75792"/>
                  <a:pt x="32066" y="75792"/>
                </a:cubicBezTo>
                <a:cubicBezTo>
                  <a:pt x="27219" y="75792"/>
                  <a:pt x="23321" y="71893"/>
                  <a:pt x="23321" y="67047"/>
                </a:cubicBezTo>
                <a:cubicBezTo>
                  <a:pt x="23321" y="42888"/>
                  <a:pt x="42888" y="23321"/>
                  <a:pt x="67047" y="23321"/>
                </a:cubicBezTo>
                <a:cubicBezTo>
                  <a:pt x="71893" y="23321"/>
                  <a:pt x="75792" y="27219"/>
                  <a:pt x="75792" y="32066"/>
                </a:cubicBezTo>
                <a:cubicBezTo>
                  <a:pt x="75792" y="36912"/>
                  <a:pt x="71893" y="40811"/>
                  <a:pt x="67047" y="4081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44"/>
          <p:cNvSpPr/>
          <p:nvPr/>
        </p:nvSpPr>
        <p:spPr>
          <a:xfrm>
            <a:off x="872336" y="6319878"/>
            <a:ext cx="10848735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 Team exercises are time-boxed (weeks/months) while Blue Team operations are continuous. Both teams ultimately serve the same goal: improving organizational security posture.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Purple Team: Bridging Offense &amp; Defense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collaborative approach that maximizes security effectiveness through knowledge sharing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757363"/>
            <a:ext cx="5391150" cy="1971675"/>
          </a:xfrm>
          <a:custGeom>
            <a:avLst/>
            <a:gdLst/>
            <a:ahLst/>
            <a:cxnLst/>
            <a:rect l="l" t="t" r="r" b="b"/>
            <a:pathLst>
              <a:path w="5391150" h="1971675">
                <a:moveTo>
                  <a:pt x="76205" y="0"/>
                </a:moveTo>
                <a:lnTo>
                  <a:pt x="5314945" y="0"/>
                </a:lnTo>
                <a:cubicBezTo>
                  <a:pt x="5357032" y="0"/>
                  <a:pt x="5391150" y="34118"/>
                  <a:pt x="5391150" y="76205"/>
                </a:cubicBezTo>
                <a:lnTo>
                  <a:pt x="5391150" y="1895470"/>
                </a:lnTo>
                <a:cubicBezTo>
                  <a:pt x="5391150" y="1937557"/>
                  <a:pt x="5357032" y="1971675"/>
                  <a:pt x="5314945" y="1971675"/>
                </a:cubicBezTo>
                <a:lnTo>
                  <a:pt x="76205" y="1971675"/>
                </a:lnTo>
                <a:cubicBezTo>
                  <a:pt x="34118" y="1971675"/>
                  <a:pt x="0" y="1937557"/>
                  <a:pt x="0" y="18954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931" y="19907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819150" y="1952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Purple Teaming?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333625"/>
            <a:ext cx="50673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Purple Team is not a separate team but 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 function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brings Red and Blue teams together to share knowledge, improve communication, and enhance overall security posture.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3098006"/>
            <a:ext cx="506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traditional adversarial exercises, Purple Team operations emphasize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knowledge transfer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cooperative improvement.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888581"/>
            <a:ext cx="5391150" cy="2781300"/>
          </a:xfrm>
          <a:custGeom>
            <a:avLst/>
            <a:gdLst/>
            <a:ahLst/>
            <a:cxnLst/>
            <a:rect l="l" t="t" r="r" b="b"/>
            <a:pathLst>
              <a:path w="5391150" h="2781300">
                <a:moveTo>
                  <a:pt x="76208" y="0"/>
                </a:moveTo>
                <a:lnTo>
                  <a:pt x="5314942" y="0"/>
                </a:lnTo>
                <a:cubicBezTo>
                  <a:pt x="5357031" y="0"/>
                  <a:pt x="5391150" y="34119"/>
                  <a:pt x="5391150" y="76208"/>
                </a:cubicBezTo>
                <a:lnTo>
                  <a:pt x="5391150" y="2705092"/>
                </a:lnTo>
                <a:cubicBezTo>
                  <a:pt x="5391150" y="2747181"/>
                  <a:pt x="5357031" y="2781300"/>
                  <a:pt x="5314942" y="2781300"/>
                </a:cubicBezTo>
                <a:lnTo>
                  <a:pt x="76208" y="2781300"/>
                </a:lnTo>
                <a:cubicBezTo>
                  <a:pt x="34119" y="2781300"/>
                  <a:pt x="0" y="2747181"/>
                  <a:pt x="0" y="270509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025" y="412194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19150" y="4083844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44838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569619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0125" y="4464844"/>
            <a:ext cx="446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&amp; Process Improvement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0125" y="4655344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and improve documentation, communication protocols, and response procedures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49744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9131" y="50601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125" y="4955381"/>
            <a:ext cx="3743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5145881"/>
            <a:ext cx="373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actionable insights for identifying and responding to future threats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4649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9131" y="555069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42" y="50006"/>
                </a:moveTo>
                <a:lnTo>
                  <a:pt x="127099" y="50006"/>
                </a:lnTo>
                <a:cubicBezTo>
                  <a:pt x="130563" y="50006"/>
                  <a:pt x="133350" y="47219"/>
                  <a:pt x="133350" y="43755"/>
                </a:cubicBezTo>
                <a:lnTo>
                  <a:pt x="133350" y="6251"/>
                </a:lnTo>
                <a:cubicBezTo>
                  <a:pt x="133350" y="3724"/>
                  <a:pt x="131839" y="1432"/>
                  <a:pt x="129495" y="469"/>
                </a:cubicBezTo>
                <a:cubicBezTo>
                  <a:pt x="127151" y="-495"/>
                  <a:pt x="124469" y="52"/>
                  <a:pt x="122672" y="1823"/>
                </a:cubicBezTo>
                <a:lnTo>
                  <a:pt x="109206" y="15314"/>
                </a:lnTo>
                <a:cubicBezTo>
                  <a:pt x="97668" y="5756"/>
                  <a:pt x="82823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ubicBezTo>
                  <a:pt x="20628" y="35291"/>
                  <a:pt x="41490" y="16669"/>
                  <a:pt x="66675" y="16669"/>
                </a:cubicBezTo>
                <a:cubicBezTo>
                  <a:pt x="78239" y="16669"/>
                  <a:pt x="88865" y="20575"/>
                  <a:pt x="97330" y="27165"/>
                </a:cubicBezTo>
                <a:lnTo>
                  <a:pt x="85167" y="39328"/>
                </a:lnTo>
                <a:cubicBezTo>
                  <a:pt x="83370" y="41125"/>
                  <a:pt x="82849" y="43808"/>
                  <a:pt x="83813" y="46152"/>
                </a:cubicBezTo>
                <a:cubicBezTo>
                  <a:pt x="84776" y="48496"/>
                  <a:pt x="87068" y="50006"/>
                  <a:pt x="89595" y="50006"/>
                </a:cubicBezTo>
                <a:lnTo>
                  <a:pt x="125042" y="50006"/>
                </a:lnTo>
                <a:close/>
                <a:moveTo>
                  <a:pt x="132699" y="76181"/>
                </a:moveTo>
                <a:cubicBezTo>
                  <a:pt x="133350" y="71624"/>
                  <a:pt x="130173" y="67404"/>
                  <a:pt x="125641" y="66753"/>
                </a:cubicBezTo>
                <a:cubicBezTo>
                  <a:pt x="121109" y="66102"/>
                  <a:pt x="116864" y="69279"/>
                  <a:pt x="116212" y="73811"/>
                </a:cubicBezTo>
                <a:cubicBezTo>
                  <a:pt x="112748" y="98033"/>
                  <a:pt x="91886" y="116655"/>
                  <a:pt x="66701" y="116655"/>
                </a:cubicBezTo>
                <a:cubicBezTo>
                  <a:pt x="55137" y="116655"/>
                  <a:pt x="44511" y="112748"/>
                  <a:pt x="36046" y="106159"/>
                </a:cubicBezTo>
                <a:lnTo>
                  <a:pt x="48183" y="94022"/>
                </a:lnTo>
                <a:cubicBezTo>
                  <a:pt x="49980" y="92225"/>
                  <a:pt x="50501" y="89542"/>
                  <a:pt x="49537" y="87198"/>
                </a:cubicBezTo>
                <a:cubicBezTo>
                  <a:pt x="48574" y="84854"/>
                  <a:pt x="46282" y="83344"/>
                  <a:pt x="43755" y="83344"/>
                </a:cubicBezTo>
                <a:lnTo>
                  <a:pt x="6251" y="83344"/>
                </a:lnTo>
                <a:cubicBezTo>
                  <a:pt x="2787" y="83344"/>
                  <a:pt x="0" y="86131"/>
                  <a:pt x="0" y="89595"/>
                </a:cubicBezTo>
                <a:lnTo>
                  <a:pt x="0" y="127099"/>
                </a:lnTo>
                <a:cubicBezTo>
                  <a:pt x="0" y="129626"/>
                  <a:pt x="1511" y="131918"/>
                  <a:pt x="3855" y="132881"/>
                </a:cubicBezTo>
                <a:cubicBezTo>
                  <a:pt x="6199" y="133845"/>
                  <a:pt x="8881" y="133298"/>
                  <a:pt x="10678" y="131527"/>
                </a:cubicBezTo>
                <a:lnTo>
                  <a:pt x="24170" y="118036"/>
                </a:lnTo>
                <a:cubicBezTo>
                  <a:pt x="35682" y="127594"/>
                  <a:pt x="50527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125" y="5445919"/>
            <a:ext cx="3829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0125" y="5636419"/>
            <a:ext cx="3819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lessons learned to create strategies for ongoing security enhancement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15038" y="1757363"/>
            <a:ext cx="5791200" cy="4914900"/>
          </a:xfrm>
          <a:custGeom>
            <a:avLst/>
            <a:gdLst/>
            <a:ahLst/>
            <a:cxnLst/>
            <a:rect l="l" t="t" r="r" b="b"/>
            <a:pathLst>
              <a:path w="5791200" h="4914900">
                <a:moveTo>
                  <a:pt x="76181" y="0"/>
                </a:moveTo>
                <a:lnTo>
                  <a:pt x="5715019" y="0"/>
                </a:lnTo>
                <a:cubicBezTo>
                  <a:pt x="5757093" y="0"/>
                  <a:pt x="5791200" y="34107"/>
                  <a:pt x="5791200" y="76181"/>
                </a:cubicBezTo>
                <a:lnTo>
                  <a:pt x="5791200" y="4838719"/>
                </a:lnTo>
                <a:cubicBezTo>
                  <a:pt x="5791200" y="4880793"/>
                  <a:pt x="5757093" y="4914900"/>
                  <a:pt x="5715019" y="4914900"/>
                </a:cubicBezTo>
                <a:lnTo>
                  <a:pt x="76181" y="4914900"/>
                </a:lnTo>
                <a:cubicBezTo>
                  <a:pt x="34107" y="4914900"/>
                  <a:pt x="0" y="4880793"/>
                  <a:pt x="0" y="4838719"/>
                </a:cubicBezTo>
                <a:lnTo>
                  <a:pt x="0" y="76181"/>
                </a:lnTo>
                <a:cubicBezTo>
                  <a:pt x="0" y="34136"/>
                  <a:pt x="34136" y="0"/>
                  <a:pt x="7618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300" y="19907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448425" y="1952625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Purple Team Benefits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9825" y="2371725"/>
            <a:ext cx="5391150" cy="828675"/>
          </a:xfrm>
          <a:custGeom>
            <a:avLst/>
            <a:gdLst/>
            <a:ahLst/>
            <a:cxnLst/>
            <a:rect l="l" t="t" r="r" b="b"/>
            <a:pathLst>
              <a:path w="5391150" h="828675">
                <a:moveTo>
                  <a:pt x="19050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790573"/>
                </a:lnTo>
                <a:cubicBezTo>
                  <a:pt x="5391150" y="811616"/>
                  <a:pt x="5374091" y="828675"/>
                  <a:pt x="5353048" y="828675"/>
                </a:cubicBezTo>
                <a:lnTo>
                  <a:pt x="19050" y="828675"/>
                </a:lnTo>
                <a:cubicBezTo>
                  <a:pt x="8536" y="828675"/>
                  <a:pt x="0" y="820139"/>
                  <a:pt x="0" y="80962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19825" y="2371725"/>
            <a:ext cx="19050" cy="828675"/>
          </a:xfrm>
          <a:custGeom>
            <a:avLst/>
            <a:gdLst/>
            <a:ahLst/>
            <a:cxnLst/>
            <a:rect l="l" t="t" r="r" b="b"/>
            <a:pathLst>
              <a:path w="19050" h="828675">
                <a:moveTo>
                  <a:pt x="19050" y="0"/>
                </a:moveTo>
                <a:lnTo>
                  <a:pt x="19050" y="0"/>
                </a:lnTo>
                <a:lnTo>
                  <a:pt x="19050" y="828675"/>
                </a:lnTo>
                <a:lnTo>
                  <a:pt x="19050" y="828675"/>
                </a:lnTo>
                <a:cubicBezTo>
                  <a:pt x="8536" y="828675"/>
                  <a:pt x="0" y="820139"/>
                  <a:pt x="0" y="80962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62700" y="2505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610350" y="248602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Transfer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3650" y="2714625"/>
            <a:ext cx="52101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Team shares attack techniques; Blue Team shares detection capabilities. Both teams learn and improve.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9825" y="3314700"/>
            <a:ext cx="5391150" cy="647700"/>
          </a:xfrm>
          <a:custGeom>
            <a:avLst/>
            <a:gdLst/>
            <a:ahLst/>
            <a:cxnLst/>
            <a:rect l="l" t="t" r="r" b="b"/>
            <a:pathLst>
              <a:path w="5391150" h="647700">
                <a:moveTo>
                  <a:pt x="19050" y="0"/>
                </a:moveTo>
                <a:lnTo>
                  <a:pt x="5353052" y="0"/>
                </a:lnTo>
                <a:cubicBezTo>
                  <a:pt x="5374079" y="0"/>
                  <a:pt x="5391150" y="17071"/>
                  <a:pt x="5391150" y="38098"/>
                </a:cubicBezTo>
                <a:lnTo>
                  <a:pt x="5391150" y="609602"/>
                </a:lnTo>
                <a:cubicBezTo>
                  <a:pt x="5391150" y="630643"/>
                  <a:pt x="5374093" y="647700"/>
                  <a:pt x="5353052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19825" y="3314700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6362700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610350" y="34290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Improvement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43650" y="36576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feedback loops allow immediate adjustments to both attacks and defenses during exercises.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9825" y="4071938"/>
            <a:ext cx="5391150" cy="647700"/>
          </a:xfrm>
          <a:custGeom>
            <a:avLst/>
            <a:gdLst/>
            <a:ahLst/>
            <a:cxnLst/>
            <a:rect l="l" t="t" r="r" b="b"/>
            <a:pathLst>
              <a:path w="5391150" h="647700">
                <a:moveTo>
                  <a:pt x="19050" y="0"/>
                </a:moveTo>
                <a:lnTo>
                  <a:pt x="5353052" y="0"/>
                </a:lnTo>
                <a:cubicBezTo>
                  <a:pt x="5374079" y="0"/>
                  <a:pt x="5391150" y="17071"/>
                  <a:pt x="5391150" y="38098"/>
                </a:cubicBezTo>
                <a:lnTo>
                  <a:pt x="5391150" y="609602"/>
                </a:lnTo>
                <a:cubicBezTo>
                  <a:pt x="5391150" y="630643"/>
                  <a:pt x="5374093" y="647700"/>
                  <a:pt x="5353052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19825" y="4071938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2700" y="42052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610350" y="4186238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Identification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43650" y="4414838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Quickly identify where detection is missing and where controls need strengthening.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9825" y="4829175"/>
            <a:ext cx="5391150" cy="647700"/>
          </a:xfrm>
          <a:custGeom>
            <a:avLst/>
            <a:gdLst/>
            <a:ahLst/>
            <a:cxnLst/>
            <a:rect l="l" t="t" r="r" b="b"/>
            <a:pathLst>
              <a:path w="5391150" h="647700">
                <a:moveTo>
                  <a:pt x="19050" y="0"/>
                </a:moveTo>
                <a:lnTo>
                  <a:pt x="5353052" y="0"/>
                </a:lnTo>
                <a:cubicBezTo>
                  <a:pt x="5374079" y="0"/>
                  <a:pt x="5391150" y="17071"/>
                  <a:pt x="5391150" y="38098"/>
                </a:cubicBezTo>
                <a:lnTo>
                  <a:pt x="5391150" y="609602"/>
                </a:lnTo>
                <a:cubicBezTo>
                  <a:pt x="5391150" y="630643"/>
                  <a:pt x="5374093" y="647700"/>
                  <a:pt x="5353052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19825" y="482917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6391275" y="4962525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610350" y="494347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43650" y="517207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value from security testing by ensuring findings are immediately actionable.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5063" y="5629275"/>
            <a:ext cx="5391150" cy="838200"/>
          </a:xfrm>
          <a:custGeom>
            <a:avLst/>
            <a:gdLst/>
            <a:ahLst/>
            <a:cxnLst/>
            <a:rect l="l" t="t" r="r" b="b"/>
            <a:pathLst>
              <a:path w="5391150" h="838200">
                <a:moveTo>
                  <a:pt x="38096" y="0"/>
                </a:moveTo>
                <a:lnTo>
                  <a:pt x="5353054" y="0"/>
                </a:lnTo>
                <a:cubicBezTo>
                  <a:pt x="5374094" y="0"/>
                  <a:pt x="5391150" y="17056"/>
                  <a:pt x="5391150" y="38096"/>
                </a:cubicBezTo>
                <a:lnTo>
                  <a:pt x="5391150" y="800104"/>
                </a:lnTo>
                <a:cubicBezTo>
                  <a:pt x="5391150" y="821144"/>
                  <a:pt x="5374094" y="838200"/>
                  <a:pt x="535305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4125" y="5748338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34125" y="5976938"/>
            <a:ext cx="52101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"Purple Team" can also be a </a:t>
            </a:r>
            <a:pPr>
              <a:lnSpc>
                <a:spcPct val="14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describing the collaborative activity of Red and Blue teams working together to improve security.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onstanttech.com/e3f8e22795e21742aa889ba326499748970e06a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OPERATIONS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Operations Center (SOC)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central nervous system of organizational cybersecurity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485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5"/>
          <p:cNvSpPr/>
          <p:nvPr/>
        </p:nvSpPr>
        <p:spPr>
          <a:xfrm>
            <a:off x="385763" y="1719263"/>
            <a:ext cx="5391150" cy="1971675"/>
          </a:xfrm>
          <a:custGeom>
            <a:avLst/>
            <a:gdLst/>
            <a:ahLst/>
            <a:cxnLst/>
            <a:rect l="l" t="t" r="r" b="b"/>
            <a:pathLst>
              <a:path w="5391150" h="1971675">
                <a:moveTo>
                  <a:pt x="76205" y="0"/>
                </a:moveTo>
                <a:lnTo>
                  <a:pt x="5314945" y="0"/>
                </a:lnTo>
                <a:cubicBezTo>
                  <a:pt x="5357032" y="0"/>
                  <a:pt x="5391150" y="34118"/>
                  <a:pt x="5391150" y="76205"/>
                </a:cubicBezTo>
                <a:lnTo>
                  <a:pt x="5391150" y="1895470"/>
                </a:lnTo>
                <a:cubicBezTo>
                  <a:pt x="5391150" y="1937557"/>
                  <a:pt x="5357032" y="1971675"/>
                  <a:pt x="5314945" y="1971675"/>
                </a:cubicBezTo>
                <a:lnTo>
                  <a:pt x="76205" y="1971675"/>
                </a:lnTo>
                <a:cubicBezTo>
                  <a:pt x="34118" y="1971675"/>
                  <a:pt x="0" y="1937557"/>
                  <a:pt x="0" y="18954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650" y="1952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819150" y="19145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SOC?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2295525"/>
            <a:ext cx="50673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Operations Center (SOC)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centralized team, facility, and organizational capability responsible for continuously monitoring, detecting, analyzing, and responding to cybersecurity incidents.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1025" y="3059906"/>
            <a:ext cx="506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SOC serves as the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line of defense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against cyber threats, operating 24/7 to protect an organization's digital assets, infrastructure, and sensitive data.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5763" y="3850481"/>
            <a:ext cx="5391150" cy="2724150"/>
          </a:xfrm>
          <a:custGeom>
            <a:avLst/>
            <a:gdLst/>
            <a:ahLst/>
            <a:cxnLst/>
            <a:rect l="l" t="t" r="r" b="b"/>
            <a:pathLst>
              <a:path w="5391150" h="2724150">
                <a:moveTo>
                  <a:pt x="76194" y="0"/>
                </a:moveTo>
                <a:lnTo>
                  <a:pt x="5314956" y="0"/>
                </a:lnTo>
                <a:cubicBezTo>
                  <a:pt x="5357037" y="0"/>
                  <a:pt x="5391150" y="34113"/>
                  <a:pt x="5391150" y="76194"/>
                </a:cubicBezTo>
                <a:lnTo>
                  <a:pt x="5391150" y="2647956"/>
                </a:lnTo>
                <a:cubicBezTo>
                  <a:pt x="5391150" y="2690037"/>
                  <a:pt x="5357037" y="2724150"/>
                  <a:pt x="5314956" y="2724150"/>
                </a:cubicBezTo>
                <a:lnTo>
                  <a:pt x="76194" y="2724150"/>
                </a:lnTo>
                <a:cubicBezTo>
                  <a:pt x="34113" y="2724150"/>
                  <a:pt x="0" y="2690037"/>
                  <a:pt x="0" y="26479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4838" y="40838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819150" y="4045744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Operations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1025" y="4426744"/>
            <a:ext cx="1590675" cy="723900"/>
          </a:xfrm>
          <a:custGeom>
            <a:avLst/>
            <a:gdLst/>
            <a:ahLst/>
            <a:cxnLst/>
            <a:rect l="l" t="t" r="r" b="b"/>
            <a:pathLst>
              <a:path w="1590675" h="723900">
                <a:moveTo>
                  <a:pt x="38099" y="0"/>
                </a:moveTo>
                <a:lnTo>
                  <a:pt x="1552576" y="0"/>
                </a:lnTo>
                <a:cubicBezTo>
                  <a:pt x="1573603" y="0"/>
                  <a:pt x="1590675" y="17072"/>
                  <a:pt x="1590675" y="38099"/>
                </a:cubicBezTo>
                <a:lnTo>
                  <a:pt x="1590675" y="685801"/>
                </a:lnTo>
                <a:cubicBezTo>
                  <a:pt x="1590675" y="706828"/>
                  <a:pt x="1573603" y="723900"/>
                  <a:pt x="15525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38175" y="4541044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6750" y="4883944"/>
            <a:ext cx="1419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286000" y="4426744"/>
            <a:ext cx="1590675" cy="723900"/>
          </a:xfrm>
          <a:custGeom>
            <a:avLst/>
            <a:gdLst/>
            <a:ahLst/>
            <a:cxnLst/>
            <a:rect l="l" t="t" r="r" b="b"/>
            <a:pathLst>
              <a:path w="1590675" h="723900">
                <a:moveTo>
                  <a:pt x="38099" y="0"/>
                </a:moveTo>
                <a:lnTo>
                  <a:pt x="1552576" y="0"/>
                </a:lnTo>
                <a:cubicBezTo>
                  <a:pt x="1573603" y="0"/>
                  <a:pt x="1590675" y="17072"/>
                  <a:pt x="1590675" y="38099"/>
                </a:cubicBezTo>
                <a:lnTo>
                  <a:pt x="1590675" y="685801"/>
                </a:lnTo>
                <a:cubicBezTo>
                  <a:pt x="1590675" y="706828"/>
                  <a:pt x="1573603" y="723900"/>
                  <a:pt x="15525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343150" y="4541044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371725" y="4883944"/>
            <a:ext cx="1419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Per Year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990975" y="4426744"/>
            <a:ext cx="1590675" cy="723900"/>
          </a:xfrm>
          <a:custGeom>
            <a:avLst/>
            <a:gdLst/>
            <a:ahLst/>
            <a:cxnLst/>
            <a:rect l="l" t="t" r="r" b="b"/>
            <a:pathLst>
              <a:path w="1590675" h="723900">
                <a:moveTo>
                  <a:pt x="38099" y="0"/>
                </a:moveTo>
                <a:lnTo>
                  <a:pt x="1552576" y="0"/>
                </a:lnTo>
                <a:cubicBezTo>
                  <a:pt x="1573603" y="0"/>
                  <a:pt x="1590675" y="17072"/>
                  <a:pt x="1590675" y="38099"/>
                </a:cubicBezTo>
                <a:lnTo>
                  <a:pt x="1590675" y="685801"/>
                </a:lnTo>
                <a:cubicBezTo>
                  <a:pt x="1590675" y="706828"/>
                  <a:pt x="1573603" y="723900"/>
                  <a:pt x="15525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048125" y="4541044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076700" y="4883944"/>
            <a:ext cx="1419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Response Time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1025" y="5264944"/>
            <a:ext cx="506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SOCs operate around the clock because cyber threats don't follow business hours. Global coverage ensures someone is always watching.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15038" y="1719263"/>
            <a:ext cx="5791200" cy="4857750"/>
          </a:xfrm>
          <a:custGeom>
            <a:avLst/>
            <a:gdLst/>
            <a:ahLst/>
            <a:cxnLst/>
            <a:rect l="l" t="t" r="r" b="b"/>
            <a:pathLst>
              <a:path w="5791200" h="4857750">
                <a:moveTo>
                  <a:pt x="76218" y="0"/>
                </a:moveTo>
                <a:lnTo>
                  <a:pt x="5714982" y="0"/>
                </a:lnTo>
                <a:cubicBezTo>
                  <a:pt x="5757076" y="0"/>
                  <a:pt x="5791200" y="34124"/>
                  <a:pt x="5791200" y="76218"/>
                </a:cubicBezTo>
                <a:lnTo>
                  <a:pt x="5791200" y="4781532"/>
                </a:lnTo>
                <a:cubicBezTo>
                  <a:pt x="5791200" y="4823626"/>
                  <a:pt x="5757076" y="4857750"/>
                  <a:pt x="5714982" y="4857750"/>
                </a:cubicBezTo>
                <a:lnTo>
                  <a:pt x="76218" y="4857750"/>
                </a:lnTo>
                <a:cubicBezTo>
                  <a:pt x="34124" y="4857750"/>
                  <a:pt x="0" y="4823626"/>
                  <a:pt x="0" y="4781532"/>
                </a:cubicBezTo>
                <a:lnTo>
                  <a:pt x="0" y="76218"/>
                </a:lnTo>
                <a:cubicBezTo>
                  <a:pt x="0" y="34152"/>
                  <a:pt x="34152" y="0"/>
                  <a:pt x="7621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34113" y="1952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5"/>
          <p:cNvSpPr/>
          <p:nvPr/>
        </p:nvSpPr>
        <p:spPr>
          <a:xfrm>
            <a:off x="6448425" y="1914525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SOC Functions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10300" y="2333625"/>
            <a:ext cx="5400675" cy="790575"/>
          </a:xfrm>
          <a:custGeom>
            <a:avLst/>
            <a:gdLst/>
            <a:ahLst/>
            <a:cxnLst/>
            <a:rect l="l" t="t" r="r" b="b"/>
            <a:pathLst>
              <a:path w="5400675" h="790575">
                <a:moveTo>
                  <a:pt x="38098" y="0"/>
                </a:moveTo>
                <a:lnTo>
                  <a:pt x="5362577" y="0"/>
                </a:lnTo>
                <a:cubicBezTo>
                  <a:pt x="5383618" y="0"/>
                  <a:pt x="5400675" y="17057"/>
                  <a:pt x="5400675" y="38098"/>
                </a:cubicBezTo>
                <a:lnTo>
                  <a:pt x="5400675" y="752477"/>
                </a:lnTo>
                <a:cubicBezTo>
                  <a:pt x="5400675" y="773518"/>
                  <a:pt x="5383618" y="790575"/>
                  <a:pt x="5362577" y="790575"/>
                </a:cubicBezTo>
                <a:lnTo>
                  <a:pt x="38098" y="790575"/>
                </a:lnTo>
                <a:cubicBezTo>
                  <a:pt x="17057" y="790575"/>
                  <a:pt x="0" y="773518"/>
                  <a:pt x="0" y="7524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324600" y="2447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29375" y="25622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29"/>
          <p:cNvSpPr/>
          <p:nvPr/>
        </p:nvSpPr>
        <p:spPr>
          <a:xfrm>
            <a:off x="6819900" y="2447925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19900" y="2638425"/>
            <a:ext cx="4733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networks, systems, and applications for security events and anomalies using SIEM and other tools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10300" y="3238500"/>
            <a:ext cx="5400675" cy="790575"/>
          </a:xfrm>
          <a:custGeom>
            <a:avLst/>
            <a:gdLst/>
            <a:ahLst/>
            <a:cxnLst/>
            <a:rect l="l" t="t" r="r" b="b"/>
            <a:pathLst>
              <a:path w="5400675" h="790575">
                <a:moveTo>
                  <a:pt x="38098" y="0"/>
                </a:moveTo>
                <a:lnTo>
                  <a:pt x="5362577" y="0"/>
                </a:lnTo>
                <a:cubicBezTo>
                  <a:pt x="5383618" y="0"/>
                  <a:pt x="5400675" y="17057"/>
                  <a:pt x="5400675" y="38098"/>
                </a:cubicBezTo>
                <a:lnTo>
                  <a:pt x="5400675" y="752477"/>
                </a:lnTo>
                <a:cubicBezTo>
                  <a:pt x="5400675" y="773518"/>
                  <a:pt x="5383618" y="790575"/>
                  <a:pt x="5362577" y="790575"/>
                </a:cubicBezTo>
                <a:lnTo>
                  <a:pt x="38098" y="790575"/>
                </a:lnTo>
                <a:cubicBezTo>
                  <a:pt x="17057" y="790575"/>
                  <a:pt x="0" y="773518"/>
                  <a:pt x="0" y="7524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324600" y="3352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438900" y="3467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4"/>
          <p:cNvSpPr/>
          <p:nvPr/>
        </p:nvSpPr>
        <p:spPr>
          <a:xfrm>
            <a:off x="6819900" y="3352800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Detection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19900" y="3543300"/>
            <a:ext cx="4733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potential security incidents through alert analysis, log review, and threat intelligence correlation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210300" y="4143375"/>
            <a:ext cx="5400675" cy="790575"/>
          </a:xfrm>
          <a:custGeom>
            <a:avLst/>
            <a:gdLst/>
            <a:ahLst/>
            <a:cxnLst/>
            <a:rect l="l" t="t" r="r" b="b"/>
            <a:pathLst>
              <a:path w="5400675" h="790575">
                <a:moveTo>
                  <a:pt x="38098" y="0"/>
                </a:moveTo>
                <a:lnTo>
                  <a:pt x="5362577" y="0"/>
                </a:lnTo>
                <a:cubicBezTo>
                  <a:pt x="5383618" y="0"/>
                  <a:pt x="5400675" y="17057"/>
                  <a:pt x="5400675" y="38098"/>
                </a:cubicBezTo>
                <a:lnTo>
                  <a:pt x="5400675" y="752477"/>
                </a:lnTo>
                <a:cubicBezTo>
                  <a:pt x="5400675" y="773518"/>
                  <a:pt x="5383618" y="790575"/>
                  <a:pt x="5362577" y="790575"/>
                </a:cubicBezTo>
                <a:lnTo>
                  <a:pt x="38098" y="790575"/>
                </a:lnTo>
                <a:cubicBezTo>
                  <a:pt x="17057" y="790575"/>
                  <a:pt x="0" y="773518"/>
                  <a:pt x="0" y="7524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324600" y="4257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38900" y="4371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6668"/>
                  <a:pt x="151120" y="3959"/>
                  <a:pt x="148917" y="2173"/>
                </a:cubicBezTo>
                <a:cubicBezTo>
                  <a:pt x="146715" y="387"/>
                  <a:pt x="143798" y="-387"/>
                  <a:pt x="141000" y="179"/>
                </a:cubicBezTo>
                <a:lnTo>
                  <a:pt x="93375" y="9704"/>
                </a:lnTo>
                <a:cubicBezTo>
                  <a:pt x="89743" y="10448"/>
                  <a:pt x="86916" y="13186"/>
                  <a:pt x="86023" y="16669"/>
                </a:cubicBezTo>
                <a:lnTo>
                  <a:pt x="66675" y="16669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lnTo>
                  <a:pt x="47625" y="0"/>
                </a:lnTo>
                <a:cubicBezTo>
                  <a:pt x="42356" y="0"/>
                  <a:pt x="38100" y="4256"/>
                  <a:pt x="38100" y="9525"/>
                </a:cubicBezTo>
                <a:lnTo>
                  <a:pt x="38100" y="17978"/>
                </a:lnTo>
                <a:cubicBezTo>
                  <a:pt x="21640" y="21640"/>
                  <a:pt x="7947" y="32712"/>
                  <a:pt x="744" y="47476"/>
                </a:cubicBezTo>
                <a:cubicBezTo>
                  <a:pt x="-982" y="51018"/>
                  <a:pt x="476" y="55305"/>
                  <a:pt x="4048" y="57031"/>
                </a:cubicBezTo>
                <a:cubicBezTo>
                  <a:pt x="7620" y="58757"/>
                  <a:pt x="11876" y="57299"/>
                  <a:pt x="13603" y="53727"/>
                </a:cubicBezTo>
                <a:cubicBezTo>
                  <a:pt x="18455" y="43726"/>
                  <a:pt x="27325" y="36046"/>
                  <a:pt x="38100" y="32742"/>
                </a:cubicBezTo>
                <a:lnTo>
                  <a:pt x="38100" y="41315"/>
                </a:lnTo>
                <a:cubicBezTo>
                  <a:pt x="26849" y="46673"/>
                  <a:pt x="19050" y="58132"/>
                  <a:pt x="19050" y="71438"/>
                </a:cubicBezTo>
                <a:lnTo>
                  <a:pt x="19050" y="109537"/>
                </a:lnTo>
                <a:lnTo>
                  <a:pt x="85725" y="109537"/>
                </a:lnTo>
                <a:lnTo>
                  <a:pt x="85725" y="71438"/>
                </a:lnTo>
                <a:cubicBezTo>
                  <a:pt x="85725" y="58132"/>
                  <a:pt x="77926" y="46673"/>
                  <a:pt x="66675" y="41315"/>
                </a:cubicBezTo>
                <a:lnTo>
                  <a:pt x="66675" y="30956"/>
                </a:lnTo>
                <a:lnTo>
                  <a:pt x="86023" y="30956"/>
                </a:lnTo>
                <a:cubicBezTo>
                  <a:pt x="86916" y="34439"/>
                  <a:pt x="89743" y="37177"/>
                  <a:pt x="93375" y="37921"/>
                </a:cubicBezTo>
                <a:lnTo>
                  <a:pt x="141000" y="47446"/>
                </a:lnTo>
                <a:cubicBezTo>
                  <a:pt x="143798" y="48012"/>
                  <a:pt x="146685" y="47268"/>
                  <a:pt x="148917" y="45482"/>
                </a:cubicBezTo>
                <a:cubicBezTo>
                  <a:pt x="151150" y="43696"/>
                  <a:pt x="152400" y="40957"/>
                  <a:pt x="152400" y="38100"/>
                </a:cubicBezTo>
                <a:lnTo>
                  <a:pt x="152400" y="9525"/>
                </a:lnTo>
                <a:close/>
                <a:moveTo>
                  <a:pt x="85725" y="133350"/>
                </a:moveTo>
                <a:lnTo>
                  <a:pt x="85725" y="123825"/>
                </a:lnTo>
                <a:lnTo>
                  <a:pt x="19050" y="123825"/>
                </a:lnTo>
                <a:lnTo>
                  <a:pt x="19050" y="133350"/>
                </a:lnTo>
                <a:cubicBezTo>
                  <a:pt x="19050" y="143857"/>
                  <a:pt x="27593" y="152400"/>
                  <a:pt x="38100" y="152400"/>
                </a:cubicBezTo>
                <a:lnTo>
                  <a:pt x="66675" y="152400"/>
                </a:lnTo>
                <a:cubicBezTo>
                  <a:pt x="77182" y="152400"/>
                  <a:pt x="85725" y="143857"/>
                  <a:pt x="85725" y="1333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39"/>
          <p:cNvSpPr/>
          <p:nvPr/>
        </p:nvSpPr>
        <p:spPr>
          <a:xfrm>
            <a:off x="6819900" y="4257675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Response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19900" y="4448175"/>
            <a:ext cx="4733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Investigate, contain, eradicate, and recover from security incidents following established procedures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210300" y="5048250"/>
            <a:ext cx="5400675" cy="609600"/>
          </a:xfrm>
          <a:custGeom>
            <a:avLst/>
            <a:gdLst/>
            <a:ahLst/>
            <a:cxnLst/>
            <a:rect l="l" t="t" r="r" b="b"/>
            <a:pathLst>
              <a:path w="5400675" h="609600">
                <a:moveTo>
                  <a:pt x="38100" y="0"/>
                </a:moveTo>
                <a:lnTo>
                  <a:pt x="5362575" y="0"/>
                </a:lnTo>
                <a:cubicBezTo>
                  <a:pt x="5383603" y="0"/>
                  <a:pt x="5400675" y="17072"/>
                  <a:pt x="5400675" y="38100"/>
                </a:cubicBezTo>
                <a:lnTo>
                  <a:pt x="5400675" y="571500"/>
                </a:lnTo>
                <a:cubicBezTo>
                  <a:pt x="5400675" y="592528"/>
                  <a:pt x="5383603" y="609600"/>
                  <a:pt x="5362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324600" y="5162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38900" y="5276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4"/>
          <p:cNvSpPr/>
          <p:nvPr/>
        </p:nvSpPr>
        <p:spPr>
          <a:xfrm>
            <a:off x="6819900" y="5162550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Hunting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819900" y="5353050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Proactively search for advanced threats that evade automated detection systems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210300" y="5772150"/>
            <a:ext cx="5400675" cy="609600"/>
          </a:xfrm>
          <a:custGeom>
            <a:avLst/>
            <a:gdLst/>
            <a:ahLst/>
            <a:cxnLst/>
            <a:rect l="l" t="t" r="r" b="b"/>
            <a:pathLst>
              <a:path w="5400675" h="609600">
                <a:moveTo>
                  <a:pt x="38100" y="0"/>
                </a:moveTo>
                <a:lnTo>
                  <a:pt x="5362575" y="0"/>
                </a:lnTo>
                <a:cubicBezTo>
                  <a:pt x="5383603" y="0"/>
                  <a:pt x="5400675" y="17072"/>
                  <a:pt x="5400675" y="38100"/>
                </a:cubicBezTo>
                <a:lnTo>
                  <a:pt x="5400675" y="571500"/>
                </a:lnTo>
                <a:cubicBezTo>
                  <a:pt x="5400675" y="592528"/>
                  <a:pt x="5383603" y="609600"/>
                  <a:pt x="5362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324600" y="5886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457950" y="6000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Text 49"/>
          <p:cNvSpPr/>
          <p:nvPr/>
        </p:nvSpPr>
        <p:spPr>
          <a:xfrm>
            <a:off x="6819900" y="5886450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 &amp; Compliance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819900" y="6076950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incidents, generate reports, and ensure compliance with regulatory requirements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 Team Structure &amp; Job Roles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tiered approach to handling security incidents from detection to advanced response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719263"/>
            <a:ext cx="3695700" cy="3181350"/>
          </a:xfrm>
          <a:custGeom>
            <a:avLst/>
            <a:gdLst/>
            <a:ahLst/>
            <a:cxnLst/>
            <a:rect l="l" t="t" r="r" b="b"/>
            <a:pathLst>
              <a:path w="3695700" h="3181350">
                <a:moveTo>
                  <a:pt x="76193" y="0"/>
                </a:moveTo>
                <a:lnTo>
                  <a:pt x="3619507" y="0"/>
                </a:lnTo>
                <a:cubicBezTo>
                  <a:pt x="3661587" y="0"/>
                  <a:pt x="3695700" y="34113"/>
                  <a:pt x="3695700" y="76193"/>
                </a:cubicBezTo>
                <a:lnTo>
                  <a:pt x="3695700" y="3105157"/>
                </a:lnTo>
                <a:cubicBezTo>
                  <a:pt x="3695700" y="3147237"/>
                  <a:pt x="3661587" y="3181350"/>
                  <a:pt x="3619507" y="3181350"/>
                </a:cubicBezTo>
                <a:lnTo>
                  <a:pt x="76193" y="3181350"/>
                </a:lnTo>
                <a:cubicBezTo>
                  <a:pt x="34113" y="3181350"/>
                  <a:pt x="0" y="3147237"/>
                  <a:pt x="0" y="310515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876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495300" y="18764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89547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425" y="216217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Triage Specialist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4479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Role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26384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line of defense - monitor alerts and perform initial triage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29003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Responsibilities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0908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SIEM dashboards 24/7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2925" y="326231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Initial alert triage &amp; classification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34337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Identify false positives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2925" y="360521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Escalate confirmed incidents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3776662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Basic threat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4005262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925" y="41957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SIEM, EDR, ticketing systems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4467225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2925" y="4586288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"Eyes on Glass"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719263"/>
            <a:ext cx="3695700" cy="3181350"/>
          </a:xfrm>
          <a:custGeom>
            <a:avLst/>
            <a:gdLst/>
            <a:ahLst/>
            <a:cxnLst/>
            <a:rect l="l" t="t" r="r" b="b"/>
            <a:pathLst>
              <a:path w="3695700" h="3181350">
                <a:moveTo>
                  <a:pt x="76193" y="0"/>
                </a:moveTo>
                <a:lnTo>
                  <a:pt x="3619507" y="0"/>
                </a:lnTo>
                <a:cubicBezTo>
                  <a:pt x="3661587" y="0"/>
                  <a:pt x="3695700" y="34113"/>
                  <a:pt x="3695700" y="76193"/>
                </a:cubicBezTo>
                <a:lnTo>
                  <a:pt x="3695700" y="3105157"/>
                </a:lnTo>
                <a:cubicBezTo>
                  <a:pt x="3695700" y="3147237"/>
                  <a:pt x="3661587" y="3181350"/>
                  <a:pt x="3619507" y="3181350"/>
                </a:cubicBezTo>
                <a:lnTo>
                  <a:pt x="76193" y="3181350"/>
                </a:lnTo>
                <a:cubicBezTo>
                  <a:pt x="34113" y="3181350"/>
                  <a:pt x="0" y="3147237"/>
                  <a:pt x="0" y="310515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3675" y="1876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4356050" y="18764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5175" y="18954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75175" y="2162175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Responder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03675" y="24479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Role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03675" y="26384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investigation and incident response coordination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03675" y="29003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Responsibilities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03675" y="30908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In-depth log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3675" y="326231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Threat intelligence correlation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3675" y="34337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Determine scope &amp; impact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03675" y="360521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Coordinate containment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03675" y="3776662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Malware analysis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3675" y="4005262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03675" y="41957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Forensics tools, threat intel platforms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03675" y="4467225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403675" y="4586288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"Cyber Sleuths"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7338" y="1719263"/>
            <a:ext cx="3695700" cy="3181350"/>
          </a:xfrm>
          <a:custGeom>
            <a:avLst/>
            <a:gdLst/>
            <a:ahLst/>
            <a:cxnLst/>
            <a:rect l="l" t="t" r="r" b="b"/>
            <a:pathLst>
              <a:path w="3695700" h="3181350">
                <a:moveTo>
                  <a:pt x="76193" y="0"/>
                </a:moveTo>
                <a:lnTo>
                  <a:pt x="3619507" y="0"/>
                </a:lnTo>
                <a:cubicBezTo>
                  <a:pt x="3661587" y="0"/>
                  <a:pt x="3695700" y="34113"/>
                  <a:pt x="3695700" y="76193"/>
                </a:cubicBezTo>
                <a:lnTo>
                  <a:pt x="3695700" y="3105157"/>
                </a:lnTo>
                <a:cubicBezTo>
                  <a:pt x="3695700" y="3147237"/>
                  <a:pt x="3661587" y="3181350"/>
                  <a:pt x="3619507" y="3181350"/>
                </a:cubicBezTo>
                <a:lnTo>
                  <a:pt x="76193" y="3181350"/>
                </a:lnTo>
                <a:cubicBezTo>
                  <a:pt x="34113" y="3181350"/>
                  <a:pt x="0" y="3147237"/>
                  <a:pt x="0" y="310515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4025" y="188595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A5C6A"/>
          </a:solidFill>
          <a:ln w="25400">
            <a:solidFill>
              <a:srgbClr val="EDF2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16875" y="1876425"/>
            <a:ext cx="514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36000" y="18954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36000" y="2162175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Hunter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64500" y="24479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Role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64500" y="26384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threat hunting and advanced response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4500" y="29003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Responsibilities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64500" y="30908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Advanced threat hunting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4500" y="326231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APT detection &amp; analysis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64500" y="34337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Reverse engineering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64500" y="360521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SIEM rule development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64500" y="3776662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Penetration testing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64500" y="4005262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64500" y="4195763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MITRE ATT&amp;CK, IDA Pro, YARA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64500" y="4467225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6" name="Text 54"/>
          <p:cNvSpPr/>
          <p:nvPr/>
        </p:nvSpPr>
        <p:spPr>
          <a:xfrm>
            <a:off x="8264500" y="4586288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"Proactive Defenders"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5763" y="5057775"/>
            <a:ext cx="2762250" cy="876300"/>
          </a:xfrm>
          <a:custGeom>
            <a:avLst/>
            <a:gdLst/>
            <a:ahLst/>
            <a:cxnLst/>
            <a:rect l="l" t="t" r="r" b="b"/>
            <a:pathLst>
              <a:path w="2762250" h="87630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00097"/>
                </a:lnTo>
                <a:cubicBezTo>
                  <a:pt x="2762250" y="842183"/>
                  <a:pt x="2728133" y="876300"/>
                  <a:pt x="26860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3400" y="51958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9" name="Text 57"/>
          <p:cNvSpPr/>
          <p:nvPr/>
        </p:nvSpPr>
        <p:spPr>
          <a:xfrm>
            <a:off x="771525" y="5176838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 Manager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4825" y="5443538"/>
            <a:ext cx="25812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Oversees operations, manages staff, reports to CISO, handles budgets and compliance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71838" y="5057775"/>
            <a:ext cx="2762250" cy="876300"/>
          </a:xfrm>
          <a:custGeom>
            <a:avLst/>
            <a:gdLst/>
            <a:ahLst/>
            <a:cxnLst/>
            <a:rect l="l" t="t" r="r" b="b"/>
            <a:pathLst>
              <a:path w="2762250" h="87630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00097"/>
                </a:lnTo>
                <a:cubicBezTo>
                  <a:pt x="2762250" y="842183"/>
                  <a:pt x="2728133" y="876300"/>
                  <a:pt x="26860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90900" y="5195888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0" y="5176838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Engineer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390900" y="5443538"/>
            <a:ext cx="25812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security tools, configures SIEM, develops automation, manages infrastructure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57913" y="5057775"/>
            <a:ext cx="2762250" cy="876300"/>
          </a:xfrm>
          <a:custGeom>
            <a:avLst/>
            <a:gdLst/>
            <a:ahLst/>
            <a:cxnLst/>
            <a:rect l="l" t="t" r="r" b="b"/>
            <a:pathLst>
              <a:path w="2762250" h="87630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00097"/>
                </a:lnTo>
                <a:cubicBezTo>
                  <a:pt x="2762250" y="842183"/>
                  <a:pt x="2728133" y="876300"/>
                  <a:pt x="26860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96025" y="51958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7" name="Text 65"/>
          <p:cNvSpPr/>
          <p:nvPr/>
        </p:nvSpPr>
        <p:spPr>
          <a:xfrm>
            <a:off x="6543675" y="5176838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Intel Analyst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76975" y="5443538"/>
            <a:ext cx="25812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Researches threats, maintains IOCs, provides context for investigations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43988" y="5057775"/>
            <a:ext cx="2762250" cy="876300"/>
          </a:xfrm>
          <a:custGeom>
            <a:avLst/>
            <a:gdLst/>
            <a:ahLst/>
            <a:cxnLst/>
            <a:rect l="l" t="t" r="r" b="b"/>
            <a:pathLst>
              <a:path w="2762250" h="87630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00097"/>
                </a:lnTo>
                <a:cubicBezTo>
                  <a:pt x="2762250" y="842183"/>
                  <a:pt x="2728133" y="876300"/>
                  <a:pt x="26860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72575" y="51958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1" name="Text 69"/>
          <p:cNvSpPr/>
          <p:nvPr/>
        </p:nvSpPr>
        <p:spPr>
          <a:xfrm>
            <a:off x="9429750" y="5176838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CISO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63050" y="5443538"/>
            <a:ext cx="25812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leader defining security vision, policies, and reporting to executive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318" y="362318"/>
            <a:ext cx="11530770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b="1" spc="10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318" y="615941"/>
            <a:ext cx="11630407" cy="36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Privacy: The CIA Triad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2318" y="1050722"/>
            <a:ext cx="11548886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pillars that guide all information security and privacy practices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2318" y="1413040"/>
            <a:ext cx="869563" cy="36232"/>
          </a:xfrm>
          <a:custGeom>
            <a:avLst/>
            <a:gdLst/>
            <a:ahLst/>
            <a:cxnLst/>
            <a:rect l="l" t="t" r="r" b="b"/>
            <a:pathLst>
              <a:path w="869563" h="36232">
                <a:moveTo>
                  <a:pt x="0" y="0"/>
                </a:moveTo>
                <a:lnTo>
                  <a:pt x="869563" y="0"/>
                </a:lnTo>
                <a:lnTo>
                  <a:pt x="869563" y="36232"/>
                </a:lnTo>
                <a:lnTo>
                  <a:pt x="0" y="36232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6847" y="1634960"/>
            <a:ext cx="5615929" cy="3985498"/>
          </a:xfrm>
          <a:custGeom>
            <a:avLst/>
            <a:gdLst/>
            <a:ahLst/>
            <a:cxnLst/>
            <a:rect l="l" t="t" r="r" b="b"/>
            <a:pathLst>
              <a:path w="5615929" h="3985498">
                <a:moveTo>
                  <a:pt x="72456" y="0"/>
                </a:moveTo>
                <a:lnTo>
                  <a:pt x="5543472" y="0"/>
                </a:lnTo>
                <a:cubicBezTo>
                  <a:pt x="5583489" y="0"/>
                  <a:pt x="5615929" y="32440"/>
                  <a:pt x="5615929" y="72456"/>
                </a:cubicBezTo>
                <a:lnTo>
                  <a:pt x="5615929" y="3913041"/>
                </a:lnTo>
                <a:cubicBezTo>
                  <a:pt x="5615929" y="3953058"/>
                  <a:pt x="5583489" y="3985498"/>
                  <a:pt x="5543472" y="3985498"/>
                </a:cubicBezTo>
                <a:lnTo>
                  <a:pt x="72456" y="3985498"/>
                </a:lnTo>
                <a:cubicBezTo>
                  <a:pt x="32440" y="3985498"/>
                  <a:pt x="0" y="3953058"/>
                  <a:pt x="0" y="3913041"/>
                </a:cubicBezTo>
                <a:lnTo>
                  <a:pt x="0" y="72456"/>
                </a:lnTo>
                <a:cubicBezTo>
                  <a:pt x="0" y="32467"/>
                  <a:pt x="32467" y="0"/>
                  <a:pt x="7245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535" y="1820648"/>
            <a:ext cx="5307958" cy="61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99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CIA Triad</a:t>
            </a:r>
            <a:pPr>
              <a:lnSpc>
                <a:spcPct val="140000"/>
              </a:lnSpc>
            </a:pPr>
            <a:r>
              <a:rPr lang="en-US" sz="9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(Confidentiality, Integrity, Availability) is the foundational model for information security. These three principles guide how organizations protect valuable assets and ensure data privacy.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2014828" y="2741162"/>
            <a:ext cx="2318835" cy="2318835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2984170" y="3701305"/>
            <a:ext cx="380434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97757" y="3954927"/>
            <a:ext cx="353260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5361" y="5289842"/>
            <a:ext cx="5298900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Referenced in ISO 27001, GDPR, PCI-DSS, and NIST standards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6847" y="5774443"/>
            <a:ext cx="5615929" cy="1077896"/>
          </a:xfrm>
          <a:custGeom>
            <a:avLst/>
            <a:gdLst/>
            <a:ahLst/>
            <a:cxnLst/>
            <a:rect l="l" t="t" r="r" b="b"/>
            <a:pathLst>
              <a:path w="5615929" h="1077896">
                <a:moveTo>
                  <a:pt x="72467" y="0"/>
                </a:moveTo>
                <a:lnTo>
                  <a:pt x="5543462" y="0"/>
                </a:lnTo>
                <a:cubicBezTo>
                  <a:pt x="5583484" y="0"/>
                  <a:pt x="5615929" y="32445"/>
                  <a:pt x="5615929" y="72467"/>
                </a:cubicBezTo>
                <a:lnTo>
                  <a:pt x="5615929" y="1005429"/>
                </a:lnTo>
                <a:cubicBezTo>
                  <a:pt x="5615929" y="1045451"/>
                  <a:pt x="5583484" y="1077896"/>
                  <a:pt x="5543462" y="1077896"/>
                </a:cubicBezTo>
                <a:lnTo>
                  <a:pt x="72467" y="1077896"/>
                </a:lnTo>
                <a:cubicBezTo>
                  <a:pt x="32445" y="1077896"/>
                  <a:pt x="0" y="1045451"/>
                  <a:pt x="0" y="1005429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8568" y="5969189"/>
            <a:ext cx="203804" cy="163043"/>
          </a:xfrm>
          <a:custGeom>
            <a:avLst/>
            <a:gdLst/>
            <a:ahLst/>
            <a:cxnLst/>
            <a:rect l="l" t="t" r="r" b="b"/>
            <a:pathLst>
              <a:path w="203804" h="163043">
                <a:moveTo>
                  <a:pt x="122282" y="10190"/>
                </a:moveTo>
                <a:lnTo>
                  <a:pt x="163043" y="10190"/>
                </a:lnTo>
                <a:cubicBezTo>
                  <a:pt x="168680" y="10190"/>
                  <a:pt x="173233" y="14744"/>
                  <a:pt x="173233" y="20380"/>
                </a:cubicBezTo>
                <a:cubicBezTo>
                  <a:pt x="173233" y="26017"/>
                  <a:pt x="168680" y="30571"/>
                  <a:pt x="163043" y="30571"/>
                </a:cubicBezTo>
                <a:lnTo>
                  <a:pt x="126868" y="30571"/>
                </a:lnTo>
                <a:cubicBezTo>
                  <a:pt x="125212" y="38786"/>
                  <a:pt x="119576" y="45569"/>
                  <a:pt x="112092" y="48817"/>
                </a:cubicBezTo>
                <a:lnTo>
                  <a:pt x="112092" y="142663"/>
                </a:lnTo>
                <a:lnTo>
                  <a:pt x="163043" y="142663"/>
                </a:lnTo>
                <a:cubicBezTo>
                  <a:pt x="168680" y="142663"/>
                  <a:pt x="173233" y="147216"/>
                  <a:pt x="173233" y="152853"/>
                </a:cubicBezTo>
                <a:cubicBezTo>
                  <a:pt x="173233" y="158489"/>
                  <a:pt x="168680" y="163043"/>
                  <a:pt x="163043" y="163043"/>
                </a:cubicBezTo>
                <a:lnTo>
                  <a:pt x="40761" y="163043"/>
                </a:lnTo>
                <a:cubicBezTo>
                  <a:pt x="35124" y="163043"/>
                  <a:pt x="30571" y="158489"/>
                  <a:pt x="30571" y="152853"/>
                </a:cubicBezTo>
                <a:cubicBezTo>
                  <a:pt x="30571" y="147216"/>
                  <a:pt x="35124" y="142663"/>
                  <a:pt x="40761" y="142663"/>
                </a:cubicBezTo>
                <a:lnTo>
                  <a:pt x="91712" y="142663"/>
                </a:lnTo>
                <a:lnTo>
                  <a:pt x="91712" y="48817"/>
                </a:lnTo>
                <a:cubicBezTo>
                  <a:pt x="84228" y="45537"/>
                  <a:pt x="78592" y="38755"/>
                  <a:pt x="76936" y="30571"/>
                </a:cubicBezTo>
                <a:lnTo>
                  <a:pt x="40761" y="30571"/>
                </a:lnTo>
                <a:cubicBezTo>
                  <a:pt x="35124" y="30571"/>
                  <a:pt x="30571" y="26017"/>
                  <a:pt x="30571" y="20380"/>
                </a:cubicBezTo>
                <a:cubicBezTo>
                  <a:pt x="30571" y="14744"/>
                  <a:pt x="35124" y="10190"/>
                  <a:pt x="40761" y="10190"/>
                </a:cubicBezTo>
                <a:lnTo>
                  <a:pt x="81522" y="10190"/>
                </a:lnTo>
                <a:cubicBezTo>
                  <a:pt x="86171" y="4012"/>
                  <a:pt x="93559" y="0"/>
                  <a:pt x="101902" y="0"/>
                </a:cubicBezTo>
                <a:cubicBezTo>
                  <a:pt x="110245" y="0"/>
                  <a:pt x="117633" y="4012"/>
                  <a:pt x="122282" y="10190"/>
                </a:cubicBezTo>
                <a:close/>
                <a:moveTo>
                  <a:pt x="139988" y="101902"/>
                </a:moveTo>
                <a:lnTo>
                  <a:pt x="186098" y="101902"/>
                </a:lnTo>
                <a:lnTo>
                  <a:pt x="163043" y="62351"/>
                </a:lnTo>
                <a:lnTo>
                  <a:pt x="139988" y="101902"/>
                </a:lnTo>
                <a:close/>
                <a:moveTo>
                  <a:pt x="163043" y="132473"/>
                </a:moveTo>
                <a:cubicBezTo>
                  <a:pt x="143013" y="132473"/>
                  <a:pt x="126358" y="121645"/>
                  <a:pt x="122919" y="107347"/>
                </a:cubicBezTo>
                <a:cubicBezTo>
                  <a:pt x="122091" y="103844"/>
                  <a:pt x="123238" y="100246"/>
                  <a:pt x="125053" y="97125"/>
                </a:cubicBezTo>
                <a:lnTo>
                  <a:pt x="155369" y="45155"/>
                </a:lnTo>
                <a:cubicBezTo>
                  <a:pt x="156961" y="42417"/>
                  <a:pt x="159890" y="40761"/>
                  <a:pt x="163043" y="40761"/>
                </a:cubicBezTo>
                <a:cubicBezTo>
                  <a:pt x="166196" y="40761"/>
                  <a:pt x="169125" y="42449"/>
                  <a:pt x="170718" y="45155"/>
                </a:cubicBezTo>
                <a:lnTo>
                  <a:pt x="201033" y="97125"/>
                </a:lnTo>
                <a:cubicBezTo>
                  <a:pt x="202849" y="100246"/>
                  <a:pt x="203995" y="103844"/>
                  <a:pt x="203167" y="107347"/>
                </a:cubicBezTo>
                <a:cubicBezTo>
                  <a:pt x="199728" y="121614"/>
                  <a:pt x="183073" y="132473"/>
                  <a:pt x="163043" y="132473"/>
                </a:cubicBezTo>
                <a:close/>
                <a:moveTo>
                  <a:pt x="40379" y="62351"/>
                </a:moveTo>
                <a:lnTo>
                  <a:pt x="17323" y="101902"/>
                </a:lnTo>
                <a:lnTo>
                  <a:pt x="63466" y="101902"/>
                </a:lnTo>
                <a:lnTo>
                  <a:pt x="40379" y="62351"/>
                </a:lnTo>
                <a:close/>
                <a:moveTo>
                  <a:pt x="287" y="107347"/>
                </a:moveTo>
                <a:cubicBezTo>
                  <a:pt x="-541" y="103844"/>
                  <a:pt x="605" y="100246"/>
                  <a:pt x="2420" y="97125"/>
                </a:cubicBezTo>
                <a:lnTo>
                  <a:pt x="32736" y="45155"/>
                </a:lnTo>
                <a:cubicBezTo>
                  <a:pt x="34328" y="42417"/>
                  <a:pt x="37258" y="40761"/>
                  <a:pt x="40410" y="40761"/>
                </a:cubicBezTo>
                <a:cubicBezTo>
                  <a:pt x="43563" y="40761"/>
                  <a:pt x="46493" y="42449"/>
                  <a:pt x="48085" y="45155"/>
                </a:cubicBezTo>
                <a:lnTo>
                  <a:pt x="78401" y="97125"/>
                </a:lnTo>
                <a:cubicBezTo>
                  <a:pt x="80216" y="100246"/>
                  <a:pt x="81362" y="103844"/>
                  <a:pt x="80534" y="107347"/>
                </a:cubicBezTo>
                <a:cubicBezTo>
                  <a:pt x="77095" y="121614"/>
                  <a:pt x="60441" y="132473"/>
                  <a:pt x="40410" y="132473"/>
                </a:cubicBezTo>
                <a:cubicBezTo>
                  <a:pt x="20380" y="132473"/>
                  <a:pt x="3726" y="121645"/>
                  <a:pt x="287" y="1073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1"/>
          <p:cNvSpPr/>
          <p:nvPr/>
        </p:nvSpPr>
        <p:spPr>
          <a:xfrm>
            <a:off x="724636" y="5923899"/>
            <a:ext cx="5190205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Balancing Act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6303" y="6286217"/>
            <a:ext cx="5380422" cy="41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elements sometimes conflict. Strong confidentiality measures may reduce availability. The right balance depends on organizational requirements and risk tolerance.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21750" y="1630431"/>
            <a:ext cx="5606871" cy="1648547"/>
          </a:xfrm>
          <a:custGeom>
            <a:avLst/>
            <a:gdLst/>
            <a:ahLst/>
            <a:cxnLst/>
            <a:rect l="l" t="t" r="r" b="b"/>
            <a:pathLst>
              <a:path w="5606871" h="164854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70"/>
                </a:cubicBezTo>
                <a:lnTo>
                  <a:pt x="5606871" y="1576077"/>
                </a:lnTo>
                <a:cubicBezTo>
                  <a:pt x="5606871" y="1616101"/>
                  <a:pt x="5574425" y="1648547"/>
                  <a:pt x="5534401" y="1648547"/>
                </a:cubicBezTo>
                <a:lnTo>
                  <a:pt x="36232" y="1648547"/>
                </a:lnTo>
                <a:cubicBezTo>
                  <a:pt x="16222" y="1648547"/>
                  <a:pt x="0" y="1632325"/>
                  <a:pt x="0" y="161231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7" name="Shape 14"/>
          <p:cNvSpPr/>
          <p:nvPr/>
        </p:nvSpPr>
        <p:spPr>
          <a:xfrm>
            <a:off x="6221750" y="1630431"/>
            <a:ext cx="36232" cy="1648547"/>
          </a:xfrm>
          <a:custGeom>
            <a:avLst/>
            <a:gdLst/>
            <a:ahLst/>
            <a:cxnLst/>
            <a:rect l="l" t="t" r="r" b="b"/>
            <a:pathLst>
              <a:path w="36232" h="1648547">
                <a:moveTo>
                  <a:pt x="36232" y="0"/>
                </a:moveTo>
                <a:lnTo>
                  <a:pt x="36232" y="0"/>
                </a:lnTo>
                <a:lnTo>
                  <a:pt x="36232" y="1648547"/>
                </a:lnTo>
                <a:lnTo>
                  <a:pt x="36232" y="1648547"/>
                </a:lnTo>
                <a:cubicBezTo>
                  <a:pt x="16222" y="1648547"/>
                  <a:pt x="0" y="1632325"/>
                  <a:pt x="0" y="161231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Shape 15"/>
          <p:cNvSpPr/>
          <p:nvPr/>
        </p:nvSpPr>
        <p:spPr>
          <a:xfrm>
            <a:off x="6384793" y="1775358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6"/>
          <p:cNvSpPr/>
          <p:nvPr/>
        </p:nvSpPr>
        <p:spPr>
          <a:xfrm>
            <a:off x="6522927" y="1902169"/>
            <a:ext cx="158514" cy="181159"/>
          </a:xfrm>
          <a:custGeom>
            <a:avLst/>
            <a:gdLst/>
            <a:ahLst/>
            <a:cxnLst/>
            <a:rect l="l" t="t" r="r" b="b"/>
            <a:pathLst>
              <a:path w="158514" h="181159">
                <a:moveTo>
                  <a:pt x="60504" y="-5661"/>
                </a:moveTo>
                <a:cubicBezTo>
                  <a:pt x="47625" y="-5661"/>
                  <a:pt x="40053" y="14967"/>
                  <a:pt x="36338" y="33967"/>
                </a:cubicBezTo>
                <a:lnTo>
                  <a:pt x="25475" y="33967"/>
                </a:lnTo>
                <a:cubicBezTo>
                  <a:pt x="20770" y="33967"/>
                  <a:pt x="16984" y="37753"/>
                  <a:pt x="16984" y="42459"/>
                </a:cubicBezTo>
                <a:cubicBezTo>
                  <a:pt x="16984" y="47165"/>
                  <a:pt x="20770" y="50951"/>
                  <a:pt x="25475" y="50951"/>
                </a:cubicBezTo>
                <a:lnTo>
                  <a:pt x="33967" y="50951"/>
                </a:lnTo>
                <a:lnTo>
                  <a:pt x="33967" y="62273"/>
                </a:lnTo>
                <a:cubicBezTo>
                  <a:pt x="33967" y="68288"/>
                  <a:pt x="35135" y="74020"/>
                  <a:pt x="37258" y="79257"/>
                </a:cubicBezTo>
                <a:lnTo>
                  <a:pt x="33967" y="79257"/>
                </a:lnTo>
                <a:lnTo>
                  <a:pt x="33967" y="79257"/>
                </a:lnTo>
                <a:lnTo>
                  <a:pt x="26714" y="79257"/>
                </a:lnTo>
                <a:cubicBezTo>
                  <a:pt x="21336" y="79257"/>
                  <a:pt x="16984" y="83609"/>
                  <a:pt x="16984" y="88987"/>
                </a:cubicBezTo>
                <a:cubicBezTo>
                  <a:pt x="16984" y="90049"/>
                  <a:pt x="17161" y="91075"/>
                  <a:pt x="17479" y="92066"/>
                </a:cubicBezTo>
                <a:lnTo>
                  <a:pt x="27705" y="122707"/>
                </a:lnTo>
                <a:cubicBezTo>
                  <a:pt x="14224" y="134312"/>
                  <a:pt x="5661" y="151473"/>
                  <a:pt x="5661" y="170650"/>
                </a:cubicBezTo>
                <a:cubicBezTo>
                  <a:pt x="5661" y="176453"/>
                  <a:pt x="10367" y="181159"/>
                  <a:pt x="16170" y="181159"/>
                </a:cubicBezTo>
                <a:lnTo>
                  <a:pt x="142344" y="181159"/>
                </a:lnTo>
                <a:cubicBezTo>
                  <a:pt x="148147" y="181159"/>
                  <a:pt x="152853" y="176453"/>
                  <a:pt x="152853" y="170650"/>
                </a:cubicBezTo>
                <a:cubicBezTo>
                  <a:pt x="152853" y="151473"/>
                  <a:pt x="144290" y="134312"/>
                  <a:pt x="130810" y="122742"/>
                </a:cubicBezTo>
                <a:lnTo>
                  <a:pt x="141035" y="92101"/>
                </a:lnTo>
                <a:cubicBezTo>
                  <a:pt x="141354" y="91110"/>
                  <a:pt x="141530" y="90084"/>
                  <a:pt x="141530" y="89023"/>
                </a:cubicBezTo>
                <a:cubicBezTo>
                  <a:pt x="141530" y="83645"/>
                  <a:pt x="137178" y="79292"/>
                  <a:pt x="131800" y="79292"/>
                </a:cubicBezTo>
                <a:lnTo>
                  <a:pt x="124547" y="79292"/>
                </a:lnTo>
                <a:lnTo>
                  <a:pt x="124547" y="79292"/>
                </a:lnTo>
                <a:lnTo>
                  <a:pt x="121256" y="79292"/>
                </a:lnTo>
                <a:cubicBezTo>
                  <a:pt x="123379" y="74056"/>
                  <a:pt x="124547" y="68324"/>
                  <a:pt x="124547" y="62309"/>
                </a:cubicBezTo>
                <a:lnTo>
                  <a:pt x="124547" y="50986"/>
                </a:lnTo>
                <a:lnTo>
                  <a:pt x="133039" y="50986"/>
                </a:lnTo>
                <a:cubicBezTo>
                  <a:pt x="137745" y="50986"/>
                  <a:pt x="141530" y="47200"/>
                  <a:pt x="141530" y="42495"/>
                </a:cubicBezTo>
                <a:cubicBezTo>
                  <a:pt x="141530" y="37789"/>
                  <a:pt x="137745" y="34003"/>
                  <a:pt x="133039" y="34003"/>
                </a:cubicBezTo>
                <a:lnTo>
                  <a:pt x="122176" y="34003"/>
                </a:lnTo>
                <a:cubicBezTo>
                  <a:pt x="118496" y="15002"/>
                  <a:pt x="110889" y="-5626"/>
                  <a:pt x="98010" y="-5626"/>
                </a:cubicBezTo>
                <a:cubicBezTo>
                  <a:pt x="94613" y="-5626"/>
                  <a:pt x="91287" y="-4246"/>
                  <a:pt x="88280" y="-2724"/>
                </a:cubicBezTo>
                <a:cubicBezTo>
                  <a:pt x="85378" y="-1274"/>
                  <a:pt x="81769" y="35"/>
                  <a:pt x="79257" y="35"/>
                </a:cubicBezTo>
                <a:cubicBezTo>
                  <a:pt x="76745" y="35"/>
                  <a:pt x="73136" y="-1274"/>
                  <a:pt x="70234" y="-2724"/>
                </a:cubicBezTo>
                <a:cubicBezTo>
                  <a:pt x="67227" y="-4281"/>
                  <a:pt x="63901" y="-5661"/>
                  <a:pt x="60504" y="-5661"/>
                </a:cubicBezTo>
                <a:close/>
                <a:moveTo>
                  <a:pt x="93658" y="165732"/>
                </a:moveTo>
                <a:lnTo>
                  <a:pt x="84883" y="140646"/>
                </a:lnTo>
                <a:lnTo>
                  <a:pt x="94755" y="129147"/>
                </a:lnTo>
                <a:cubicBezTo>
                  <a:pt x="95710" y="128014"/>
                  <a:pt x="96241" y="126599"/>
                  <a:pt x="96241" y="125113"/>
                </a:cubicBezTo>
                <a:cubicBezTo>
                  <a:pt x="96241" y="121681"/>
                  <a:pt x="93481" y="118921"/>
                  <a:pt x="90049" y="118921"/>
                </a:cubicBezTo>
                <a:lnTo>
                  <a:pt x="68465" y="118921"/>
                </a:lnTo>
                <a:cubicBezTo>
                  <a:pt x="65033" y="118921"/>
                  <a:pt x="62273" y="121681"/>
                  <a:pt x="62273" y="125113"/>
                </a:cubicBezTo>
                <a:cubicBezTo>
                  <a:pt x="62273" y="126599"/>
                  <a:pt x="62804" y="128014"/>
                  <a:pt x="63759" y="129147"/>
                </a:cubicBezTo>
                <a:lnTo>
                  <a:pt x="73631" y="140646"/>
                </a:lnTo>
                <a:lnTo>
                  <a:pt x="64856" y="165732"/>
                </a:lnTo>
                <a:lnTo>
                  <a:pt x="44688" y="101902"/>
                </a:lnTo>
                <a:lnTo>
                  <a:pt x="57320" y="101902"/>
                </a:lnTo>
                <a:cubicBezTo>
                  <a:pt x="63830" y="105511"/>
                  <a:pt x="71296" y="107563"/>
                  <a:pt x="79257" y="107563"/>
                </a:cubicBezTo>
                <a:cubicBezTo>
                  <a:pt x="87218" y="107563"/>
                  <a:pt x="94684" y="105511"/>
                  <a:pt x="101194" y="101902"/>
                </a:cubicBezTo>
                <a:lnTo>
                  <a:pt x="113826" y="101902"/>
                </a:lnTo>
                <a:lnTo>
                  <a:pt x="93658" y="165732"/>
                </a:lnTo>
                <a:close/>
                <a:moveTo>
                  <a:pt x="79257" y="90579"/>
                </a:moveTo>
                <a:cubicBezTo>
                  <a:pt x="66979" y="90579"/>
                  <a:pt x="56541" y="82760"/>
                  <a:pt x="52614" y="71827"/>
                </a:cubicBezTo>
                <a:cubicBezTo>
                  <a:pt x="54631" y="72959"/>
                  <a:pt x="56966" y="73596"/>
                  <a:pt x="59443" y="73596"/>
                </a:cubicBezTo>
                <a:lnTo>
                  <a:pt x="63830" y="73596"/>
                </a:lnTo>
                <a:cubicBezTo>
                  <a:pt x="69668" y="73596"/>
                  <a:pt x="74834" y="69845"/>
                  <a:pt x="76674" y="64326"/>
                </a:cubicBezTo>
                <a:cubicBezTo>
                  <a:pt x="77488" y="61849"/>
                  <a:pt x="80991" y="61849"/>
                  <a:pt x="81805" y="64326"/>
                </a:cubicBezTo>
                <a:cubicBezTo>
                  <a:pt x="83645" y="69845"/>
                  <a:pt x="88846" y="73596"/>
                  <a:pt x="94648" y="73596"/>
                </a:cubicBezTo>
                <a:lnTo>
                  <a:pt x="99036" y="73596"/>
                </a:lnTo>
                <a:cubicBezTo>
                  <a:pt x="101513" y="73596"/>
                  <a:pt x="103848" y="72959"/>
                  <a:pt x="105865" y="71827"/>
                </a:cubicBezTo>
                <a:cubicBezTo>
                  <a:pt x="101937" y="82760"/>
                  <a:pt x="91499" y="90579"/>
                  <a:pt x="79222" y="9057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7"/>
          <p:cNvSpPr/>
          <p:nvPr/>
        </p:nvSpPr>
        <p:spPr>
          <a:xfrm>
            <a:off x="6928270" y="1865938"/>
            <a:ext cx="1259055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84793" y="2318835"/>
            <a:ext cx="5362306" cy="41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40000"/>
              </a:lnSpc>
            </a:pPr>
            <a:r>
              <a:rPr lang="en-US" sz="9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Keeping data secret from unauthorized individuals, entities, or processes. Only authorized parties can access sensitive information.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84793" y="2803435"/>
            <a:ext cx="5353248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Controls:</a:t>
            </a:r>
            <a:pPr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Encryption, access controls, authentication, VPNs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84793" y="2984594"/>
            <a:ext cx="5353248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Threats:</a:t>
            </a:r>
            <a:pPr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Unauthorized access, eavesdropping, data breaches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21750" y="3419376"/>
            <a:ext cx="5606871" cy="1648547"/>
          </a:xfrm>
          <a:custGeom>
            <a:avLst/>
            <a:gdLst/>
            <a:ahLst/>
            <a:cxnLst/>
            <a:rect l="l" t="t" r="r" b="b"/>
            <a:pathLst>
              <a:path w="5606871" h="164854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70"/>
                </a:cubicBezTo>
                <a:lnTo>
                  <a:pt x="5606871" y="1576077"/>
                </a:lnTo>
                <a:cubicBezTo>
                  <a:pt x="5606871" y="1616101"/>
                  <a:pt x="5574425" y="1648547"/>
                  <a:pt x="5534401" y="1648547"/>
                </a:cubicBezTo>
                <a:lnTo>
                  <a:pt x="36232" y="1648547"/>
                </a:lnTo>
                <a:cubicBezTo>
                  <a:pt x="16222" y="1648547"/>
                  <a:pt x="0" y="1632325"/>
                  <a:pt x="0" y="161231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6221750" y="3419376"/>
            <a:ext cx="36232" cy="1648547"/>
          </a:xfrm>
          <a:custGeom>
            <a:avLst/>
            <a:gdLst/>
            <a:ahLst/>
            <a:cxnLst/>
            <a:rect l="l" t="t" r="r" b="b"/>
            <a:pathLst>
              <a:path w="36232" h="1648547">
                <a:moveTo>
                  <a:pt x="36232" y="0"/>
                </a:moveTo>
                <a:lnTo>
                  <a:pt x="36232" y="0"/>
                </a:lnTo>
                <a:lnTo>
                  <a:pt x="36232" y="1648547"/>
                </a:lnTo>
                <a:lnTo>
                  <a:pt x="36232" y="1648547"/>
                </a:lnTo>
                <a:cubicBezTo>
                  <a:pt x="16222" y="1648547"/>
                  <a:pt x="0" y="1632325"/>
                  <a:pt x="0" y="161231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3"/>
          <p:cNvSpPr/>
          <p:nvPr/>
        </p:nvSpPr>
        <p:spPr>
          <a:xfrm>
            <a:off x="6384793" y="3564303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Shape 24"/>
          <p:cNvSpPr/>
          <p:nvPr/>
        </p:nvSpPr>
        <p:spPr>
          <a:xfrm>
            <a:off x="6511604" y="3691114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90579" y="181159"/>
                </a:moveTo>
                <a:cubicBezTo>
                  <a:pt x="140572" y="181159"/>
                  <a:pt x="181159" y="140572"/>
                  <a:pt x="181159" y="90579"/>
                </a:cubicBezTo>
                <a:cubicBezTo>
                  <a:pt x="181159" y="40587"/>
                  <a:pt x="140572" y="0"/>
                  <a:pt x="90579" y="0"/>
                </a:cubicBezTo>
                <a:cubicBezTo>
                  <a:pt x="40587" y="0"/>
                  <a:pt x="0" y="40587"/>
                  <a:pt x="0" y="90579"/>
                </a:cubicBezTo>
                <a:cubicBezTo>
                  <a:pt x="0" y="140572"/>
                  <a:pt x="40587" y="181159"/>
                  <a:pt x="90579" y="181159"/>
                </a:cubicBezTo>
                <a:close/>
                <a:moveTo>
                  <a:pt x="120442" y="75259"/>
                </a:moveTo>
                <a:lnTo>
                  <a:pt x="92136" y="120549"/>
                </a:lnTo>
                <a:cubicBezTo>
                  <a:pt x="90650" y="122919"/>
                  <a:pt x="88103" y="124405"/>
                  <a:pt x="85307" y="124547"/>
                </a:cubicBezTo>
                <a:cubicBezTo>
                  <a:pt x="82512" y="124688"/>
                  <a:pt x="79823" y="123415"/>
                  <a:pt x="78160" y="121150"/>
                </a:cubicBezTo>
                <a:lnTo>
                  <a:pt x="61177" y="98505"/>
                </a:lnTo>
                <a:cubicBezTo>
                  <a:pt x="58346" y="94755"/>
                  <a:pt x="59124" y="89447"/>
                  <a:pt x="62875" y="86617"/>
                </a:cubicBezTo>
                <a:cubicBezTo>
                  <a:pt x="66625" y="83786"/>
                  <a:pt x="71933" y="84564"/>
                  <a:pt x="74763" y="88315"/>
                </a:cubicBezTo>
                <a:lnTo>
                  <a:pt x="84317" y="101053"/>
                </a:lnTo>
                <a:lnTo>
                  <a:pt x="106042" y="66272"/>
                </a:lnTo>
                <a:cubicBezTo>
                  <a:pt x="108518" y="62309"/>
                  <a:pt x="113755" y="61070"/>
                  <a:pt x="117753" y="63583"/>
                </a:cubicBezTo>
                <a:cubicBezTo>
                  <a:pt x="121752" y="66095"/>
                  <a:pt x="122955" y="71296"/>
                  <a:pt x="120442" y="7529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5"/>
          <p:cNvSpPr/>
          <p:nvPr/>
        </p:nvSpPr>
        <p:spPr>
          <a:xfrm>
            <a:off x="6928270" y="3654883"/>
            <a:ext cx="760868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84793" y="4107780"/>
            <a:ext cx="5362306" cy="41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40000"/>
              </a:lnSpc>
            </a:pPr>
            <a:r>
              <a:rPr lang="en-US" sz="9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Ensuring data accuracy, consistency, and trustworthiness throughout its lifecycle. Data cannot be altered undetected.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84793" y="4592380"/>
            <a:ext cx="5353248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Controls:</a:t>
            </a:r>
            <a:pPr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Hashing, digital signatures, version control, audit logs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84793" y="4773539"/>
            <a:ext cx="5353248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Threats:</a:t>
            </a:r>
            <a:pPr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tampering, corruption, man-in-the-middle attacks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21750" y="5208321"/>
            <a:ext cx="5606871" cy="1648547"/>
          </a:xfrm>
          <a:custGeom>
            <a:avLst/>
            <a:gdLst/>
            <a:ahLst/>
            <a:cxnLst/>
            <a:rect l="l" t="t" r="r" b="b"/>
            <a:pathLst>
              <a:path w="5606871" h="164854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70"/>
                </a:cubicBezTo>
                <a:lnTo>
                  <a:pt x="5606871" y="1576077"/>
                </a:lnTo>
                <a:cubicBezTo>
                  <a:pt x="5606871" y="1616101"/>
                  <a:pt x="5574425" y="1648547"/>
                  <a:pt x="5534401" y="1648547"/>
                </a:cubicBezTo>
                <a:lnTo>
                  <a:pt x="36232" y="1648547"/>
                </a:lnTo>
                <a:cubicBezTo>
                  <a:pt x="16222" y="1648547"/>
                  <a:pt x="0" y="1632325"/>
                  <a:pt x="0" y="161231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3" name="Shape 30"/>
          <p:cNvSpPr/>
          <p:nvPr/>
        </p:nvSpPr>
        <p:spPr>
          <a:xfrm>
            <a:off x="6221750" y="5208321"/>
            <a:ext cx="36232" cy="1648547"/>
          </a:xfrm>
          <a:custGeom>
            <a:avLst/>
            <a:gdLst/>
            <a:ahLst/>
            <a:cxnLst/>
            <a:rect l="l" t="t" r="r" b="b"/>
            <a:pathLst>
              <a:path w="36232" h="1648547">
                <a:moveTo>
                  <a:pt x="36232" y="0"/>
                </a:moveTo>
                <a:lnTo>
                  <a:pt x="36232" y="0"/>
                </a:lnTo>
                <a:lnTo>
                  <a:pt x="36232" y="1648547"/>
                </a:lnTo>
                <a:lnTo>
                  <a:pt x="36232" y="1648547"/>
                </a:lnTo>
                <a:cubicBezTo>
                  <a:pt x="16222" y="1648547"/>
                  <a:pt x="0" y="1632325"/>
                  <a:pt x="0" y="161231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4" name="Shape 31"/>
          <p:cNvSpPr/>
          <p:nvPr/>
        </p:nvSpPr>
        <p:spPr>
          <a:xfrm>
            <a:off x="6393851" y="5362306"/>
            <a:ext cx="416666" cy="416666"/>
          </a:xfrm>
          <a:custGeom>
            <a:avLst/>
            <a:gdLst/>
            <a:ahLst/>
            <a:cxnLst/>
            <a:rect l="l" t="t" r="r" b="b"/>
            <a:pathLst>
              <a:path w="416666" h="416666">
                <a:moveTo>
                  <a:pt x="208333" y="0"/>
                </a:moveTo>
                <a:lnTo>
                  <a:pt x="208333" y="0"/>
                </a:lnTo>
                <a:cubicBezTo>
                  <a:pt x="323315" y="0"/>
                  <a:pt x="416666" y="93351"/>
                  <a:pt x="416666" y="208333"/>
                </a:cubicBezTo>
                <a:lnTo>
                  <a:pt x="416666" y="208333"/>
                </a:lnTo>
                <a:cubicBezTo>
                  <a:pt x="416666" y="323315"/>
                  <a:pt x="323315" y="416666"/>
                  <a:pt x="208333" y="416666"/>
                </a:cubicBezTo>
                <a:lnTo>
                  <a:pt x="208333" y="416666"/>
                </a:lnTo>
                <a:cubicBezTo>
                  <a:pt x="93351" y="416666"/>
                  <a:pt x="0" y="323315"/>
                  <a:pt x="0" y="208333"/>
                </a:cubicBezTo>
                <a:lnTo>
                  <a:pt x="0" y="208333"/>
                </a:lnTo>
                <a:cubicBezTo>
                  <a:pt x="0" y="93351"/>
                  <a:pt x="93351" y="0"/>
                  <a:pt x="208333" y="0"/>
                </a:cubicBezTo>
                <a:close/>
              </a:path>
            </a:pathLst>
          </a:custGeom>
          <a:solidFill>
            <a:srgbClr val="4A5C6A"/>
          </a:solidFill>
          <a:ln w="25400">
            <a:solidFill>
              <a:srgbClr val="EDF2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22927" y="5480059"/>
            <a:ext cx="158514" cy="181159"/>
          </a:xfrm>
          <a:custGeom>
            <a:avLst/>
            <a:gdLst/>
            <a:ahLst/>
            <a:cxnLst/>
            <a:rect l="l" t="t" r="r" b="b"/>
            <a:pathLst>
              <a:path w="158514" h="181159">
                <a:moveTo>
                  <a:pt x="22645" y="11322"/>
                </a:moveTo>
                <a:cubicBezTo>
                  <a:pt x="10155" y="11322"/>
                  <a:pt x="0" y="21477"/>
                  <a:pt x="0" y="33967"/>
                </a:cubicBezTo>
                <a:lnTo>
                  <a:pt x="0" y="56612"/>
                </a:lnTo>
                <a:cubicBezTo>
                  <a:pt x="0" y="69102"/>
                  <a:pt x="10155" y="79257"/>
                  <a:pt x="22645" y="79257"/>
                </a:cubicBezTo>
                <a:lnTo>
                  <a:pt x="135869" y="79257"/>
                </a:lnTo>
                <a:cubicBezTo>
                  <a:pt x="148359" y="79257"/>
                  <a:pt x="158514" y="69102"/>
                  <a:pt x="158514" y="56612"/>
                </a:cubicBezTo>
                <a:lnTo>
                  <a:pt x="158514" y="33967"/>
                </a:lnTo>
                <a:cubicBezTo>
                  <a:pt x="158514" y="21477"/>
                  <a:pt x="148359" y="11322"/>
                  <a:pt x="135869" y="11322"/>
                </a:cubicBezTo>
                <a:lnTo>
                  <a:pt x="22645" y="11322"/>
                </a:lnTo>
                <a:close/>
                <a:moveTo>
                  <a:pt x="99071" y="36798"/>
                </a:moveTo>
                <a:cubicBezTo>
                  <a:pt x="103758" y="36798"/>
                  <a:pt x="107563" y="40603"/>
                  <a:pt x="107563" y="45290"/>
                </a:cubicBezTo>
                <a:cubicBezTo>
                  <a:pt x="107563" y="49977"/>
                  <a:pt x="103758" y="53782"/>
                  <a:pt x="99071" y="53782"/>
                </a:cubicBezTo>
                <a:cubicBezTo>
                  <a:pt x="94385" y="53782"/>
                  <a:pt x="90579" y="49977"/>
                  <a:pt x="90579" y="45290"/>
                </a:cubicBezTo>
                <a:cubicBezTo>
                  <a:pt x="90579" y="40603"/>
                  <a:pt x="94385" y="36798"/>
                  <a:pt x="99071" y="36798"/>
                </a:cubicBezTo>
                <a:close/>
                <a:moveTo>
                  <a:pt x="118886" y="45290"/>
                </a:moveTo>
                <a:cubicBezTo>
                  <a:pt x="118886" y="40603"/>
                  <a:pt x="122691" y="36798"/>
                  <a:pt x="127377" y="36798"/>
                </a:cubicBezTo>
                <a:cubicBezTo>
                  <a:pt x="132064" y="36798"/>
                  <a:pt x="135869" y="40603"/>
                  <a:pt x="135869" y="45290"/>
                </a:cubicBezTo>
                <a:cubicBezTo>
                  <a:pt x="135869" y="49977"/>
                  <a:pt x="132064" y="53782"/>
                  <a:pt x="127377" y="53782"/>
                </a:cubicBezTo>
                <a:cubicBezTo>
                  <a:pt x="122691" y="53782"/>
                  <a:pt x="118886" y="49977"/>
                  <a:pt x="118886" y="45290"/>
                </a:cubicBezTo>
                <a:close/>
                <a:moveTo>
                  <a:pt x="22645" y="101902"/>
                </a:moveTo>
                <a:cubicBezTo>
                  <a:pt x="10155" y="101902"/>
                  <a:pt x="0" y="112057"/>
                  <a:pt x="0" y="124547"/>
                </a:cubicBezTo>
                <a:lnTo>
                  <a:pt x="0" y="147192"/>
                </a:lnTo>
                <a:cubicBezTo>
                  <a:pt x="0" y="159682"/>
                  <a:pt x="10155" y="169837"/>
                  <a:pt x="22645" y="169837"/>
                </a:cubicBezTo>
                <a:lnTo>
                  <a:pt x="135869" y="169837"/>
                </a:lnTo>
                <a:cubicBezTo>
                  <a:pt x="148359" y="169837"/>
                  <a:pt x="158514" y="159682"/>
                  <a:pt x="158514" y="147192"/>
                </a:cubicBezTo>
                <a:lnTo>
                  <a:pt x="158514" y="124547"/>
                </a:lnTo>
                <a:cubicBezTo>
                  <a:pt x="158514" y="112057"/>
                  <a:pt x="148359" y="101902"/>
                  <a:pt x="135869" y="101902"/>
                </a:cubicBezTo>
                <a:lnTo>
                  <a:pt x="22645" y="101902"/>
                </a:lnTo>
                <a:close/>
                <a:moveTo>
                  <a:pt x="99071" y="127377"/>
                </a:moveTo>
                <a:cubicBezTo>
                  <a:pt x="103758" y="127377"/>
                  <a:pt x="107563" y="131182"/>
                  <a:pt x="107563" y="135869"/>
                </a:cubicBezTo>
                <a:cubicBezTo>
                  <a:pt x="107563" y="140556"/>
                  <a:pt x="103758" y="144361"/>
                  <a:pt x="99071" y="144361"/>
                </a:cubicBezTo>
                <a:cubicBezTo>
                  <a:pt x="94385" y="144361"/>
                  <a:pt x="90579" y="140556"/>
                  <a:pt x="90579" y="135869"/>
                </a:cubicBezTo>
                <a:cubicBezTo>
                  <a:pt x="90579" y="131182"/>
                  <a:pt x="94385" y="127377"/>
                  <a:pt x="99071" y="127377"/>
                </a:cubicBezTo>
                <a:close/>
                <a:moveTo>
                  <a:pt x="118886" y="135869"/>
                </a:moveTo>
                <a:cubicBezTo>
                  <a:pt x="118886" y="131182"/>
                  <a:pt x="122691" y="127377"/>
                  <a:pt x="127377" y="127377"/>
                </a:cubicBezTo>
                <a:cubicBezTo>
                  <a:pt x="132064" y="127377"/>
                  <a:pt x="135869" y="131182"/>
                  <a:pt x="135869" y="135869"/>
                </a:cubicBezTo>
                <a:cubicBezTo>
                  <a:pt x="135869" y="140556"/>
                  <a:pt x="132064" y="144361"/>
                  <a:pt x="127377" y="144361"/>
                </a:cubicBezTo>
                <a:cubicBezTo>
                  <a:pt x="122691" y="144361"/>
                  <a:pt x="118886" y="140556"/>
                  <a:pt x="118886" y="135869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36" name="Text 33"/>
          <p:cNvSpPr/>
          <p:nvPr/>
        </p:nvSpPr>
        <p:spPr>
          <a:xfrm>
            <a:off x="6928270" y="5443828"/>
            <a:ext cx="960143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84793" y="5896725"/>
            <a:ext cx="5362306" cy="41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40000"/>
              </a:lnSpc>
            </a:pPr>
            <a:r>
              <a:rPr lang="en-US" sz="9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Ensuring systems and data are accessible and usable when needed by authorized users. No value if data is inaccessible.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384793" y="6381325"/>
            <a:ext cx="5353248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Controls:</a:t>
            </a:r>
            <a:pPr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Redundancy, backups, disaster recovery, DDoS protection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84793" y="6562484"/>
            <a:ext cx="5353248" cy="1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Threats:</a:t>
            </a:r>
            <a:pPr>
              <a:lnSpc>
                <a:spcPct val="110000"/>
              </a:lnSpc>
            </a:pPr>
            <a:r>
              <a:rPr lang="en-US" sz="8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DDoS attacks, hardware failures, ransomware, disasters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spc="99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MECHANISMS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Controls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0977" y="1046833"/>
            <a:ext cx="1155126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taxonomy of safeguards and countermeasures protecting organizational assets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977" y="1407811"/>
            <a:ext cx="866345" cy="36098"/>
          </a:xfrm>
          <a:custGeom>
            <a:avLst/>
            <a:gdLst/>
            <a:ahLst/>
            <a:cxnLst/>
            <a:rect l="l" t="t" r="r" b="b"/>
            <a:pathLst>
              <a:path w="866345" h="36098">
                <a:moveTo>
                  <a:pt x="0" y="0"/>
                </a:moveTo>
                <a:lnTo>
                  <a:pt x="866345" y="0"/>
                </a:lnTo>
                <a:lnTo>
                  <a:pt x="86634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489" y="1592811"/>
            <a:ext cx="11461021" cy="1669519"/>
          </a:xfrm>
          <a:custGeom>
            <a:avLst/>
            <a:gdLst/>
            <a:ahLst/>
            <a:cxnLst/>
            <a:rect l="l" t="t" r="r" b="b"/>
            <a:pathLst>
              <a:path w="11461021" h="1669519">
                <a:moveTo>
                  <a:pt x="72190" y="0"/>
                </a:moveTo>
                <a:lnTo>
                  <a:pt x="11388831" y="0"/>
                </a:lnTo>
                <a:cubicBezTo>
                  <a:pt x="11428701" y="0"/>
                  <a:pt x="11461021" y="32321"/>
                  <a:pt x="11461021" y="72190"/>
                </a:cubicBezTo>
                <a:lnTo>
                  <a:pt x="11461021" y="1597329"/>
                </a:lnTo>
                <a:cubicBezTo>
                  <a:pt x="11461021" y="1637198"/>
                  <a:pt x="11428701" y="1669519"/>
                  <a:pt x="11388831" y="1669519"/>
                </a:cubicBezTo>
                <a:lnTo>
                  <a:pt x="72190" y="1669519"/>
                </a:lnTo>
                <a:cubicBezTo>
                  <a:pt x="32347" y="1669519"/>
                  <a:pt x="0" y="1637172"/>
                  <a:pt x="0" y="1597329"/>
                </a:cubicBezTo>
                <a:lnTo>
                  <a:pt x="0" y="72190"/>
                </a:lnTo>
                <a:cubicBezTo>
                  <a:pt x="0" y="32347"/>
                  <a:pt x="32347" y="0"/>
                  <a:pt x="721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106" y="1786836"/>
            <a:ext cx="142135" cy="162440"/>
          </a:xfrm>
          <a:custGeom>
            <a:avLst/>
            <a:gdLst/>
            <a:ahLst/>
            <a:cxnLst/>
            <a:rect l="l" t="t" r="r" b="b"/>
            <a:pathLst>
              <a:path w="142135" h="162440">
                <a:moveTo>
                  <a:pt x="121830" y="30457"/>
                </a:moveTo>
                <a:lnTo>
                  <a:pt x="121830" y="50762"/>
                </a:lnTo>
                <a:lnTo>
                  <a:pt x="101525" y="50762"/>
                </a:lnTo>
                <a:lnTo>
                  <a:pt x="101525" y="30457"/>
                </a:lnTo>
                <a:lnTo>
                  <a:pt x="121830" y="30457"/>
                </a:lnTo>
                <a:close/>
                <a:moveTo>
                  <a:pt x="121830" y="71067"/>
                </a:moveTo>
                <a:lnTo>
                  <a:pt x="121830" y="91372"/>
                </a:lnTo>
                <a:lnTo>
                  <a:pt x="101525" y="91372"/>
                </a:lnTo>
                <a:lnTo>
                  <a:pt x="101525" y="71067"/>
                </a:lnTo>
                <a:lnTo>
                  <a:pt x="121830" y="71067"/>
                </a:lnTo>
                <a:close/>
                <a:moveTo>
                  <a:pt x="121830" y="111677"/>
                </a:moveTo>
                <a:lnTo>
                  <a:pt x="121830" y="131982"/>
                </a:lnTo>
                <a:lnTo>
                  <a:pt x="101525" y="131982"/>
                </a:lnTo>
                <a:lnTo>
                  <a:pt x="101525" y="111677"/>
                </a:lnTo>
                <a:lnTo>
                  <a:pt x="121830" y="111677"/>
                </a:lnTo>
                <a:close/>
                <a:moveTo>
                  <a:pt x="81220" y="91372"/>
                </a:moveTo>
                <a:lnTo>
                  <a:pt x="60915" y="91372"/>
                </a:lnTo>
                <a:lnTo>
                  <a:pt x="60915" y="71067"/>
                </a:lnTo>
                <a:lnTo>
                  <a:pt x="81220" y="71067"/>
                </a:lnTo>
                <a:lnTo>
                  <a:pt x="81220" y="91372"/>
                </a:lnTo>
                <a:close/>
                <a:moveTo>
                  <a:pt x="60915" y="111677"/>
                </a:moveTo>
                <a:lnTo>
                  <a:pt x="81220" y="111677"/>
                </a:lnTo>
                <a:lnTo>
                  <a:pt x="81220" y="131982"/>
                </a:lnTo>
                <a:lnTo>
                  <a:pt x="60915" y="131982"/>
                </a:lnTo>
                <a:lnTo>
                  <a:pt x="60915" y="111677"/>
                </a:lnTo>
                <a:close/>
                <a:moveTo>
                  <a:pt x="40610" y="91372"/>
                </a:moveTo>
                <a:lnTo>
                  <a:pt x="20305" y="91372"/>
                </a:lnTo>
                <a:lnTo>
                  <a:pt x="20305" y="71067"/>
                </a:lnTo>
                <a:lnTo>
                  <a:pt x="40610" y="71067"/>
                </a:lnTo>
                <a:lnTo>
                  <a:pt x="40610" y="91372"/>
                </a:lnTo>
                <a:close/>
                <a:moveTo>
                  <a:pt x="20305" y="111677"/>
                </a:moveTo>
                <a:lnTo>
                  <a:pt x="40610" y="111677"/>
                </a:lnTo>
                <a:lnTo>
                  <a:pt x="40610" y="131982"/>
                </a:lnTo>
                <a:lnTo>
                  <a:pt x="20305" y="131982"/>
                </a:lnTo>
                <a:lnTo>
                  <a:pt x="20305" y="111677"/>
                </a:lnTo>
                <a:close/>
                <a:moveTo>
                  <a:pt x="20305" y="50762"/>
                </a:moveTo>
                <a:lnTo>
                  <a:pt x="20305" y="30457"/>
                </a:lnTo>
                <a:lnTo>
                  <a:pt x="40610" y="30457"/>
                </a:lnTo>
                <a:lnTo>
                  <a:pt x="40610" y="50762"/>
                </a:lnTo>
                <a:lnTo>
                  <a:pt x="20305" y="50762"/>
                </a:lnTo>
                <a:close/>
                <a:moveTo>
                  <a:pt x="60915" y="50762"/>
                </a:moveTo>
                <a:lnTo>
                  <a:pt x="60915" y="30457"/>
                </a:lnTo>
                <a:lnTo>
                  <a:pt x="81220" y="30457"/>
                </a:lnTo>
                <a:lnTo>
                  <a:pt x="81220" y="50762"/>
                </a:lnTo>
                <a:lnTo>
                  <a:pt x="60915" y="50762"/>
                </a:lnTo>
                <a:close/>
                <a:moveTo>
                  <a:pt x="20305" y="10152"/>
                </a:moveTo>
                <a:cubicBezTo>
                  <a:pt x="9106" y="10152"/>
                  <a:pt x="0" y="19258"/>
                  <a:pt x="0" y="30457"/>
                </a:cubicBezTo>
                <a:lnTo>
                  <a:pt x="0" y="131982"/>
                </a:lnTo>
                <a:cubicBezTo>
                  <a:pt x="0" y="143182"/>
                  <a:pt x="9106" y="152287"/>
                  <a:pt x="20305" y="152287"/>
                </a:cubicBezTo>
                <a:lnTo>
                  <a:pt x="121830" y="152287"/>
                </a:lnTo>
                <a:cubicBezTo>
                  <a:pt x="133029" y="152287"/>
                  <a:pt x="142135" y="143182"/>
                  <a:pt x="142135" y="131982"/>
                </a:cubicBezTo>
                <a:lnTo>
                  <a:pt x="142135" y="30457"/>
                </a:lnTo>
                <a:cubicBezTo>
                  <a:pt x="142135" y="19258"/>
                  <a:pt x="133029" y="10152"/>
                  <a:pt x="121830" y="10152"/>
                </a:cubicBezTo>
                <a:lnTo>
                  <a:pt x="20305" y="1015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21954" y="1741714"/>
            <a:ext cx="1103687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Categories of Controls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417" y="2102691"/>
            <a:ext cx="3618795" cy="1010736"/>
          </a:xfrm>
          <a:custGeom>
            <a:avLst/>
            <a:gdLst/>
            <a:ahLst/>
            <a:cxnLst/>
            <a:rect l="l" t="t" r="r" b="b"/>
            <a:pathLst>
              <a:path w="3618795" h="1010736">
                <a:moveTo>
                  <a:pt x="18049" y="0"/>
                </a:moveTo>
                <a:lnTo>
                  <a:pt x="3582702" y="0"/>
                </a:lnTo>
                <a:cubicBezTo>
                  <a:pt x="3602635" y="0"/>
                  <a:pt x="3618795" y="16160"/>
                  <a:pt x="3618795" y="36093"/>
                </a:cubicBezTo>
                <a:lnTo>
                  <a:pt x="3618795" y="974642"/>
                </a:lnTo>
                <a:cubicBezTo>
                  <a:pt x="3618795" y="994576"/>
                  <a:pt x="3602635" y="1010736"/>
                  <a:pt x="3582702" y="1010736"/>
                </a:cubicBezTo>
                <a:lnTo>
                  <a:pt x="18049" y="1010736"/>
                </a:lnTo>
                <a:cubicBezTo>
                  <a:pt x="8081" y="1010736"/>
                  <a:pt x="0" y="1002655"/>
                  <a:pt x="0" y="992687"/>
                </a:cubicBezTo>
                <a:lnTo>
                  <a:pt x="0" y="18049"/>
                </a:lnTo>
                <a:cubicBezTo>
                  <a:pt x="0" y="8087"/>
                  <a:pt x="8087" y="0"/>
                  <a:pt x="180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417" y="2102691"/>
            <a:ext cx="18049" cy="1010736"/>
          </a:xfrm>
          <a:custGeom>
            <a:avLst/>
            <a:gdLst/>
            <a:ahLst/>
            <a:cxnLst/>
            <a:rect l="l" t="t" r="r" b="b"/>
            <a:pathLst>
              <a:path w="18049" h="1010736">
                <a:moveTo>
                  <a:pt x="18049" y="0"/>
                </a:moveTo>
                <a:lnTo>
                  <a:pt x="18049" y="0"/>
                </a:lnTo>
                <a:lnTo>
                  <a:pt x="18049" y="1010736"/>
                </a:lnTo>
                <a:lnTo>
                  <a:pt x="18049" y="1010736"/>
                </a:lnTo>
                <a:cubicBezTo>
                  <a:pt x="8081" y="1010736"/>
                  <a:pt x="0" y="1002655"/>
                  <a:pt x="0" y="992687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Shape 9"/>
          <p:cNvSpPr/>
          <p:nvPr/>
        </p:nvSpPr>
        <p:spPr>
          <a:xfrm>
            <a:off x="676832" y="2229033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0" y="18049"/>
                </a:moveTo>
                <a:cubicBezTo>
                  <a:pt x="0" y="8094"/>
                  <a:pt x="8094" y="0"/>
                  <a:pt x="18049" y="0"/>
                </a:cubicBezTo>
                <a:lnTo>
                  <a:pt x="60210" y="0"/>
                </a:lnTo>
                <a:cubicBezTo>
                  <a:pt x="65004" y="0"/>
                  <a:pt x="69601" y="1889"/>
                  <a:pt x="72985" y="5274"/>
                </a:cubicBezTo>
                <a:lnTo>
                  <a:pt x="103019" y="35336"/>
                </a:lnTo>
                <a:cubicBezTo>
                  <a:pt x="106404" y="38720"/>
                  <a:pt x="108293" y="43317"/>
                  <a:pt x="108293" y="48111"/>
                </a:cubicBezTo>
                <a:lnTo>
                  <a:pt x="108293" y="126342"/>
                </a:lnTo>
                <a:cubicBezTo>
                  <a:pt x="108293" y="136297"/>
                  <a:pt x="100199" y="144391"/>
                  <a:pt x="90244" y="144391"/>
                </a:cubicBezTo>
                <a:lnTo>
                  <a:pt x="18049" y="144391"/>
                </a:lnTo>
                <a:cubicBezTo>
                  <a:pt x="8094" y="144391"/>
                  <a:pt x="0" y="136297"/>
                  <a:pt x="0" y="126342"/>
                </a:cubicBezTo>
                <a:lnTo>
                  <a:pt x="0" y="18049"/>
                </a:lnTo>
                <a:close/>
                <a:moveTo>
                  <a:pt x="58659" y="16498"/>
                </a:moveTo>
                <a:lnTo>
                  <a:pt x="58659" y="42866"/>
                </a:lnTo>
                <a:cubicBezTo>
                  <a:pt x="58659" y="46617"/>
                  <a:pt x="61676" y="49634"/>
                  <a:pt x="65427" y="49634"/>
                </a:cubicBezTo>
                <a:lnTo>
                  <a:pt x="91795" y="49634"/>
                </a:lnTo>
                <a:lnTo>
                  <a:pt x="58659" y="16498"/>
                </a:lnTo>
                <a:close/>
                <a:moveTo>
                  <a:pt x="24817" y="18049"/>
                </a:moveTo>
                <a:cubicBezTo>
                  <a:pt x="21066" y="18049"/>
                  <a:pt x="18049" y="21066"/>
                  <a:pt x="18049" y="24817"/>
                </a:cubicBezTo>
                <a:cubicBezTo>
                  <a:pt x="18049" y="28568"/>
                  <a:pt x="21066" y="31585"/>
                  <a:pt x="24817" y="31585"/>
                </a:cubicBezTo>
                <a:lnTo>
                  <a:pt x="38354" y="31585"/>
                </a:lnTo>
                <a:cubicBezTo>
                  <a:pt x="42105" y="31585"/>
                  <a:pt x="45122" y="28568"/>
                  <a:pt x="45122" y="24817"/>
                </a:cubicBezTo>
                <a:cubicBezTo>
                  <a:pt x="45122" y="21066"/>
                  <a:pt x="42105" y="18049"/>
                  <a:pt x="38354" y="18049"/>
                </a:cubicBezTo>
                <a:lnTo>
                  <a:pt x="24817" y="18049"/>
                </a:lnTo>
                <a:close/>
                <a:moveTo>
                  <a:pt x="24817" y="45122"/>
                </a:moveTo>
                <a:cubicBezTo>
                  <a:pt x="21066" y="45122"/>
                  <a:pt x="18049" y="48140"/>
                  <a:pt x="18049" y="51890"/>
                </a:cubicBezTo>
                <a:cubicBezTo>
                  <a:pt x="18049" y="55641"/>
                  <a:pt x="21066" y="58659"/>
                  <a:pt x="24817" y="58659"/>
                </a:cubicBezTo>
                <a:lnTo>
                  <a:pt x="38354" y="58659"/>
                </a:lnTo>
                <a:cubicBezTo>
                  <a:pt x="42105" y="58659"/>
                  <a:pt x="45122" y="55641"/>
                  <a:pt x="45122" y="51890"/>
                </a:cubicBezTo>
                <a:cubicBezTo>
                  <a:pt x="45122" y="48140"/>
                  <a:pt x="42105" y="45122"/>
                  <a:pt x="38354" y="45122"/>
                </a:cubicBezTo>
                <a:lnTo>
                  <a:pt x="24817" y="45122"/>
                </a:lnTo>
                <a:close/>
                <a:moveTo>
                  <a:pt x="44643" y="90244"/>
                </a:moveTo>
                <a:cubicBezTo>
                  <a:pt x="41456" y="90244"/>
                  <a:pt x="38467" y="91683"/>
                  <a:pt x="36493" y="94164"/>
                </a:cubicBezTo>
                <a:lnTo>
                  <a:pt x="19544" y="115343"/>
                </a:lnTo>
                <a:cubicBezTo>
                  <a:pt x="17203" y="118248"/>
                  <a:pt x="17682" y="122535"/>
                  <a:pt x="20587" y="124847"/>
                </a:cubicBezTo>
                <a:cubicBezTo>
                  <a:pt x="23492" y="127160"/>
                  <a:pt x="27778" y="126709"/>
                  <a:pt x="30091" y="123776"/>
                </a:cubicBezTo>
                <a:lnTo>
                  <a:pt x="43374" y="107193"/>
                </a:lnTo>
                <a:lnTo>
                  <a:pt x="47660" y="121491"/>
                </a:lnTo>
                <a:cubicBezTo>
                  <a:pt x="48506" y="124368"/>
                  <a:pt x="51157" y="126314"/>
                  <a:pt x="54147" y="126314"/>
                </a:cubicBezTo>
                <a:lnTo>
                  <a:pt x="83476" y="126314"/>
                </a:lnTo>
                <a:cubicBezTo>
                  <a:pt x="87227" y="126314"/>
                  <a:pt x="90244" y="123296"/>
                  <a:pt x="90244" y="119545"/>
                </a:cubicBezTo>
                <a:cubicBezTo>
                  <a:pt x="90244" y="115795"/>
                  <a:pt x="87227" y="112777"/>
                  <a:pt x="83476" y="112777"/>
                </a:cubicBezTo>
                <a:lnTo>
                  <a:pt x="59195" y="112777"/>
                </a:lnTo>
                <a:lnTo>
                  <a:pt x="54654" y="97661"/>
                </a:lnTo>
                <a:cubicBezTo>
                  <a:pt x="53329" y="93234"/>
                  <a:pt x="49268" y="90216"/>
                  <a:pt x="44643" y="9021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93418" y="2210984"/>
            <a:ext cx="85732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734" y="2463668"/>
            <a:ext cx="344733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Policies, procedures, and guidelines that define security practices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734" y="2711840"/>
            <a:ext cx="3447331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Security policies, training, background checks, incident response plans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2948" y="2102691"/>
            <a:ext cx="3618795" cy="1010736"/>
          </a:xfrm>
          <a:custGeom>
            <a:avLst/>
            <a:gdLst/>
            <a:ahLst/>
            <a:cxnLst/>
            <a:rect l="l" t="t" r="r" b="b"/>
            <a:pathLst>
              <a:path w="3618795" h="1010736">
                <a:moveTo>
                  <a:pt x="18049" y="0"/>
                </a:moveTo>
                <a:lnTo>
                  <a:pt x="3582702" y="0"/>
                </a:lnTo>
                <a:cubicBezTo>
                  <a:pt x="3602635" y="0"/>
                  <a:pt x="3618795" y="16160"/>
                  <a:pt x="3618795" y="36093"/>
                </a:cubicBezTo>
                <a:lnTo>
                  <a:pt x="3618795" y="974642"/>
                </a:lnTo>
                <a:cubicBezTo>
                  <a:pt x="3618795" y="994576"/>
                  <a:pt x="3602635" y="1010736"/>
                  <a:pt x="3582702" y="1010736"/>
                </a:cubicBezTo>
                <a:lnTo>
                  <a:pt x="18049" y="1010736"/>
                </a:lnTo>
                <a:cubicBezTo>
                  <a:pt x="8081" y="1010736"/>
                  <a:pt x="0" y="1002655"/>
                  <a:pt x="0" y="992687"/>
                </a:cubicBezTo>
                <a:lnTo>
                  <a:pt x="0" y="18049"/>
                </a:lnTo>
                <a:cubicBezTo>
                  <a:pt x="0" y="8087"/>
                  <a:pt x="8087" y="0"/>
                  <a:pt x="180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92948" y="2102691"/>
            <a:ext cx="18049" cy="1010736"/>
          </a:xfrm>
          <a:custGeom>
            <a:avLst/>
            <a:gdLst/>
            <a:ahLst/>
            <a:cxnLst/>
            <a:rect l="l" t="t" r="r" b="b"/>
            <a:pathLst>
              <a:path w="18049" h="1010736">
                <a:moveTo>
                  <a:pt x="18049" y="0"/>
                </a:moveTo>
                <a:lnTo>
                  <a:pt x="18049" y="0"/>
                </a:lnTo>
                <a:lnTo>
                  <a:pt x="18049" y="1010736"/>
                </a:lnTo>
                <a:lnTo>
                  <a:pt x="18049" y="1010736"/>
                </a:lnTo>
                <a:cubicBezTo>
                  <a:pt x="8081" y="1010736"/>
                  <a:pt x="0" y="1002655"/>
                  <a:pt x="0" y="992687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0265" y="2229033"/>
            <a:ext cx="180489" cy="144391"/>
          </a:xfrm>
          <a:custGeom>
            <a:avLst/>
            <a:gdLst/>
            <a:ahLst/>
            <a:cxnLst/>
            <a:rect l="l" t="t" r="r" b="b"/>
            <a:pathLst>
              <a:path w="180489" h="144391">
                <a:moveTo>
                  <a:pt x="18049" y="27073"/>
                </a:moveTo>
                <a:cubicBezTo>
                  <a:pt x="18049" y="17118"/>
                  <a:pt x="26143" y="9024"/>
                  <a:pt x="36098" y="9024"/>
                </a:cubicBezTo>
                <a:lnTo>
                  <a:pt x="144391" y="9024"/>
                </a:lnTo>
                <a:cubicBezTo>
                  <a:pt x="154346" y="9024"/>
                  <a:pt x="162440" y="17118"/>
                  <a:pt x="162440" y="27073"/>
                </a:cubicBezTo>
                <a:lnTo>
                  <a:pt x="162440" y="94756"/>
                </a:lnTo>
                <a:lnTo>
                  <a:pt x="144391" y="94756"/>
                </a:lnTo>
                <a:lnTo>
                  <a:pt x="144391" y="27073"/>
                </a:lnTo>
                <a:lnTo>
                  <a:pt x="36098" y="27073"/>
                </a:lnTo>
                <a:lnTo>
                  <a:pt x="36098" y="94756"/>
                </a:lnTo>
                <a:lnTo>
                  <a:pt x="18049" y="94756"/>
                </a:lnTo>
                <a:lnTo>
                  <a:pt x="18049" y="27073"/>
                </a:lnTo>
                <a:close/>
                <a:moveTo>
                  <a:pt x="0" y="113708"/>
                </a:moveTo>
                <a:cubicBezTo>
                  <a:pt x="0" y="110718"/>
                  <a:pt x="2425" y="108293"/>
                  <a:pt x="5415" y="108293"/>
                </a:cubicBezTo>
                <a:lnTo>
                  <a:pt x="175074" y="108293"/>
                </a:lnTo>
                <a:cubicBezTo>
                  <a:pt x="178063" y="108293"/>
                  <a:pt x="180489" y="110718"/>
                  <a:pt x="180489" y="113708"/>
                </a:cubicBezTo>
                <a:cubicBezTo>
                  <a:pt x="180489" y="125665"/>
                  <a:pt x="170787" y="135366"/>
                  <a:pt x="158830" y="135366"/>
                </a:cubicBezTo>
                <a:lnTo>
                  <a:pt x="21659" y="135366"/>
                </a:lnTo>
                <a:cubicBezTo>
                  <a:pt x="9701" y="135366"/>
                  <a:pt x="0" y="125665"/>
                  <a:pt x="0" y="113708"/>
                </a:cubicBezTo>
                <a:close/>
                <a:moveTo>
                  <a:pt x="79246" y="58941"/>
                </a:moveTo>
                <a:lnTo>
                  <a:pt x="70503" y="67683"/>
                </a:lnTo>
                <a:lnTo>
                  <a:pt x="79246" y="76426"/>
                </a:lnTo>
                <a:cubicBezTo>
                  <a:pt x="81897" y="79077"/>
                  <a:pt x="81897" y="83363"/>
                  <a:pt x="79246" y="85986"/>
                </a:cubicBezTo>
                <a:cubicBezTo>
                  <a:pt x="76595" y="88609"/>
                  <a:pt x="72308" y="88637"/>
                  <a:pt x="69685" y="85986"/>
                </a:cubicBezTo>
                <a:lnTo>
                  <a:pt x="56149" y="72449"/>
                </a:lnTo>
                <a:cubicBezTo>
                  <a:pt x="53498" y="69798"/>
                  <a:pt x="53498" y="65512"/>
                  <a:pt x="56149" y="62889"/>
                </a:cubicBezTo>
                <a:lnTo>
                  <a:pt x="69685" y="49352"/>
                </a:lnTo>
                <a:cubicBezTo>
                  <a:pt x="72336" y="46701"/>
                  <a:pt x="76623" y="46701"/>
                  <a:pt x="79246" y="49352"/>
                </a:cubicBezTo>
                <a:cubicBezTo>
                  <a:pt x="81868" y="52003"/>
                  <a:pt x="81897" y="56290"/>
                  <a:pt x="79246" y="58913"/>
                </a:cubicBezTo>
                <a:close/>
                <a:moveTo>
                  <a:pt x="110831" y="49352"/>
                </a:moveTo>
                <a:lnTo>
                  <a:pt x="124368" y="62889"/>
                </a:lnTo>
                <a:cubicBezTo>
                  <a:pt x="127019" y="65540"/>
                  <a:pt x="127019" y="69826"/>
                  <a:pt x="124368" y="72449"/>
                </a:cubicBezTo>
                <a:lnTo>
                  <a:pt x="110831" y="85986"/>
                </a:lnTo>
                <a:cubicBezTo>
                  <a:pt x="108180" y="88637"/>
                  <a:pt x="103894" y="88637"/>
                  <a:pt x="101271" y="85986"/>
                </a:cubicBezTo>
                <a:cubicBezTo>
                  <a:pt x="98648" y="83335"/>
                  <a:pt x="98620" y="79048"/>
                  <a:pt x="101271" y="76426"/>
                </a:cubicBezTo>
                <a:lnTo>
                  <a:pt x="110013" y="67683"/>
                </a:lnTo>
                <a:lnTo>
                  <a:pt x="101271" y="58941"/>
                </a:lnTo>
                <a:cubicBezTo>
                  <a:pt x="98620" y="56290"/>
                  <a:pt x="98620" y="52003"/>
                  <a:pt x="101271" y="49381"/>
                </a:cubicBezTo>
                <a:cubicBezTo>
                  <a:pt x="103922" y="46758"/>
                  <a:pt x="108209" y="46730"/>
                  <a:pt x="110831" y="4938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2949" y="2210984"/>
            <a:ext cx="101976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Technical/Logical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0265" y="2463668"/>
            <a:ext cx="344733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and hardware-based controls protecting systems and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0265" y="2711840"/>
            <a:ext cx="3447331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Firewalls, encryption, antivirus, SIEM, access controls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62479" y="2102691"/>
            <a:ext cx="3618795" cy="1010736"/>
          </a:xfrm>
          <a:custGeom>
            <a:avLst/>
            <a:gdLst/>
            <a:ahLst/>
            <a:cxnLst/>
            <a:rect l="l" t="t" r="r" b="b"/>
            <a:pathLst>
              <a:path w="3618795" h="1010736">
                <a:moveTo>
                  <a:pt x="18049" y="0"/>
                </a:moveTo>
                <a:lnTo>
                  <a:pt x="3582702" y="0"/>
                </a:lnTo>
                <a:cubicBezTo>
                  <a:pt x="3602635" y="0"/>
                  <a:pt x="3618795" y="16160"/>
                  <a:pt x="3618795" y="36093"/>
                </a:cubicBezTo>
                <a:lnTo>
                  <a:pt x="3618795" y="974642"/>
                </a:lnTo>
                <a:cubicBezTo>
                  <a:pt x="3618795" y="994576"/>
                  <a:pt x="3602635" y="1010736"/>
                  <a:pt x="3582702" y="1010736"/>
                </a:cubicBezTo>
                <a:lnTo>
                  <a:pt x="18049" y="1010736"/>
                </a:lnTo>
                <a:cubicBezTo>
                  <a:pt x="8081" y="1010736"/>
                  <a:pt x="0" y="1002655"/>
                  <a:pt x="0" y="992687"/>
                </a:cubicBezTo>
                <a:lnTo>
                  <a:pt x="0" y="18049"/>
                </a:lnTo>
                <a:cubicBezTo>
                  <a:pt x="0" y="8087"/>
                  <a:pt x="8087" y="0"/>
                  <a:pt x="180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62479" y="2102691"/>
            <a:ext cx="18049" cy="1010736"/>
          </a:xfrm>
          <a:custGeom>
            <a:avLst/>
            <a:gdLst/>
            <a:ahLst/>
            <a:cxnLst/>
            <a:rect l="l" t="t" r="r" b="b"/>
            <a:pathLst>
              <a:path w="18049" h="1010736">
                <a:moveTo>
                  <a:pt x="18049" y="0"/>
                </a:moveTo>
                <a:lnTo>
                  <a:pt x="18049" y="0"/>
                </a:lnTo>
                <a:lnTo>
                  <a:pt x="18049" y="1010736"/>
                </a:lnTo>
                <a:lnTo>
                  <a:pt x="18049" y="1010736"/>
                </a:lnTo>
                <a:cubicBezTo>
                  <a:pt x="8081" y="1010736"/>
                  <a:pt x="0" y="1002655"/>
                  <a:pt x="0" y="992687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15894" y="2229033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18049" y="0"/>
                </a:moveTo>
                <a:cubicBezTo>
                  <a:pt x="8094" y="0"/>
                  <a:pt x="0" y="8094"/>
                  <a:pt x="0" y="18049"/>
                </a:cubicBezTo>
                <a:lnTo>
                  <a:pt x="0" y="126342"/>
                </a:lnTo>
                <a:cubicBezTo>
                  <a:pt x="0" y="136297"/>
                  <a:pt x="8094" y="144391"/>
                  <a:pt x="18049" y="144391"/>
                </a:cubicBezTo>
                <a:lnTo>
                  <a:pt x="90244" y="144391"/>
                </a:lnTo>
                <a:cubicBezTo>
                  <a:pt x="100199" y="144391"/>
                  <a:pt x="108293" y="136297"/>
                  <a:pt x="108293" y="126342"/>
                </a:cubicBezTo>
                <a:lnTo>
                  <a:pt x="108293" y="18049"/>
                </a:lnTo>
                <a:cubicBezTo>
                  <a:pt x="108293" y="8094"/>
                  <a:pt x="100199" y="0"/>
                  <a:pt x="90244" y="0"/>
                </a:cubicBezTo>
                <a:lnTo>
                  <a:pt x="18049" y="0"/>
                </a:lnTo>
                <a:close/>
                <a:moveTo>
                  <a:pt x="49634" y="99269"/>
                </a:moveTo>
                <a:lnTo>
                  <a:pt x="58659" y="99269"/>
                </a:lnTo>
                <a:cubicBezTo>
                  <a:pt x="63650" y="99269"/>
                  <a:pt x="67683" y="103301"/>
                  <a:pt x="67683" y="108293"/>
                </a:cubicBezTo>
                <a:lnTo>
                  <a:pt x="67683" y="130854"/>
                </a:lnTo>
                <a:lnTo>
                  <a:pt x="40610" y="130854"/>
                </a:lnTo>
                <a:lnTo>
                  <a:pt x="40610" y="108293"/>
                </a:lnTo>
                <a:cubicBezTo>
                  <a:pt x="40610" y="103301"/>
                  <a:pt x="44643" y="99269"/>
                  <a:pt x="49634" y="99269"/>
                </a:cubicBezTo>
                <a:close/>
                <a:moveTo>
                  <a:pt x="27073" y="31585"/>
                </a:moveTo>
                <a:cubicBezTo>
                  <a:pt x="27073" y="29104"/>
                  <a:pt x="29104" y="27073"/>
                  <a:pt x="31585" y="27073"/>
                </a:cubicBezTo>
                <a:lnTo>
                  <a:pt x="40610" y="27073"/>
                </a:lnTo>
                <a:cubicBezTo>
                  <a:pt x="43092" y="27073"/>
                  <a:pt x="45122" y="29104"/>
                  <a:pt x="45122" y="31585"/>
                </a:cubicBezTo>
                <a:lnTo>
                  <a:pt x="45122" y="40610"/>
                </a:lnTo>
                <a:cubicBezTo>
                  <a:pt x="45122" y="43092"/>
                  <a:pt x="43092" y="45122"/>
                  <a:pt x="40610" y="45122"/>
                </a:cubicBezTo>
                <a:lnTo>
                  <a:pt x="31585" y="45122"/>
                </a:lnTo>
                <a:cubicBezTo>
                  <a:pt x="29104" y="45122"/>
                  <a:pt x="27073" y="43092"/>
                  <a:pt x="27073" y="40610"/>
                </a:cubicBezTo>
                <a:lnTo>
                  <a:pt x="27073" y="31585"/>
                </a:lnTo>
                <a:close/>
                <a:moveTo>
                  <a:pt x="67683" y="27073"/>
                </a:moveTo>
                <a:lnTo>
                  <a:pt x="76708" y="27073"/>
                </a:lnTo>
                <a:cubicBezTo>
                  <a:pt x="79189" y="27073"/>
                  <a:pt x="81220" y="29104"/>
                  <a:pt x="81220" y="31585"/>
                </a:cubicBezTo>
                <a:lnTo>
                  <a:pt x="81220" y="40610"/>
                </a:lnTo>
                <a:cubicBezTo>
                  <a:pt x="81220" y="43092"/>
                  <a:pt x="79189" y="45122"/>
                  <a:pt x="76708" y="45122"/>
                </a:cubicBezTo>
                <a:lnTo>
                  <a:pt x="67683" y="45122"/>
                </a:lnTo>
                <a:cubicBezTo>
                  <a:pt x="65201" y="45122"/>
                  <a:pt x="63171" y="43092"/>
                  <a:pt x="63171" y="40610"/>
                </a:cubicBezTo>
                <a:lnTo>
                  <a:pt x="63171" y="31585"/>
                </a:lnTo>
                <a:cubicBezTo>
                  <a:pt x="63171" y="29104"/>
                  <a:pt x="65201" y="27073"/>
                  <a:pt x="67683" y="27073"/>
                </a:cubicBezTo>
                <a:close/>
                <a:moveTo>
                  <a:pt x="27073" y="67683"/>
                </a:moveTo>
                <a:cubicBezTo>
                  <a:pt x="27073" y="65201"/>
                  <a:pt x="29104" y="63171"/>
                  <a:pt x="31585" y="63171"/>
                </a:cubicBezTo>
                <a:lnTo>
                  <a:pt x="40610" y="63171"/>
                </a:lnTo>
                <a:cubicBezTo>
                  <a:pt x="43092" y="63171"/>
                  <a:pt x="45122" y="65201"/>
                  <a:pt x="45122" y="67683"/>
                </a:cubicBezTo>
                <a:lnTo>
                  <a:pt x="45122" y="76708"/>
                </a:lnTo>
                <a:cubicBezTo>
                  <a:pt x="45122" y="79189"/>
                  <a:pt x="43092" y="81220"/>
                  <a:pt x="40610" y="81220"/>
                </a:cubicBezTo>
                <a:lnTo>
                  <a:pt x="31585" y="81220"/>
                </a:lnTo>
                <a:cubicBezTo>
                  <a:pt x="29104" y="81220"/>
                  <a:pt x="27073" y="79189"/>
                  <a:pt x="27073" y="76708"/>
                </a:cubicBezTo>
                <a:lnTo>
                  <a:pt x="27073" y="67683"/>
                </a:lnTo>
                <a:close/>
                <a:moveTo>
                  <a:pt x="67683" y="63171"/>
                </a:moveTo>
                <a:lnTo>
                  <a:pt x="76708" y="63171"/>
                </a:lnTo>
                <a:cubicBezTo>
                  <a:pt x="79189" y="63171"/>
                  <a:pt x="81220" y="65201"/>
                  <a:pt x="81220" y="67683"/>
                </a:cubicBezTo>
                <a:lnTo>
                  <a:pt x="81220" y="76708"/>
                </a:lnTo>
                <a:cubicBezTo>
                  <a:pt x="81220" y="79189"/>
                  <a:pt x="79189" y="81220"/>
                  <a:pt x="76708" y="81220"/>
                </a:cubicBezTo>
                <a:lnTo>
                  <a:pt x="67683" y="81220"/>
                </a:lnTo>
                <a:cubicBezTo>
                  <a:pt x="65201" y="81220"/>
                  <a:pt x="63171" y="79189"/>
                  <a:pt x="63171" y="76708"/>
                </a:cubicBezTo>
                <a:lnTo>
                  <a:pt x="63171" y="67683"/>
                </a:lnTo>
                <a:cubicBezTo>
                  <a:pt x="63171" y="65201"/>
                  <a:pt x="65201" y="63171"/>
                  <a:pt x="67683" y="63171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Text 22"/>
          <p:cNvSpPr/>
          <p:nvPr/>
        </p:nvSpPr>
        <p:spPr>
          <a:xfrm>
            <a:off x="8432480" y="2210984"/>
            <a:ext cx="50536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79796" y="2463668"/>
            <a:ext cx="344733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protecting physical access to facilities and equipment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79796" y="2711840"/>
            <a:ext cx="3447331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Locks, guards, CCTV, biometrics, mantraps, fences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489" y="3411233"/>
            <a:ext cx="11461021" cy="2635132"/>
          </a:xfrm>
          <a:custGeom>
            <a:avLst/>
            <a:gdLst/>
            <a:ahLst/>
            <a:cxnLst/>
            <a:rect l="l" t="t" r="r" b="b"/>
            <a:pathLst>
              <a:path w="11461021" h="2635132">
                <a:moveTo>
                  <a:pt x="72203" y="0"/>
                </a:moveTo>
                <a:lnTo>
                  <a:pt x="11388819" y="0"/>
                </a:lnTo>
                <a:cubicBezTo>
                  <a:pt x="11428695" y="0"/>
                  <a:pt x="11461021" y="32326"/>
                  <a:pt x="11461021" y="72203"/>
                </a:cubicBezTo>
                <a:lnTo>
                  <a:pt x="11461021" y="2562930"/>
                </a:lnTo>
                <a:cubicBezTo>
                  <a:pt x="11461021" y="2602806"/>
                  <a:pt x="11428695" y="2635132"/>
                  <a:pt x="11388819" y="2635132"/>
                </a:cubicBezTo>
                <a:lnTo>
                  <a:pt x="72203" y="2635132"/>
                </a:lnTo>
                <a:cubicBezTo>
                  <a:pt x="32326" y="2635132"/>
                  <a:pt x="0" y="2602806"/>
                  <a:pt x="0" y="2562930"/>
                </a:cubicBezTo>
                <a:lnTo>
                  <a:pt x="0" y="72203"/>
                </a:lnTo>
                <a:cubicBezTo>
                  <a:pt x="0" y="32353"/>
                  <a:pt x="32353" y="0"/>
                  <a:pt x="72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6953" y="3605258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73764" y="1650"/>
                </a:moveTo>
                <a:cubicBezTo>
                  <a:pt x="78491" y="-539"/>
                  <a:pt x="83948" y="-539"/>
                  <a:pt x="88676" y="1650"/>
                </a:cubicBezTo>
                <a:lnTo>
                  <a:pt x="158030" y="33694"/>
                </a:lnTo>
                <a:cubicBezTo>
                  <a:pt x="160726" y="34931"/>
                  <a:pt x="162440" y="37628"/>
                  <a:pt x="162440" y="40610"/>
                </a:cubicBezTo>
                <a:cubicBezTo>
                  <a:pt x="162440" y="43592"/>
                  <a:pt x="160726" y="46289"/>
                  <a:pt x="158030" y="47526"/>
                </a:cubicBezTo>
                <a:lnTo>
                  <a:pt x="88676" y="79570"/>
                </a:lnTo>
                <a:cubicBezTo>
                  <a:pt x="83948" y="81759"/>
                  <a:pt x="78491" y="81759"/>
                  <a:pt x="73764" y="79570"/>
                </a:cubicBezTo>
                <a:lnTo>
                  <a:pt x="4410" y="47526"/>
                </a:lnTo>
                <a:cubicBezTo>
                  <a:pt x="1713" y="46257"/>
                  <a:pt x="0" y="43560"/>
                  <a:pt x="0" y="40610"/>
                </a:cubicBezTo>
                <a:cubicBezTo>
                  <a:pt x="0" y="37659"/>
                  <a:pt x="1713" y="34931"/>
                  <a:pt x="4410" y="33694"/>
                </a:cubicBezTo>
                <a:lnTo>
                  <a:pt x="73764" y="1650"/>
                </a:lnTo>
                <a:close/>
                <a:moveTo>
                  <a:pt x="15260" y="69291"/>
                </a:moveTo>
                <a:lnTo>
                  <a:pt x="67387" y="93371"/>
                </a:lnTo>
                <a:cubicBezTo>
                  <a:pt x="76175" y="97432"/>
                  <a:pt x="86296" y="97432"/>
                  <a:pt x="95084" y="93371"/>
                </a:cubicBezTo>
                <a:lnTo>
                  <a:pt x="147211" y="69291"/>
                </a:lnTo>
                <a:lnTo>
                  <a:pt x="158030" y="74303"/>
                </a:lnTo>
                <a:cubicBezTo>
                  <a:pt x="160726" y="75541"/>
                  <a:pt x="162440" y="78238"/>
                  <a:pt x="162440" y="81220"/>
                </a:cubicBezTo>
                <a:cubicBezTo>
                  <a:pt x="162440" y="84202"/>
                  <a:pt x="160726" y="86899"/>
                  <a:pt x="158030" y="88136"/>
                </a:cubicBezTo>
                <a:lnTo>
                  <a:pt x="88676" y="120180"/>
                </a:lnTo>
                <a:cubicBezTo>
                  <a:pt x="83948" y="122369"/>
                  <a:pt x="78491" y="122369"/>
                  <a:pt x="73764" y="120180"/>
                </a:cubicBezTo>
                <a:lnTo>
                  <a:pt x="4410" y="88136"/>
                </a:lnTo>
                <a:cubicBezTo>
                  <a:pt x="1713" y="86867"/>
                  <a:pt x="0" y="84170"/>
                  <a:pt x="0" y="81220"/>
                </a:cubicBezTo>
                <a:cubicBezTo>
                  <a:pt x="0" y="78269"/>
                  <a:pt x="1713" y="75541"/>
                  <a:pt x="4410" y="74303"/>
                </a:cubicBezTo>
                <a:lnTo>
                  <a:pt x="15229" y="69291"/>
                </a:lnTo>
                <a:close/>
                <a:moveTo>
                  <a:pt x="4410" y="114913"/>
                </a:moveTo>
                <a:lnTo>
                  <a:pt x="15229" y="109901"/>
                </a:lnTo>
                <a:lnTo>
                  <a:pt x="67355" y="133981"/>
                </a:lnTo>
                <a:cubicBezTo>
                  <a:pt x="76144" y="138042"/>
                  <a:pt x="86264" y="138042"/>
                  <a:pt x="95053" y="133981"/>
                </a:cubicBezTo>
                <a:lnTo>
                  <a:pt x="147179" y="109901"/>
                </a:lnTo>
                <a:lnTo>
                  <a:pt x="157998" y="114913"/>
                </a:lnTo>
                <a:cubicBezTo>
                  <a:pt x="160695" y="116151"/>
                  <a:pt x="162408" y="118847"/>
                  <a:pt x="162408" y="121830"/>
                </a:cubicBezTo>
                <a:cubicBezTo>
                  <a:pt x="162408" y="124812"/>
                  <a:pt x="160695" y="127509"/>
                  <a:pt x="157998" y="128746"/>
                </a:cubicBezTo>
                <a:lnTo>
                  <a:pt x="88644" y="160790"/>
                </a:lnTo>
                <a:cubicBezTo>
                  <a:pt x="83917" y="162979"/>
                  <a:pt x="78460" y="162979"/>
                  <a:pt x="73732" y="160790"/>
                </a:cubicBezTo>
                <a:lnTo>
                  <a:pt x="4410" y="128746"/>
                </a:lnTo>
                <a:cubicBezTo>
                  <a:pt x="1713" y="127477"/>
                  <a:pt x="0" y="124780"/>
                  <a:pt x="0" y="121830"/>
                </a:cubicBezTo>
                <a:cubicBezTo>
                  <a:pt x="0" y="118879"/>
                  <a:pt x="1713" y="116151"/>
                  <a:pt x="4410" y="11491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21954" y="3560136"/>
            <a:ext cx="1103687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Functional Types of Controls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4392" y="3921113"/>
            <a:ext cx="2707328" cy="938540"/>
          </a:xfrm>
          <a:custGeom>
            <a:avLst/>
            <a:gdLst/>
            <a:ahLst/>
            <a:cxnLst/>
            <a:rect l="l" t="t" r="r" b="b"/>
            <a:pathLst>
              <a:path w="2707328" h="938540">
                <a:moveTo>
                  <a:pt x="36096" y="0"/>
                </a:moveTo>
                <a:lnTo>
                  <a:pt x="2671232" y="0"/>
                </a:lnTo>
                <a:cubicBezTo>
                  <a:pt x="2691167" y="0"/>
                  <a:pt x="2707328" y="16161"/>
                  <a:pt x="2707328" y="36096"/>
                </a:cubicBezTo>
                <a:lnTo>
                  <a:pt x="2707328" y="902444"/>
                </a:lnTo>
                <a:cubicBezTo>
                  <a:pt x="2707328" y="922379"/>
                  <a:pt x="2691167" y="938540"/>
                  <a:pt x="2671232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2685" y="4029406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6161" y="4110626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0"/>
                </a:moveTo>
                <a:cubicBezTo>
                  <a:pt x="64306" y="0"/>
                  <a:pt x="65441" y="247"/>
                  <a:pt x="66478" y="716"/>
                </a:cubicBezTo>
                <a:lnTo>
                  <a:pt x="112967" y="20432"/>
                </a:lnTo>
                <a:cubicBezTo>
                  <a:pt x="118396" y="22727"/>
                  <a:pt x="122443" y="28081"/>
                  <a:pt x="122418" y="34547"/>
                </a:cubicBezTo>
                <a:cubicBezTo>
                  <a:pt x="122295" y="59025"/>
                  <a:pt x="112227" y="103813"/>
                  <a:pt x="69710" y="124170"/>
                </a:cubicBezTo>
                <a:cubicBezTo>
                  <a:pt x="65589" y="126145"/>
                  <a:pt x="60802" y="126145"/>
                  <a:pt x="56681" y="124170"/>
                </a:cubicBezTo>
                <a:cubicBezTo>
                  <a:pt x="14139" y="103813"/>
                  <a:pt x="4096" y="59025"/>
                  <a:pt x="3973" y="34547"/>
                </a:cubicBezTo>
                <a:cubicBezTo>
                  <a:pt x="3948" y="28081"/>
                  <a:pt x="7995" y="22727"/>
                  <a:pt x="13424" y="20432"/>
                </a:cubicBezTo>
                <a:lnTo>
                  <a:pt x="59889" y="716"/>
                </a:lnTo>
                <a:cubicBezTo>
                  <a:pt x="60925" y="247"/>
                  <a:pt x="62036" y="0"/>
                  <a:pt x="63171" y="0"/>
                </a:cubicBezTo>
                <a:close/>
                <a:moveTo>
                  <a:pt x="63171" y="16484"/>
                </a:moveTo>
                <a:lnTo>
                  <a:pt x="63171" y="109784"/>
                </a:lnTo>
                <a:cubicBezTo>
                  <a:pt x="97224" y="93301"/>
                  <a:pt x="106379" y="56780"/>
                  <a:pt x="106601" y="34917"/>
                </a:cubicBezTo>
                <a:lnTo>
                  <a:pt x="63171" y="16508"/>
                </a:lnTo>
                <a:lnTo>
                  <a:pt x="63171" y="1650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983662" y="4083553"/>
            <a:ext cx="64073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2685" y="4390383"/>
            <a:ext cx="25448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incidents before they occur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2685" y="4602457"/>
            <a:ext cx="254488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Firewalls, access controls, encryption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32481" y="3921113"/>
            <a:ext cx="2707328" cy="938540"/>
          </a:xfrm>
          <a:custGeom>
            <a:avLst/>
            <a:gdLst/>
            <a:ahLst/>
            <a:cxnLst/>
            <a:rect l="l" t="t" r="r" b="b"/>
            <a:pathLst>
              <a:path w="2707328" h="938540">
                <a:moveTo>
                  <a:pt x="36096" y="0"/>
                </a:moveTo>
                <a:lnTo>
                  <a:pt x="2671232" y="0"/>
                </a:lnTo>
                <a:cubicBezTo>
                  <a:pt x="2691167" y="0"/>
                  <a:pt x="2707328" y="16161"/>
                  <a:pt x="2707328" y="36096"/>
                </a:cubicBezTo>
                <a:lnTo>
                  <a:pt x="2707328" y="902444"/>
                </a:lnTo>
                <a:cubicBezTo>
                  <a:pt x="2707328" y="922379"/>
                  <a:pt x="2691167" y="938540"/>
                  <a:pt x="2671232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40774" y="4029406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524250" y="4110626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102653" y="51326"/>
                </a:moveTo>
                <a:cubicBezTo>
                  <a:pt x="102653" y="62653"/>
                  <a:pt x="98976" y="73115"/>
                  <a:pt x="92782" y="81604"/>
                </a:cubicBezTo>
                <a:lnTo>
                  <a:pt x="124022" y="112869"/>
                </a:lnTo>
                <a:cubicBezTo>
                  <a:pt x="127107" y="115953"/>
                  <a:pt x="127107" y="120963"/>
                  <a:pt x="124022" y="124047"/>
                </a:cubicBezTo>
                <a:cubicBezTo>
                  <a:pt x="120938" y="127132"/>
                  <a:pt x="115929" y="127132"/>
                  <a:pt x="112844" y="124047"/>
                </a:cubicBezTo>
                <a:lnTo>
                  <a:pt x="81604" y="92782"/>
                </a:lnTo>
                <a:cubicBezTo>
                  <a:pt x="73115" y="98976"/>
                  <a:pt x="62653" y="102653"/>
                  <a:pt x="51326" y="102653"/>
                </a:cubicBezTo>
                <a:cubicBezTo>
                  <a:pt x="22974" y="102653"/>
                  <a:pt x="0" y="79679"/>
                  <a:pt x="0" y="51326"/>
                </a:cubicBezTo>
                <a:cubicBezTo>
                  <a:pt x="0" y="22974"/>
                  <a:pt x="22974" y="0"/>
                  <a:pt x="51326" y="0"/>
                </a:cubicBezTo>
                <a:cubicBezTo>
                  <a:pt x="79679" y="0"/>
                  <a:pt x="102653" y="22974"/>
                  <a:pt x="102653" y="51326"/>
                </a:cubicBezTo>
                <a:close/>
                <a:moveTo>
                  <a:pt x="51326" y="86860"/>
                </a:moveTo>
                <a:cubicBezTo>
                  <a:pt x="70938" y="86860"/>
                  <a:pt x="86860" y="70938"/>
                  <a:pt x="86860" y="51326"/>
                </a:cubicBezTo>
                <a:cubicBezTo>
                  <a:pt x="86860" y="31715"/>
                  <a:pt x="70938" y="15793"/>
                  <a:pt x="51326" y="15793"/>
                </a:cubicBezTo>
                <a:cubicBezTo>
                  <a:pt x="31715" y="15793"/>
                  <a:pt x="15793" y="31715"/>
                  <a:pt x="15793" y="51326"/>
                </a:cubicBezTo>
                <a:cubicBezTo>
                  <a:pt x="15793" y="70938"/>
                  <a:pt x="31715" y="86860"/>
                  <a:pt x="51326" y="8686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9" name="Text 37"/>
          <p:cNvSpPr/>
          <p:nvPr/>
        </p:nvSpPr>
        <p:spPr>
          <a:xfrm>
            <a:off x="3801751" y="4083553"/>
            <a:ext cx="5865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Detective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40774" y="4390383"/>
            <a:ext cx="25448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incidents when they occur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440774" y="4602457"/>
            <a:ext cx="254488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SIEM, IDS, audit logs, CCTV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50640" y="3921113"/>
            <a:ext cx="2707328" cy="938540"/>
          </a:xfrm>
          <a:custGeom>
            <a:avLst/>
            <a:gdLst/>
            <a:ahLst/>
            <a:cxnLst/>
            <a:rect l="l" t="t" r="r" b="b"/>
            <a:pathLst>
              <a:path w="2707328" h="938540">
                <a:moveTo>
                  <a:pt x="36096" y="0"/>
                </a:moveTo>
                <a:lnTo>
                  <a:pt x="2671232" y="0"/>
                </a:lnTo>
                <a:cubicBezTo>
                  <a:pt x="2691167" y="0"/>
                  <a:pt x="2707328" y="16161"/>
                  <a:pt x="2707328" y="36096"/>
                </a:cubicBezTo>
                <a:lnTo>
                  <a:pt x="2707328" y="902444"/>
                </a:lnTo>
                <a:cubicBezTo>
                  <a:pt x="2707328" y="922379"/>
                  <a:pt x="2691167" y="938540"/>
                  <a:pt x="2671232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58933" y="4029406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34513" y="4110626"/>
            <a:ext cx="142135" cy="126342"/>
          </a:xfrm>
          <a:custGeom>
            <a:avLst/>
            <a:gdLst/>
            <a:ahLst/>
            <a:cxnLst/>
            <a:rect l="l" t="t" r="r" b="b"/>
            <a:pathLst>
              <a:path w="142135" h="126342">
                <a:moveTo>
                  <a:pt x="125700" y="24331"/>
                </a:moveTo>
                <a:cubicBezTo>
                  <a:pt x="127576" y="22455"/>
                  <a:pt x="130710" y="22924"/>
                  <a:pt x="131647" y="25392"/>
                </a:cubicBezTo>
                <a:cubicBezTo>
                  <a:pt x="133325" y="29759"/>
                  <a:pt x="134238" y="34522"/>
                  <a:pt x="134238" y="39482"/>
                </a:cubicBezTo>
                <a:cubicBezTo>
                  <a:pt x="134238" y="61296"/>
                  <a:pt x="116570" y="78964"/>
                  <a:pt x="94756" y="78964"/>
                </a:cubicBezTo>
                <a:cubicBezTo>
                  <a:pt x="90438" y="78964"/>
                  <a:pt x="86268" y="78273"/>
                  <a:pt x="82369" y="76990"/>
                </a:cubicBezTo>
                <a:lnTo>
                  <a:pt x="36249" y="123109"/>
                </a:lnTo>
                <a:cubicBezTo>
                  <a:pt x="29315" y="130043"/>
                  <a:pt x="18063" y="130043"/>
                  <a:pt x="11129" y="123109"/>
                </a:cubicBezTo>
                <a:cubicBezTo>
                  <a:pt x="4195" y="116175"/>
                  <a:pt x="4195" y="104923"/>
                  <a:pt x="11129" y="97989"/>
                </a:cubicBezTo>
                <a:lnTo>
                  <a:pt x="57249" y="51869"/>
                </a:lnTo>
                <a:cubicBezTo>
                  <a:pt x="55966" y="47970"/>
                  <a:pt x="55275" y="43825"/>
                  <a:pt x="55275" y="39482"/>
                </a:cubicBezTo>
                <a:cubicBezTo>
                  <a:pt x="55275" y="17668"/>
                  <a:pt x="72943" y="0"/>
                  <a:pt x="94756" y="0"/>
                </a:cubicBezTo>
                <a:cubicBezTo>
                  <a:pt x="99716" y="0"/>
                  <a:pt x="104479" y="913"/>
                  <a:pt x="108847" y="2591"/>
                </a:cubicBezTo>
                <a:cubicBezTo>
                  <a:pt x="111314" y="3529"/>
                  <a:pt x="111758" y="6663"/>
                  <a:pt x="109908" y="8538"/>
                </a:cubicBezTo>
                <a:lnTo>
                  <a:pt x="88020" y="30426"/>
                </a:lnTo>
                <a:cubicBezTo>
                  <a:pt x="87280" y="31166"/>
                  <a:pt x="86860" y="32178"/>
                  <a:pt x="86860" y="33214"/>
                </a:cubicBezTo>
                <a:lnTo>
                  <a:pt x="86860" y="43430"/>
                </a:lnTo>
                <a:cubicBezTo>
                  <a:pt x="86860" y="45602"/>
                  <a:pt x="88637" y="47378"/>
                  <a:pt x="90808" y="47378"/>
                </a:cubicBezTo>
                <a:lnTo>
                  <a:pt x="101024" y="47378"/>
                </a:lnTo>
                <a:cubicBezTo>
                  <a:pt x="102061" y="47378"/>
                  <a:pt x="103072" y="46959"/>
                  <a:pt x="103813" y="46218"/>
                </a:cubicBezTo>
                <a:lnTo>
                  <a:pt x="125700" y="2433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Text 43"/>
          <p:cNvSpPr/>
          <p:nvPr/>
        </p:nvSpPr>
        <p:spPr>
          <a:xfrm>
            <a:off x="6619910" y="4083553"/>
            <a:ext cx="63171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Corrective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58933" y="4390383"/>
            <a:ext cx="25448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damage after an incident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58933" y="4602457"/>
            <a:ext cx="254488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Patches, incident response, isolation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68729" y="3921113"/>
            <a:ext cx="2707328" cy="938540"/>
          </a:xfrm>
          <a:custGeom>
            <a:avLst/>
            <a:gdLst/>
            <a:ahLst/>
            <a:cxnLst/>
            <a:rect l="l" t="t" r="r" b="b"/>
            <a:pathLst>
              <a:path w="2707328" h="938540">
                <a:moveTo>
                  <a:pt x="36096" y="0"/>
                </a:moveTo>
                <a:lnTo>
                  <a:pt x="2671232" y="0"/>
                </a:lnTo>
                <a:cubicBezTo>
                  <a:pt x="2691167" y="0"/>
                  <a:pt x="2707328" y="16161"/>
                  <a:pt x="2707328" y="36096"/>
                </a:cubicBezTo>
                <a:lnTo>
                  <a:pt x="2707328" y="902444"/>
                </a:lnTo>
                <a:cubicBezTo>
                  <a:pt x="2707328" y="922379"/>
                  <a:pt x="2691167" y="938540"/>
                  <a:pt x="2671232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077022" y="4029406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60498" y="4110626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0"/>
                </a:moveTo>
                <a:cubicBezTo>
                  <a:pt x="66798" y="0"/>
                  <a:pt x="70130" y="1999"/>
                  <a:pt x="71857" y="5182"/>
                </a:cubicBezTo>
                <a:lnTo>
                  <a:pt x="125158" y="103887"/>
                </a:lnTo>
                <a:cubicBezTo>
                  <a:pt x="126811" y="106947"/>
                  <a:pt x="126737" y="110648"/>
                  <a:pt x="124960" y="113634"/>
                </a:cubicBezTo>
                <a:cubicBezTo>
                  <a:pt x="123183" y="116620"/>
                  <a:pt x="119951" y="118446"/>
                  <a:pt x="116472" y="118446"/>
                </a:cubicBezTo>
                <a:lnTo>
                  <a:pt x="9870" y="118446"/>
                </a:lnTo>
                <a:cubicBezTo>
                  <a:pt x="6391" y="118446"/>
                  <a:pt x="3183" y="116620"/>
                  <a:pt x="1382" y="113634"/>
                </a:cubicBezTo>
                <a:cubicBezTo>
                  <a:pt x="-419" y="110648"/>
                  <a:pt x="-469" y="106947"/>
                  <a:pt x="1184" y="103887"/>
                </a:cubicBezTo>
                <a:lnTo>
                  <a:pt x="54485" y="5182"/>
                </a:lnTo>
                <a:cubicBezTo>
                  <a:pt x="56212" y="1999"/>
                  <a:pt x="59544" y="0"/>
                  <a:pt x="63171" y="0"/>
                </a:cubicBezTo>
                <a:close/>
                <a:moveTo>
                  <a:pt x="63171" y="41456"/>
                </a:moveTo>
                <a:cubicBezTo>
                  <a:pt x="59889" y="41456"/>
                  <a:pt x="57249" y="44096"/>
                  <a:pt x="57249" y="47378"/>
                </a:cubicBezTo>
                <a:lnTo>
                  <a:pt x="57249" y="75016"/>
                </a:lnTo>
                <a:cubicBezTo>
                  <a:pt x="57249" y="78297"/>
                  <a:pt x="59889" y="80938"/>
                  <a:pt x="63171" y="80938"/>
                </a:cubicBezTo>
                <a:cubicBezTo>
                  <a:pt x="66453" y="80938"/>
                  <a:pt x="69093" y="78297"/>
                  <a:pt x="69093" y="75016"/>
                </a:cubicBezTo>
                <a:lnTo>
                  <a:pt x="69093" y="47378"/>
                </a:lnTo>
                <a:cubicBezTo>
                  <a:pt x="69093" y="44096"/>
                  <a:pt x="66453" y="41456"/>
                  <a:pt x="63171" y="41456"/>
                </a:cubicBezTo>
                <a:close/>
                <a:moveTo>
                  <a:pt x="69760" y="94756"/>
                </a:moveTo>
                <a:cubicBezTo>
                  <a:pt x="69909" y="92311"/>
                  <a:pt x="68690" y="89984"/>
                  <a:pt x="66593" y="88716"/>
                </a:cubicBezTo>
                <a:cubicBezTo>
                  <a:pt x="64497" y="87448"/>
                  <a:pt x="61870" y="87448"/>
                  <a:pt x="59773" y="88716"/>
                </a:cubicBezTo>
                <a:cubicBezTo>
                  <a:pt x="57677" y="89984"/>
                  <a:pt x="56457" y="92311"/>
                  <a:pt x="56607" y="94756"/>
                </a:cubicBezTo>
                <a:cubicBezTo>
                  <a:pt x="56457" y="97202"/>
                  <a:pt x="57677" y="99529"/>
                  <a:pt x="59773" y="100797"/>
                </a:cubicBezTo>
                <a:cubicBezTo>
                  <a:pt x="61870" y="102065"/>
                  <a:pt x="64497" y="102065"/>
                  <a:pt x="66593" y="100797"/>
                </a:cubicBezTo>
                <a:cubicBezTo>
                  <a:pt x="68690" y="99529"/>
                  <a:pt x="69909" y="97202"/>
                  <a:pt x="69760" y="9475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9437999" y="4083553"/>
            <a:ext cx="5865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Deterrent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77022" y="4390383"/>
            <a:ext cx="25448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Discourage potential attackers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77022" y="4602457"/>
            <a:ext cx="254488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Warning banners, security signs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4392" y="4963434"/>
            <a:ext cx="2707328" cy="938540"/>
          </a:xfrm>
          <a:custGeom>
            <a:avLst/>
            <a:gdLst/>
            <a:ahLst/>
            <a:cxnLst/>
            <a:rect l="l" t="t" r="r" b="b"/>
            <a:pathLst>
              <a:path w="2707328" h="938540">
                <a:moveTo>
                  <a:pt x="36096" y="0"/>
                </a:moveTo>
                <a:lnTo>
                  <a:pt x="2671232" y="0"/>
                </a:lnTo>
                <a:cubicBezTo>
                  <a:pt x="2691167" y="0"/>
                  <a:pt x="2707328" y="16161"/>
                  <a:pt x="2707328" y="36096"/>
                </a:cubicBezTo>
                <a:lnTo>
                  <a:pt x="2707328" y="902444"/>
                </a:lnTo>
                <a:cubicBezTo>
                  <a:pt x="2707328" y="922379"/>
                  <a:pt x="2691167" y="938540"/>
                  <a:pt x="2671232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22685" y="507172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6161" y="515294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53054" y="4195"/>
                </a:moveTo>
                <a:lnTo>
                  <a:pt x="4195" y="53054"/>
                </a:lnTo>
                <a:cubicBezTo>
                  <a:pt x="1505" y="55743"/>
                  <a:pt x="0" y="59371"/>
                  <a:pt x="0" y="63171"/>
                </a:cubicBezTo>
                <a:cubicBezTo>
                  <a:pt x="0" y="66971"/>
                  <a:pt x="1505" y="70599"/>
                  <a:pt x="4195" y="73288"/>
                </a:cubicBezTo>
                <a:lnTo>
                  <a:pt x="53054" y="122147"/>
                </a:lnTo>
                <a:cubicBezTo>
                  <a:pt x="55743" y="124837"/>
                  <a:pt x="59371" y="126342"/>
                  <a:pt x="63171" y="126342"/>
                </a:cubicBezTo>
                <a:cubicBezTo>
                  <a:pt x="66971" y="126342"/>
                  <a:pt x="70599" y="124837"/>
                  <a:pt x="73288" y="122147"/>
                </a:cubicBezTo>
                <a:lnTo>
                  <a:pt x="122147" y="73288"/>
                </a:lnTo>
                <a:cubicBezTo>
                  <a:pt x="124837" y="70599"/>
                  <a:pt x="126342" y="66971"/>
                  <a:pt x="126342" y="63171"/>
                </a:cubicBezTo>
                <a:cubicBezTo>
                  <a:pt x="126342" y="59371"/>
                  <a:pt x="124837" y="55743"/>
                  <a:pt x="122147" y="53054"/>
                </a:cubicBezTo>
                <a:lnTo>
                  <a:pt x="73288" y="4195"/>
                </a:lnTo>
                <a:cubicBezTo>
                  <a:pt x="70599" y="1505"/>
                  <a:pt x="66971" y="0"/>
                  <a:pt x="63171" y="0"/>
                </a:cubicBezTo>
                <a:cubicBezTo>
                  <a:pt x="59371" y="0"/>
                  <a:pt x="55743" y="1505"/>
                  <a:pt x="53054" y="4195"/>
                </a:cubicBezTo>
                <a:close/>
                <a:moveTo>
                  <a:pt x="95003" y="63418"/>
                </a:moveTo>
                <a:lnTo>
                  <a:pt x="77236" y="81185"/>
                </a:lnTo>
                <a:cubicBezTo>
                  <a:pt x="74917" y="83504"/>
                  <a:pt x="71166" y="83504"/>
                  <a:pt x="68871" y="81185"/>
                </a:cubicBezTo>
                <a:cubicBezTo>
                  <a:pt x="66576" y="78865"/>
                  <a:pt x="66552" y="75114"/>
                  <a:pt x="68871" y="72819"/>
                </a:cubicBezTo>
                <a:lnTo>
                  <a:pt x="76521" y="65170"/>
                </a:lnTo>
                <a:lnTo>
                  <a:pt x="57249" y="65170"/>
                </a:lnTo>
                <a:cubicBezTo>
                  <a:pt x="53967" y="65170"/>
                  <a:pt x="51326" y="67810"/>
                  <a:pt x="51326" y="71092"/>
                </a:cubicBezTo>
                <a:lnTo>
                  <a:pt x="51326" y="80963"/>
                </a:lnTo>
                <a:cubicBezTo>
                  <a:pt x="51326" y="84244"/>
                  <a:pt x="48686" y="86885"/>
                  <a:pt x="45404" y="86885"/>
                </a:cubicBezTo>
                <a:cubicBezTo>
                  <a:pt x="42122" y="86885"/>
                  <a:pt x="39482" y="84244"/>
                  <a:pt x="39482" y="80963"/>
                </a:cubicBezTo>
                <a:lnTo>
                  <a:pt x="39482" y="71092"/>
                </a:lnTo>
                <a:cubicBezTo>
                  <a:pt x="39482" y="61271"/>
                  <a:pt x="47428" y="53325"/>
                  <a:pt x="57249" y="53325"/>
                </a:cubicBezTo>
                <a:lnTo>
                  <a:pt x="76521" y="53325"/>
                </a:lnTo>
                <a:lnTo>
                  <a:pt x="68871" y="45676"/>
                </a:lnTo>
                <a:cubicBezTo>
                  <a:pt x="66552" y="43356"/>
                  <a:pt x="66552" y="39605"/>
                  <a:pt x="68871" y="37310"/>
                </a:cubicBezTo>
                <a:cubicBezTo>
                  <a:pt x="71191" y="35015"/>
                  <a:pt x="74942" y="34991"/>
                  <a:pt x="77236" y="37310"/>
                </a:cubicBezTo>
                <a:lnTo>
                  <a:pt x="95003" y="55077"/>
                </a:lnTo>
                <a:cubicBezTo>
                  <a:pt x="97323" y="57397"/>
                  <a:pt x="97323" y="61148"/>
                  <a:pt x="95003" y="6344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Text 55"/>
          <p:cNvSpPr/>
          <p:nvPr/>
        </p:nvSpPr>
        <p:spPr>
          <a:xfrm>
            <a:off x="983662" y="5125874"/>
            <a:ext cx="55049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Directive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2685" y="5432705"/>
            <a:ext cx="25448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 behavior toward security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2685" y="5644779"/>
            <a:ext cx="254488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Policies, procedures, signage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332481" y="4963434"/>
            <a:ext cx="2707328" cy="938540"/>
          </a:xfrm>
          <a:custGeom>
            <a:avLst/>
            <a:gdLst/>
            <a:ahLst/>
            <a:cxnLst/>
            <a:rect l="l" t="t" r="r" b="b"/>
            <a:pathLst>
              <a:path w="2707328" h="938540">
                <a:moveTo>
                  <a:pt x="36096" y="0"/>
                </a:moveTo>
                <a:lnTo>
                  <a:pt x="2671232" y="0"/>
                </a:lnTo>
                <a:cubicBezTo>
                  <a:pt x="2691167" y="0"/>
                  <a:pt x="2707328" y="16161"/>
                  <a:pt x="2707328" y="36096"/>
                </a:cubicBezTo>
                <a:lnTo>
                  <a:pt x="2707328" y="902444"/>
                </a:lnTo>
                <a:cubicBezTo>
                  <a:pt x="2707328" y="922379"/>
                  <a:pt x="2691167" y="938540"/>
                  <a:pt x="2671232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440774" y="507172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524250" y="515294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5793"/>
                </a:moveTo>
                <a:cubicBezTo>
                  <a:pt x="49155" y="15793"/>
                  <a:pt x="36545" y="21888"/>
                  <a:pt x="27859" y="31585"/>
                </a:cubicBezTo>
                <a:lnTo>
                  <a:pt x="39482" y="31585"/>
                </a:lnTo>
                <a:cubicBezTo>
                  <a:pt x="43850" y="31585"/>
                  <a:pt x="47378" y="35114"/>
                  <a:pt x="47378" y="39482"/>
                </a:cubicBezTo>
                <a:cubicBezTo>
                  <a:pt x="47378" y="43850"/>
                  <a:pt x="43850" y="47378"/>
                  <a:pt x="39482" y="47378"/>
                </a:cubicBezTo>
                <a:lnTo>
                  <a:pt x="7896" y="47378"/>
                </a:lnTo>
                <a:cubicBezTo>
                  <a:pt x="3529" y="47378"/>
                  <a:pt x="0" y="43850"/>
                  <a:pt x="0" y="39482"/>
                </a:cubicBezTo>
                <a:lnTo>
                  <a:pt x="0" y="7896"/>
                </a:lnTo>
                <a:cubicBezTo>
                  <a:pt x="0" y="3529"/>
                  <a:pt x="3529" y="0"/>
                  <a:pt x="7896" y="0"/>
                </a:cubicBezTo>
                <a:cubicBezTo>
                  <a:pt x="12264" y="0"/>
                  <a:pt x="15793" y="3529"/>
                  <a:pt x="15793" y="7896"/>
                </a:cubicBezTo>
                <a:lnTo>
                  <a:pt x="15793" y="21394"/>
                </a:lnTo>
                <a:cubicBezTo>
                  <a:pt x="27366" y="8291"/>
                  <a:pt x="44294" y="0"/>
                  <a:pt x="63171" y="0"/>
                </a:cubicBezTo>
                <a:cubicBezTo>
                  <a:pt x="98063" y="0"/>
                  <a:pt x="126342" y="28279"/>
                  <a:pt x="126342" y="63171"/>
                </a:cubicBezTo>
                <a:cubicBezTo>
                  <a:pt x="126342" y="98063"/>
                  <a:pt x="98063" y="126342"/>
                  <a:pt x="63171" y="126342"/>
                </a:cubicBezTo>
                <a:cubicBezTo>
                  <a:pt x="41703" y="126342"/>
                  <a:pt x="22727" y="115633"/>
                  <a:pt x="11326" y="99272"/>
                </a:cubicBezTo>
                <a:cubicBezTo>
                  <a:pt x="8834" y="95694"/>
                  <a:pt x="9698" y="90784"/>
                  <a:pt x="13276" y="88267"/>
                </a:cubicBezTo>
                <a:cubicBezTo>
                  <a:pt x="16854" y="85750"/>
                  <a:pt x="21764" y="86638"/>
                  <a:pt x="24281" y="90216"/>
                </a:cubicBezTo>
                <a:cubicBezTo>
                  <a:pt x="32869" y="102505"/>
                  <a:pt x="47082" y="110525"/>
                  <a:pt x="63171" y="110525"/>
                </a:cubicBezTo>
                <a:cubicBezTo>
                  <a:pt x="89328" y="110525"/>
                  <a:pt x="110549" y="89303"/>
                  <a:pt x="110549" y="63146"/>
                </a:cubicBezTo>
                <a:cubicBezTo>
                  <a:pt x="110549" y="36990"/>
                  <a:pt x="89328" y="15793"/>
                  <a:pt x="63171" y="1579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3" name="Text 61"/>
          <p:cNvSpPr/>
          <p:nvPr/>
        </p:nvSpPr>
        <p:spPr>
          <a:xfrm>
            <a:off x="3801751" y="5125874"/>
            <a:ext cx="57756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Recovery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440774" y="5432705"/>
            <a:ext cx="25448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Restore systems after incidents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440774" y="5644779"/>
            <a:ext cx="254488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Backups, DR plans, system rebuilds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50640" y="4963434"/>
            <a:ext cx="5531973" cy="938540"/>
          </a:xfrm>
          <a:custGeom>
            <a:avLst/>
            <a:gdLst/>
            <a:ahLst/>
            <a:cxnLst/>
            <a:rect l="l" t="t" r="r" b="b"/>
            <a:pathLst>
              <a:path w="5531973" h="938540">
                <a:moveTo>
                  <a:pt x="36096" y="0"/>
                </a:moveTo>
                <a:lnTo>
                  <a:pt x="5495877" y="0"/>
                </a:lnTo>
                <a:cubicBezTo>
                  <a:pt x="5515813" y="0"/>
                  <a:pt x="5531973" y="16161"/>
                  <a:pt x="5531973" y="36096"/>
                </a:cubicBezTo>
                <a:lnTo>
                  <a:pt x="5531973" y="902444"/>
                </a:lnTo>
                <a:cubicBezTo>
                  <a:pt x="5531973" y="922379"/>
                  <a:pt x="5515813" y="938540"/>
                  <a:pt x="5495877" y="938540"/>
                </a:cubicBezTo>
                <a:lnTo>
                  <a:pt x="36096" y="938540"/>
                </a:lnTo>
                <a:cubicBezTo>
                  <a:pt x="16161" y="938540"/>
                  <a:pt x="0" y="922379"/>
                  <a:pt x="0" y="902444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258933" y="507172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36098" y="0"/>
                </a:moveTo>
                <a:lnTo>
                  <a:pt x="252684" y="0"/>
                </a:lnTo>
                <a:cubicBezTo>
                  <a:pt x="272620" y="0"/>
                  <a:pt x="288782" y="16161"/>
                  <a:pt x="288782" y="36098"/>
                </a:cubicBezTo>
                <a:lnTo>
                  <a:pt x="288782" y="252684"/>
                </a:lnTo>
                <a:cubicBezTo>
                  <a:pt x="288782" y="272620"/>
                  <a:pt x="272620" y="288782"/>
                  <a:pt x="252684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342409" y="515294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55275" y="0"/>
                </a:moveTo>
                <a:cubicBezTo>
                  <a:pt x="63985" y="0"/>
                  <a:pt x="71067" y="5305"/>
                  <a:pt x="71067" y="11845"/>
                </a:cubicBezTo>
                <a:cubicBezTo>
                  <a:pt x="71067" y="14411"/>
                  <a:pt x="69982" y="16780"/>
                  <a:pt x="68106" y="18729"/>
                </a:cubicBezTo>
                <a:cubicBezTo>
                  <a:pt x="66478" y="20432"/>
                  <a:pt x="65145" y="22505"/>
                  <a:pt x="65145" y="24874"/>
                </a:cubicBezTo>
                <a:cubicBezTo>
                  <a:pt x="65145" y="28575"/>
                  <a:pt x="68156" y="31585"/>
                  <a:pt x="71857" y="31585"/>
                </a:cubicBezTo>
                <a:lnTo>
                  <a:pt x="82912" y="31585"/>
                </a:lnTo>
                <a:cubicBezTo>
                  <a:pt x="89451" y="31585"/>
                  <a:pt x="94756" y="36891"/>
                  <a:pt x="94756" y="43430"/>
                </a:cubicBezTo>
                <a:lnTo>
                  <a:pt x="94756" y="54485"/>
                </a:lnTo>
                <a:cubicBezTo>
                  <a:pt x="94756" y="58186"/>
                  <a:pt x="97767" y="61197"/>
                  <a:pt x="101468" y="61197"/>
                </a:cubicBezTo>
                <a:cubicBezTo>
                  <a:pt x="103813" y="61197"/>
                  <a:pt x="105910" y="59864"/>
                  <a:pt x="107613" y="58236"/>
                </a:cubicBezTo>
                <a:cubicBezTo>
                  <a:pt x="109562" y="56385"/>
                  <a:pt x="111931" y="55275"/>
                  <a:pt x="114497" y="55275"/>
                </a:cubicBezTo>
                <a:cubicBezTo>
                  <a:pt x="121037" y="55275"/>
                  <a:pt x="126342" y="62357"/>
                  <a:pt x="126342" y="71067"/>
                </a:cubicBezTo>
                <a:cubicBezTo>
                  <a:pt x="126342" y="79778"/>
                  <a:pt x="121037" y="86860"/>
                  <a:pt x="114497" y="86860"/>
                </a:cubicBezTo>
                <a:cubicBezTo>
                  <a:pt x="111931" y="86860"/>
                  <a:pt x="109537" y="85774"/>
                  <a:pt x="107613" y="83899"/>
                </a:cubicBezTo>
                <a:cubicBezTo>
                  <a:pt x="105910" y="82270"/>
                  <a:pt x="103837" y="80938"/>
                  <a:pt x="101468" y="80938"/>
                </a:cubicBezTo>
                <a:cubicBezTo>
                  <a:pt x="97767" y="80938"/>
                  <a:pt x="94756" y="83948"/>
                  <a:pt x="94756" y="87650"/>
                </a:cubicBezTo>
                <a:lnTo>
                  <a:pt x="94756" y="114497"/>
                </a:lnTo>
                <a:cubicBezTo>
                  <a:pt x="94756" y="121037"/>
                  <a:pt x="89451" y="126342"/>
                  <a:pt x="82912" y="126342"/>
                </a:cubicBezTo>
                <a:lnTo>
                  <a:pt x="68896" y="126342"/>
                </a:lnTo>
                <a:cubicBezTo>
                  <a:pt x="65737" y="126342"/>
                  <a:pt x="63171" y="123776"/>
                  <a:pt x="63171" y="120617"/>
                </a:cubicBezTo>
                <a:cubicBezTo>
                  <a:pt x="63171" y="118347"/>
                  <a:pt x="64602" y="116348"/>
                  <a:pt x="66428" y="114991"/>
                </a:cubicBezTo>
                <a:cubicBezTo>
                  <a:pt x="69291" y="112844"/>
                  <a:pt x="71067" y="109883"/>
                  <a:pt x="71067" y="106601"/>
                </a:cubicBezTo>
                <a:cubicBezTo>
                  <a:pt x="71067" y="100062"/>
                  <a:pt x="63985" y="94756"/>
                  <a:pt x="55275" y="94756"/>
                </a:cubicBezTo>
                <a:cubicBezTo>
                  <a:pt x="46564" y="94756"/>
                  <a:pt x="39482" y="100062"/>
                  <a:pt x="39482" y="106601"/>
                </a:cubicBezTo>
                <a:cubicBezTo>
                  <a:pt x="39482" y="109883"/>
                  <a:pt x="41259" y="112844"/>
                  <a:pt x="44121" y="114991"/>
                </a:cubicBezTo>
                <a:cubicBezTo>
                  <a:pt x="45947" y="116348"/>
                  <a:pt x="47378" y="118322"/>
                  <a:pt x="47378" y="120617"/>
                </a:cubicBezTo>
                <a:cubicBezTo>
                  <a:pt x="47378" y="123776"/>
                  <a:pt x="44812" y="126342"/>
                  <a:pt x="41653" y="126342"/>
                </a:cubicBezTo>
                <a:lnTo>
                  <a:pt x="11845" y="126342"/>
                </a:lnTo>
                <a:cubicBezTo>
                  <a:pt x="5305" y="126342"/>
                  <a:pt x="0" y="121037"/>
                  <a:pt x="0" y="114497"/>
                </a:cubicBezTo>
                <a:lnTo>
                  <a:pt x="0" y="84689"/>
                </a:lnTo>
                <a:cubicBezTo>
                  <a:pt x="0" y="81530"/>
                  <a:pt x="2566" y="78964"/>
                  <a:pt x="5725" y="78964"/>
                </a:cubicBezTo>
                <a:cubicBezTo>
                  <a:pt x="7995" y="78964"/>
                  <a:pt x="9994" y="80395"/>
                  <a:pt x="11351" y="82221"/>
                </a:cubicBezTo>
                <a:cubicBezTo>
                  <a:pt x="13498" y="85083"/>
                  <a:pt x="16459" y="86860"/>
                  <a:pt x="19741" y="86860"/>
                </a:cubicBezTo>
                <a:cubicBezTo>
                  <a:pt x="26280" y="86860"/>
                  <a:pt x="31585" y="79778"/>
                  <a:pt x="31585" y="71067"/>
                </a:cubicBezTo>
                <a:cubicBezTo>
                  <a:pt x="31585" y="62357"/>
                  <a:pt x="26280" y="55275"/>
                  <a:pt x="19741" y="55275"/>
                </a:cubicBezTo>
                <a:cubicBezTo>
                  <a:pt x="16459" y="55275"/>
                  <a:pt x="13498" y="57051"/>
                  <a:pt x="11351" y="59914"/>
                </a:cubicBezTo>
                <a:cubicBezTo>
                  <a:pt x="9994" y="61740"/>
                  <a:pt x="8020" y="63171"/>
                  <a:pt x="5725" y="63171"/>
                </a:cubicBezTo>
                <a:cubicBezTo>
                  <a:pt x="2566" y="63171"/>
                  <a:pt x="0" y="60605"/>
                  <a:pt x="0" y="57446"/>
                </a:cubicBezTo>
                <a:lnTo>
                  <a:pt x="0" y="43430"/>
                </a:lnTo>
                <a:cubicBezTo>
                  <a:pt x="0" y="36891"/>
                  <a:pt x="5305" y="31585"/>
                  <a:pt x="11845" y="31585"/>
                </a:cubicBezTo>
                <a:lnTo>
                  <a:pt x="38692" y="31585"/>
                </a:lnTo>
                <a:cubicBezTo>
                  <a:pt x="42394" y="31585"/>
                  <a:pt x="45404" y="28575"/>
                  <a:pt x="45404" y="24874"/>
                </a:cubicBezTo>
                <a:cubicBezTo>
                  <a:pt x="45404" y="22529"/>
                  <a:pt x="44072" y="20432"/>
                  <a:pt x="42443" y="18729"/>
                </a:cubicBezTo>
                <a:cubicBezTo>
                  <a:pt x="40592" y="16780"/>
                  <a:pt x="39482" y="14411"/>
                  <a:pt x="39482" y="11845"/>
                </a:cubicBezTo>
                <a:cubicBezTo>
                  <a:pt x="39482" y="5305"/>
                  <a:pt x="46564" y="0"/>
                  <a:pt x="5527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9" name="Text 67"/>
          <p:cNvSpPr/>
          <p:nvPr/>
        </p:nvSpPr>
        <p:spPr>
          <a:xfrm>
            <a:off x="6619910" y="5125874"/>
            <a:ext cx="84829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Compensating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258933" y="5432705"/>
            <a:ext cx="536953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controls when primary controls are not feasible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258933" y="5644779"/>
            <a:ext cx="5369534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1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Additional monitoring when encryption isn't possible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65489" y="6199781"/>
            <a:ext cx="11461021" cy="622685"/>
          </a:xfrm>
          <a:custGeom>
            <a:avLst/>
            <a:gdLst/>
            <a:ahLst/>
            <a:cxnLst/>
            <a:rect l="l" t="t" r="r" b="b"/>
            <a:pathLst>
              <a:path w="11461021" h="622685">
                <a:moveTo>
                  <a:pt x="36097" y="0"/>
                </a:moveTo>
                <a:lnTo>
                  <a:pt x="11424924" y="0"/>
                </a:lnTo>
                <a:cubicBezTo>
                  <a:pt x="11444860" y="0"/>
                  <a:pt x="11461021" y="16161"/>
                  <a:pt x="11461021" y="36097"/>
                </a:cubicBezTo>
                <a:lnTo>
                  <a:pt x="11461021" y="586588"/>
                </a:lnTo>
                <a:cubicBezTo>
                  <a:pt x="11461021" y="606524"/>
                  <a:pt x="11444860" y="622685"/>
                  <a:pt x="11424924" y="622685"/>
                </a:cubicBezTo>
                <a:lnTo>
                  <a:pt x="36097" y="622685"/>
                </a:lnTo>
                <a:cubicBezTo>
                  <a:pt x="16161" y="622685"/>
                  <a:pt x="0" y="606524"/>
                  <a:pt x="0" y="586588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8295" y="6312586"/>
            <a:ext cx="1129858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in Depth Strategy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78295" y="6529172"/>
            <a:ext cx="1128955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security requires </a:t>
            </a:r>
            <a:pPr>
              <a:lnSpc>
                <a:spcPct val="140000"/>
              </a:lnSpc>
            </a:pPr>
            <a:r>
              <a:rPr lang="en-US" sz="85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controls</a:t>
            </a:r>
            <a:pPr>
              <a:lnSpc>
                <a:spcPct val="140000"/>
              </a:lnSpc>
            </a:pPr>
            <a:r>
              <a:rPr lang="en-US" sz="8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all categories and types. No single control is sufficient—multiple overlapping controls provide comprehensive protection.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308cff62b7537674562c21103086204e84ded03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1287" b="11287"/>
          <a:stretch/>
        </p:blipFill>
        <p:spPr>
          <a:xfrm>
            <a:off x="0" y="0"/>
            <a:ext cx="12192000" cy="685565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55"/>
          </a:xfrm>
          <a:custGeom>
            <a:avLst/>
            <a:gdLst/>
            <a:ahLst/>
            <a:cxnLst/>
            <a:rect l="l" t="t" r="r" b="b"/>
            <a:pathLst>
              <a:path w="12192000" h="6855655">
                <a:moveTo>
                  <a:pt x="0" y="0"/>
                </a:moveTo>
                <a:lnTo>
                  <a:pt x="12192000" y="0"/>
                </a:lnTo>
                <a:lnTo>
                  <a:pt x="12192000" y="6855655"/>
                </a:lnTo>
                <a:lnTo>
                  <a:pt x="0" y="685565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5138" y="375138"/>
            <a:ext cx="1150737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spc="103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VERIFICATION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5138" y="637735"/>
            <a:ext cx="11610535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Authentication: Verifying Identity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5138" y="1087902"/>
            <a:ext cx="11526129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process of confirming that users are who they claim to be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5138" y="1463040"/>
            <a:ext cx="900332" cy="37514"/>
          </a:xfrm>
          <a:custGeom>
            <a:avLst/>
            <a:gdLst/>
            <a:ahLst/>
            <a:cxnLst/>
            <a:rect l="l" t="t" r="r" b="b"/>
            <a:pathLst>
              <a:path w="900332" h="37514">
                <a:moveTo>
                  <a:pt x="0" y="0"/>
                </a:moveTo>
                <a:lnTo>
                  <a:pt x="900332" y="0"/>
                </a:lnTo>
                <a:lnTo>
                  <a:pt x="900332" y="37514"/>
                </a:lnTo>
                <a:lnTo>
                  <a:pt x="0" y="3751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5"/>
          <p:cNvSpPr/>
          <p:nvPr/>
        </p:nvSpPr>
        <p:spPr>
          <a:xfrm>
            <a:off x="379828" y="1692812"/>
            <a:ext cx="5598942" cy="1509932"/>
          </a:xfrm>
          <a:custGeom>
            <a:avLst/>
            <a:gdLst/>
            <a:ahLst/>
            <a:cxnLst/>
            <a:rect l="l" t="t" r="r" b="b"/>
            <a:pathLst>
              <a:path w="5598942" h="1509932">
                <a:moveTo>
                  <a:pt x="75029" y="0"/>
                </a:moveTo>
                <a:lnTo>
                  <a:pt x="5523913" y="0"/>
                </a:lnTo>
                <a:cubicBezTo>
                  <a:pt x="5565350" y="0"/>
                  <a:pt x="5598942" y="33591"/>
                  <a:pt x="5598942" y="75029"/>
                </a:cubicBezTo>
                <a:lnTo>
                  <a:pt x="5598942" y="1434904"/>
                </a:lnTo>
                <a:cubicBezTo>
                  <a:pt x="5598942" y="1476341"/>
                  <a:pt x="5565350" y="1509932"/>
                  <a:pt x="5523913" y="1509932"/>
                </a:cubicBezTo>
                <a:lnTo>
                  <a:pt x="75029" y="1509932"/>
                </a:lnTo>
                <a:cubicBezTo>
                  <a:pt x="33619" y="1509932"/>
                  <a:pt x="0" y="1476313"/>
                  <a:pt x="0" y="1434904"/>
                </a:cubicBezTo>
                <a:lnTo>
                  <a:pt x="0" y="75029"/>
                </a:lnTo>
                <a:cubicBezTo>
                  <a:pt x="0" y="33619"/>
                  <a:pt x="33619" y="0"/>
                  <a:pt x="7502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5532" y="1922585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23092" y="128954"/>
                </a:moveTo>
                <a:cubicBezTo>
                  <a:pt x="158701" y="128954"/>
                  <a:pt x="187569" y="100086"/>
                  <a:pt x="187569" y="64477"/>
                </a:cubicBezTo>
                <a:cubicBezTo>
                  <a:pt x="187569" y="28868"/>
                  <a:pt x="158701" y="0"/>
                  <a:pt x="123092" y="0"/>
                </a:cubicBezTo>
                <a:cubicBezTo>
                  <a:pt x="87483" y="0"/>
                  <a:pt x="58615" y="28868"/>
                  <a:pt x="58615" y="64477"/>
                </a:cubicBezTo>
                <a:cubicBezTo>
                  <a:pt x="58615" y="71328"/>
                  <a:pt x="59678" y="77958"/>
                  <a:pt x="61656" y="84150"/>
                </a:cubicBezTo>
                <a:lnTo>
                  <a:pt x="2564" y="143241"/>
                </a:lnTo>
                <a:cubicBezTo>
                  <a:pt x="916" y="144890"/>
                  <a:pt x="0" y="147125"/>
                  <a:pt x="0" y="149469"/>
                </a:cubicBezTo>
                <a:lnTo>
                  <a:pt x="0" y="178777"/>
                </a:lnTo>
                <a:cubicBezTo>
                  <a:pt x="0" y="183649"/>
                  <a:pt x="3920" y="187569"/>
                  <a:pt x="8792" y="187569"/>
                </a:cubicBezTo>
                <a:lnTo>
                  <a:pt x="38100" y="187569"/>
                </a:lnTo>
                <a:cubicBezTo>
                  <a:pt x="42972" y="187569"/>
                  <a:pt x="46892" y="183649"/>
                  <a:pt x="46892" y="178777"/>
                </a:cubicBezTo>
                <a:lnTo>
                  <a:pt x="46892" y="164123"/>
                </a:lnTo>
                <a:lnTo>
                  <a:pt x="61546" y="164123"/>
                </a:lnTo>
                <a:cubicBezTo>
                  <a:pt x="66419" y="164123"/>
                  <a:pt x="70338" y="160203"/>
                  <a:pt x="70338" y="155331"/>
                </a:cubicBezTo>
                <a:lnTo>
                  <a:pt x="70338" y="140677"/>
                </a:lnTo>
                <a:lnTo>
                  <a:pt x="84992" y="140677"/>
                </a:lnTo>
                <a:cubicBezTo>
                  <a:pt x="87337" y="140677"/>
                  <a:pt x="89572" y="139761"/>
                  <a:pt x="91220" y="138113"/>
                </a:cubicBezTo>
                <a:lnTo>
                  <a:pt x="103420" y="125913"/>
                </a:lnTo>
                <a:cubicBezTo>
                  <a:pt x="109611" y="127891"/>
                  <a:pt x="116242" y="128954"/>
                  <a:pt x="123092" y="128954"/>
                </a:cubicBezTo>
                <a:close/>
                <a:moveTo>
                  <a:pt x="137746" y="35169"/>
                </a:moveTo>
                <a:cubicBezTo>
                  <a:pt x="145834" y="35169"/>
                  <a:pt x="152400" y="41735"/>
                  <a:pt x="152400" y="49823"/>
                </a:cubicBezTo>
                <a:cubicBezTo>
                  <a:pt x="152400" y="57911"/>
                  <a:pt x="145834" y="64477"/>
                  <a:pt x="137746" y="64477"/>
                </a:cubicBezTo>
                <a:cubicBezTo>
                  <a:pt x="129658" y="64477"/>
                  <a:pt x="123092" y="57911"/>
                  <a:pt x="123092" y="49823"/>
                </a:cubicBezTo>
                <a:cubicBezTo>
                  <a:pt x="123092" y="41735"/>
                  <a:pt x="129658" y="35169"/>
                  <a:pt x="137746" y="3516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806548" y="1885071"/>
            <a:ext cx="507374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Authentication?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2086" y="2260209"/>
            <a:ext cx="5280074" cy="43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pPr>
              <a:lnSpc>
                <a:spcPct val="140000"/>
              </a:lnSpc>
            </a:pPr>
            <a:r>
              <a:rPr lang="en-US" sz="103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security process of verifying the identity of a user, device, or system attempting to access resources. It's the first line of defense in access control.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2086" y="2799471"/>
            <a:ext cx="5280074" cy="21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answers the question: </a:t>
            </a:r>
            <a:pPr>
              <a:lnSpc>
                <a:spcPct val="140000"/>
              </a:lnSpc>
            </a:pPr>
            <a:r>
              <a:rPr lang="en-US" sz="1034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"Are you who you say you are?"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9828" y="3364523"/>
            <a:ext cx="5598942" cy="3488788"/>
          </a:xfrm>
          <a:custGeom>
            <a:avLst/>
            <a:gdLst/>
            <a:ahLst/>
            <a:cxnLst/>
            <a:rect l="l" t="t" r="r" b="b"/>
            <a:pathLst>
              <a:path w="5598942" h="3488788">
                <a:moveTo>
                  <a:pt x="75044" y="0"/>
                </a:moveTo>
                <a:lnTo>
                  <a:pt x="5523898" y="0"/>
                </a:lnTo>
                <a:cubicBezTo>
                  <a:pt x="5565343" y="0"/>
                  <a:pt x="5598942" y="33598"/>
                  <a:pt x="5598942" y="75044"/>
                </a:cubicBezTo>
                <a:lnTo>
                  <a:pt x="5598942" y="3413744"/>
                </a:lnTo>
                <a:cubicBezTo>
                  <a:pt x="5598942" y="3455189"/>
                  <a:pt x="5565343" y="3488788"/>
                  <a:pt x="5523898" y="3488788"/>
                </a:cubicBezTo>
                <a:lnTo>
                  <a:pt x="75044" y="3488788"/>
                </a:lnTo>
                <a:cubicBezTo>
                  <a:pt x="33598" y="3488788"/>
                  <a:pt x="0" y="3455189"/>
                  <a:pt x="0" y="3413744"/>
                </a:cubicBezTo>
                <a:lnTo>
                  <a:pt x="0" y="75044"/>
                </a:lnTo>
                <a:cubicBezTo>
                  <a:pt x="0" y="33598"/>
                  <a:pt x="33598" y="0"/>
                  <a:pt x="7504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532" y="3594295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7585" y="93785"/>
                </a:moveTo>
                <a:cubicBezTo>
                  <a:pt x="17585" y="51691"/>
                  <a:pt x="51691" y="17585"/>
                  <a:pt x="93785" y="17585"/>
                </a:cubicBezTo>
                <a:cubicBezTo>
                  <a:pt x="116901" y="17585"/>
                  <a:pt x="137600" y="27879"/>
                  <a:pt x="151594" y="44145"/>
                </a:cubicBezTo>
                <a:cubicBezTo>
                  <a:pt x="154745" y="47845"/>
                  <a:pt x="160313" y="48248"/>
                  <a:pt x="163977" y="45097"/>
                </a:cubicBezTo>
                <a:cubicBezTo>
                  <a:pt x="167640" y="41947"/>
                  <a:pt x="168080" y="36378"/>
                  <a:pt x="164929" y="32715"/>
                </a:cubicBezTo>
                <a:cubicBezTo>
                  <a:pt x="147747" y="12676"/>
                  <a:pt x="122250" y="0"/>
                  <a:pt x="93785" y="0"/>
                </a:cubicBezTo>
                <a:cubicBezTo>
                  <a:pt x="41983" y="0"/>
                  <a:pt x="0" y="41983"/>
                  <a:pt x="0" y="93785"/>
                </a:cubicBezTo>
                <a:lnTo>
                  <a:pt x="0" y="108438"/>
                </a:lnTo>
                <a:cubicBezTo>
                  <a:pt x="0" y="113311"/>
                  <a:pt x="3920" y="117231"/>
                  <a:pt x="8792" y="117231"/>
                </a:cubicBezTo>
                <a:cubicBezTo>
                  <a:pt x="13665" y="117231"/>
                  <a:pt x="17585" y="113311"/>
                  <a:pt x="17585" y="108438"/>
                </a:cubicBezTo>
                <a:lnTo>
                  <a:pt x="17585" y="93785"/>
                </a:lnTo>
                <a:close/>
                <a:moveTo>
                  <a:pt x="185554" y="74405"/>
                </a:moveTo>
                <a:cubicBezTo>
                  <a:pt x="184565" y="69642"/>
                  <a:pt x="179876" y="66602"/>
                  <a:pt x="175150" y="67628"/>
                </a:cubicBezTo>
                <a:cubicBezTo>
                  <a:pt x="170424" y="68653"/>
                  <a:pt x="167347" y="73306"/>
                  <a:pt x="168373" y="78032"/>
                </a:cubicBezTo>
                <a:cubicBezTo>
                  <a:pt x="169435" y="83124"/>
                  <a:pt x="170021" y="88399"/>
                  <a:pt x="170021" y="93821"/>
                </a:cubicBezTo>
                <a:lnTo>
                  <a:pt x="170021" y="108475"/>
                </a:lnTo>
                <a:cubicBezTo>
                  <a:pt x="170021" y="113348"/>
                  <a:pt x="173941" y="117267"/>
                  <a:pt x="178814" y="117267"/>
                </a:cubicBezTo>
                <a:cubicBezTo>
                  <a:pt x="183686" y="117267"/>
                  <a:pt x="187606" y="113348"/>
                  <a:pt x="187606" y="108475"/>
                </a:cubicBezTo>
                <a:lnTo>
                  <a:pt x="187606" y="93821"/>
                </a:lnTo>
                <a:cubicBezTo>
                  <a:pt x="187606" y="87190"/>
                  <a:pt x="186910" y="80706"/>
                  <a:pt x="185591" y="74442"/>
                </a:cubicBezTo>
                <a:close/>
                <a:moveTo>
                  <a:pt x="93785" y="29308"/>
                </a:moveTo>
                <a:cubicBezTo>
                  <a:pt x="86824" y="29308"/>
                  <a:pt x="80083" y="30407"/>
                  <a:pt x="73819" y="32458"/>
                </a:cubicBezTo>
                <a:cubicBezTo>
                  <a:pt x="68250" y="34290"/>
                  <a:pt x="66968" y="41141"/>
                  <a:pt x="70778" y="45610"/>
                </a:cubicBezTo>
                <a:cubicBezTo>
                  <a:pt x="73379" y="48651"/>
                  <a:pt x="77665" y="49567"/>
                  <a:pt x="81549" y="48504"/>
                </a:cubicBezTo>
                <a:cubicBezTo>
                  <a:pt x="85432" y="47442"/>
                  <a:pt x="89535" y="46892"/>
                  <a:pt x="93785" y="46892"/>
                </a:cubicBezTo>
                <a:cubicBezTo>
                  <a:pt x="119685" y="46892"/>
                  <a:pt x="140677" y="67884"/>
                  <a:pt x="140677" y="93785"/>
                </a:cubicBezTo>
                <a:lnTo>
                  <a:pt x="140677" y="102907"/>
                </a:lnTo>
                <a:cubicBezTo>
                  <a:pt x="140677" y="112139"/>
                  <a:pt x="140127" y="121334"/>
                  <a:pt x="139065" y="130493"/>
                </a:cubicBezTo>
                <a:cubicBezTo>
                  <a:pt x="138442" y="135841"/>
                  <a:pt x="142509" y="140677"/>
                  <a:pt x="147931" y="140677"/>
                </a:cubicBezTo>
                <a:cubicBezTo>
                  <a:pt x="152253" y="140677"/>
                  <a:pt x="155954" y="137526"/>
                  <a:pt x="156466" y="133240"/>
                </a:cubicBezTo>
                <a:cubicBezTo>
                  <a:pt x="157675" y="123202"/>
                  <a:pt x="158298" y="113091"/>
                  <a:pt x="158298" y="102943"/>
                </a:cubicBezTo>
                <a:lnTo>
                  <a:pt x="158298" y="93821"/>
                </a:lnTo>
                <a:cubicBezTo>
                  <a:pt x="158298" y="58212"/>
                  <a:pt x="129430" y="29344"/>
                  <a:pt x="93821" y="29344"/>
                </a:cubicBezTo>
                <a:close/>
                <a:moveTo>
                  <a:pt x="55208" y="54476"/>
                </a:moveTo>
                <a:cubicBezTo>
                  <a:pt x="51875" y="50592"/>
                  <a:pt x="45940" y="50299"/>
                  <a:pt x="42789" y="54329"/>
                </a:cubicBezTo>
                <a:cubicBezTo>
                  <a:pt x="34327" y="65246"/>
                  <a:pt x="29308" y="78911"/>
                  <a:pt x="29308" y="93785"/>
                </a:cubicBezTo>
                <a:lnTo>
                  <a:pt x="29308" y="102907"/>
                </a:lnTo>
                <a:cubicBezTo>
                  <a:pt x="29308" y="111772"/>
                  <a:pt x="28355" y="120638"/>
                  <a:pt x="26450" y="129247"/>
                </a:cubicBezTo>
                <a:cubicBezTo>
                  <a:pt x="25205" y="134962"/>
                  <a:pt x="29344" y="140640"/>
                  <a:pt x="35206" y="140640"/>
                </a:cubicBezTo>
                <a:cubicBezTo>
                  <a:pt x="39053" y="140640"/>
                  <a:pt x="42496" y="138076"/>
                  <a:pt x="43339" y="134302"/>
                </a:cubicBezTo>
                <a:cubicBezTo>
                  <a:pt x="45683" y="124008"/>
                  <a:pt x="46892" y="113494"/>
                  <a:pt x="46892" y="102870"/>
                </a:cubicBezTo>
                <a:lnTo>
                  <a:pt x="46892" y="93748"/>
                </a:lnTo>
                <a:cubicBezTo>
                  <a:pt x="46892" y="83783"/>
                  <a:pt x="50006" y="74551"/>
                  <a:pt x="55282" y="66968"/>
                </a:cubicBezTo>
                <a:cubicBezTo>
                  <a:pt x="57919" y="63158"/>
                  <a:pt x="58212" y="57956"/>
                  <a:pt x="55208" y="54439"/>
                </a:cubicBezTo>
                <a:close/>
                <a:moveTo>
                  <a:pt x="93785" y="58615"/>
                </a:moveTo>
                <a:cubicBezTo>
                  <a:pt x="74368" y="58615"/>
                  <a:pt x="58615" y="74368"/>
                  <a:pt x="58615" y="93785"/>
                </a:cubicBezTo>
                <a:lnTo>
                  <a:pt x="58615" y="102907"/>
                </a:lnTo>
                <a:cubicBezTo>
                  <a:pt x="58615" y="116058"/>
                  <a:pt x="56930" y="129100"/>
                  <a:pt x="53560" y="141776"/>
                </a:cubicBezTo>
                <a:cubicBezTo>
                  <a:pt x="52168" y="147015"/>
                  <a:pt x="56014" y="152400"/>
                  <a:pt x="61436" y="152400"/>
                </a:cubicBezTo>
                <a:cubicBezTo>
                  <a:pt x="64917" y="152400"/>
                  <a:pt x="67994" y="150129"/>
                  <a:pt x="68910" y="146758"/>
                </a:cubicBezTo>
                <a:cubicBezTo>
                  <a:pt x="72756" y="132471"/>
                  <a:pt x="74735" y="117744"/>
                  <a:pt x="74735" y="102907"/>
                </a:cubicBezTo>
                <a:lnTo>
                  <a:pt x="74735" y="93785"/>
                </a:lnTo>
                <a:cubicBezTo>
                  <a:pt x="74735" y="83270"/>
                  <a:pt x="83270" y="74735"/>
                  <a:pt x="93785" y="74735"/>
                </a:cubicBezTo>
                <a:cubicBezTo>
                  <a:pt x="104299" y="74735"/>
                  <a:pt x="112835" y="83270"/>
                  <a:pt x="112835" y="93785"/>
                </a:cubicBezTo>
                <a:lnTo>
                  <a:pt x="112835" y="102907"/>
                </a:lnTo>
                <a:cubicBezTo>
                  <a:pt x="112835" y="116205"/>
                  <a:pt x="111552" y="129430"/>
                  <a:pt x="109025" y="142435"/>
                </a:cubicBezTo>
                <a:cubicBezTo>
                  <a:pt x="108035" y="147528"/>
                  <a:pt x="111845" y="152400"/>
                  <a:pt x="117011" y="152400"/>
                </a:cubicBezTo>
                <a:cubicBezTo>
                  <a:pt x="120748" y="152400"/>
                  <a:pt x="123972" y="149836"/>
                  <a:pt x="124704" y="146172"/>
                </a:cubicBezTo>
                <a:cubicBezTo>
                  <a:pt x="127525" y="131958"/>
                  <a:pt x="128954" y="117487"/>
                  <a:pt x="128954" y="102907"/>
                </a:cubicBezTo>
                <a:lnTo>
                  <a:pt x="128954" y="93785"/>
                </a:lnTo>
                <a:cubicBezTo>
                  <a:pt x="128954" y="74368"/>
                  <a:pt x="113201" y="58615"/>
                  <a:pt x="93785" y="58615"/>
                </a:cubicBezTo>
                <a:close/>
                <a:moveTo>
                  <a:pt x="102577" y="93785"/>
                </a:moveTo>
                <a:cubicBezTo>
                  <a:pt x="102577" y="88912"/>
                  <a:pt x="98657" y="84992"/>
                  <a:pt x="93785" y="84992"/>
                </a:cubicBezTo>
                <a:cubicBezTo>
                  <a:pt x="88912" y="84992"/>
                  <a:pt x="84992" y="88912"/>
                  <a:pt x="84992" y="93785"/>
                </a:cubicBezTo>
                <a:lnTo>
                  <a:pt x="84992" y="102907"/>
                </a:lnTo>
                <a:cubicBezTo>
                  <a:pt x="84992" y="124851"/>
                  <a:pt x="80963" y="146612"/>
                  <a:pt x="73086" y="167090"/>
                </a:cubicBezTo>
                <a:lnTo>
                  <a:pt x="70925" y="172696"/>
                </a:lnTo>
                <a:cubicBezTo>
                  <a:pt x="69166" y="177238"/>
                  <a:pt x="71438" y="182330"/>
                  <a:pt x="75980" y="184052"/>
                </a:cubicBezTo>
                <a:cubicBezTo>
                  <a:pt x="80523" y="185774"/>
                  <a:pt x="85615" y="183539"/>
                  <a:pt x="87337" y="178997"/>
                </a:cubicBezTo>
                <a:lnTo>
                  <a:pt x="89498" y="173392"/>
                </a:lnTo>
                <a:cubicBezTo>
                  <a:pt x="98144" y="150898"/>
                  <a:pt x="102577" y="127012"/>
                  <a:pt x="102577" y="102907"/>
                </a:cubicBezTo>
                <a:lnTo>
                  <a:pt x="102577" y="9378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806548" y="3556782"/>
            <a:ext cx="507374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Three Authentication Factors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1465" y="3969434"/>
            <a:ext cx="5205046" cy="825305"/>
          </a:xfrm>
          <a:custGeom>
            <a:avLst/>
            <a:gdLst/>
            <a:ahLst/>
            <a:cxnLst/>
            <a:rect l="l" t="t" r="r" b="b"/>
            <a:pathLst>
              <a:path w="5205046" h="825305">
                <a:moveTo>
                  <a:pt x="18757" y="0"/>
                </a:moveTo>
                <a:lnTo>
                  <a:pt x="5167536" y="0"/>
                </a:lnTo>
                <a:cubicBezTo>
                  <a:pt x="5188252" y="0"/>
                  <a:pt x="5205046" y="16794"/>
                  <a:pt x="5205046" y="37510"/>
                </a:cubicBezTo>
                <a:lnTo>
                  <a:pt x="5205046" y="787795"/>
                </a:lnTo>
                <a:cubicBezTo>
                  <a:pt x="5205046" y="808511"/>
                  <a:pt x="5188252" y="825305"/>
                  <a:pt x="5167536" y="825305"/>
                </a:cubicBezTo>
                <a:lnTo>
                  <a:pt x="18757" y="825305"/>
                </a:lnTo>
                <a:cubicBezTo>
                  <a:pt x="8398" y="825305"/>
                  <a:pt x="0" y="816907"/>
                  <a:pt x="0" y="806548"/>
                </a:cubicBezTo>
                <a:lnTo>
                  <a:pt x="0" y="18757"/>
                </a:lnTo>
                <a:cubicBezTo>
                  <a:pt x="0" y="8405"/>
                  <a:pt x="8405" y="0"/>
                  <a:pt x="187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81465" y="3969434"/>
            <a:ext cx="18757" cy="825305"/>
          </a:xfrm>
          <a:custGeom>
            <a:avLst/>
            <a:gdLst/>
            <a:ahLst/>
            <a:cxnLst/>
            <a:rect l="l" t="t" r="r" b="b"/>
            <a:pathLst>
              <a:path w="18757" h="825305">
                <a:moveTo>
                  <a:pt x="18757" y="0"/>
                </a:moveTo>
                <a:lnTo>
                  <a:pt x="18757" y="0"/>
                </a:lnTo>
                <a:lnTo>
                  <a:pt x="18757" y="825305"/>
                </a:lnTo>
                <a:lnTo>
                  <a:pt x="18757" y="825305"/>
                </a:lnTo>
                <a:cubicBezTo>
                  <a:pt x="8398" y="825305"/>
                  <a:pt x="0" y="816907"/>
                  <a:pt x="0" y="806548"/>
                </a:cubicBezTo>
                <a:lnTo>
                  <a:pt x="0" y="18757"/>
                </a:lnTo>
                <a:cubicBezTo>
                  <a:pt x="0" y="8405"/>
                  <a:pt x="8405" y="0"/>
                  <a:pt x="1875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Shape 15"/>
          <p:cNvSpPr/>
          <p:nvPr/>
        </p:nvSpPr>
        <p:spPr>
          <a:xfrm>
            <a:off x="703385" y="4081975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187569" y="0"/>
                </a:moveTo>
                <a:lnTo>
                  <a:pt x="187569" y="0"/>
                </a:lnTo>
                <a:cubicBezTo>
                  <a:pt x="291092" y="0"/>
                  <a:pt x="375138" y="84047"/>
                  <a:pt x="375138" y="187569"/>
                </a:cubicBezTo>
                <a:lnTo>
                  <a:pt x="375138" y="187569"/>
                </a:lnTo>
                <a:cubicBezTo>
                  <a:pt x="375138" y="291092"/>
                  <a:pt x="291092" y="375138"/>
                  <a:pt x="187569" y="375138"/>
                </a:cubicBezTo>
                <a:lnTo>
                  <a:pt x="187569" y="375138"/>
                </a:lnTo>
                <a:cubicBezTo>
                  <a:pt x="84047" y="375138"/>
                  <a:pt x="0" y="291092"/>
                  <a:pt x="0" y="187569"/>
                </a:cubicBezTo>
                <a:lnTo>
                  <a:pt x="0" y="187569"/>
                </a:lnTo>
                <a:cubicBezTo>
                  <a:pt x="0" y="84047"/>
                  <a:pt x="84047" y="0"/>
                  <a:pt x="187569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6"/>
          <p:cNvSpPr/>
          <p:nvPr/>
        </p:nvSpPr>
        <p:spPr>
          <a:xfrm>
            <a:off x="815926" y="4194517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35169" y="16412"/>
                </a:moveTo>
                <a:cubicBezTo>
                  <a:pt x="35169" y="7356"/>
                  <a:pt x="42525" y="0"/>
                  <a:pt x="51582" y="0"/>
                </a:cubicBezTo>
                <a:lnTo>
                  <a:pt x="58615" y="0"/>
                </a:lnTo>
                <a:cubicBezTo>
                  <a:pt x="63803" y="0"/>
                  <a:pt x="67994" y="4191"/>
                  <a:pt x="67994" y="9378"/>
                </a:cubicBezTo>
                <a:lnTo>
                  <a:pt x="67994" y="140677"/>
                </a:lnTo>
                <a:cubicBezTo>
                  <a:pt x="67994" y="145864"/>
                  <a:pt x="63803" y="150055"/>
                  <a:pt x="58615" y="150055"/>
                </a:cubicBezTo>
                <a:lnTo>
                  <a:pt x="49237" y="150055"/>
                </a:lnTo>
                <a:cubicBezTo>
                  <a:pt x="40503" y="150055"/>
                  <a:pt x="33147" y="144077"/>
                  <a:pt x="31066" y="135988"/>
                </a:cubicBezTo>
                <a:cubicBezTo>
                  <a:pt x="30861" y="135988"/>
                  <a:pt x="30685" y="135988"/>
                  <a:pt x="30480" y="135988"/>
                </a:cubicBezTo>
                <a:cubicBezTo>
                  <a:pt x="17526" y="135988"/>
                  <a:pt x="7034" y="125496"/>
                  <a:pt x="7034" y="112542"/>
                </a:cubicBezTo>
                <a:cubicBezTo>
                  <a:pt x="7034" y="107266"/>
                  <a:pt x="8792" y="102401"/>
                  <a:pt x="11723" y="98474"/>
                </a:cubicBezTo>
                <a:cubicBezTo>
                  <a:pt x="6037" y="94195"/>
                  <a:pt x="2345" y="87396"/>
                  <a:pt x="2345" y="79717"/>
                </a:cubicBezTo>
                <a:cubicBezTo>
                  <a:pt x="2345" y="70661"/>
                  <a:pt x="7503" y="62777"/>
                  <a:pt x="15006" y="58879"/>
                </a:cubicBezTo>
                <a:cubicBezTo>
                  <a:pt x="12925" y="55362"/>
                  <a:pt x="11723" y="51259"/>
                  <a:pt x="11723" y="46892"/>
                </a:cubicBezTo>
                <a:cubicBezTo>
                  <a:pt x="11723" y="33938"/>
                  <a:pt x="22215" y="23446"/>
                  <a:pt x="35169" y="23446"/>
                </a:cubicBezTo>
                <a:lnTo>
                  <a:pt x="35169" y="16412"/>
                </a:lnTo>
                <a:close/>
                <a:moveTo>
                  <a:pt x="114886" y="16412"/>
                </a:moveTo>
                <a:lnTo>
                  <a:pt x="114886" y="23446"/>
                </a:lnTo>
                <a:cubicBezTo>
                  <a:pt x="127840" y="23446"/>
                  <a:pt x="138332" y="33938"/>
                  <a:pt x="138332" y="46892"/>
                </a:cubicBezTo>
                <a:cubicBezTo>
                  <a:pt x="138332" y="51288"/>
                  <a:pt x="137131" y="55392"/>
                  <a:pt x="135050" y="58879"/>
                </a:cubicBezTo>
                <a:cubicBezTo>
                  <a:pt x="142582" y="62777"/>
                  <a:pt x="147711" y="70632"/>
                  <a:pt x="147711" y="79717"/>
                </a:cubicBezTo>
                <a:cubicBezTo>
                  <a:pt x="147711" y="87396"/>
                  <a:pt x="144018" y="94195"/>
                  <a:pt x="138332" y="98474"/>
                </a:cubicBezTo>
                <a:cubicBezTo>
                  <a:pt x="141263" y="102401"/>
                  <a:pt x="143022" y="107266"/>
                  <a:pt x="143022" y="112542"/>
                </a:cubicBezTo>
                <a:cubicBezTo>
                  <a:pt x="143022" y="125496"/>
                  <a:pt x="132529" y="135988"/>
                  <a:pt x="119575" y="135988"/>
                </a:cubicBezTo>
                <a:cubicBezTo>
                  <a:pt x="119370" y="135988"/>
                  <a:pt x="119194" y="135988"/>
                  <a:pt x="118989" y="135988"/>
                </a:cubicBezTo>
                <a:cubicBezTo>
                  <a:pt x="116908" y="144077"/>
                  <a:pt x="109552" y="150055"/>
                  <a:pt x="100818" y="150055"/>
                </a:cubicBezTo>
                <a:lnTo>
                  <a:pt x="91440" y="150055"/>
                </a:lnTo>
                <a:cubicBezTo>
                  <a:pt x="86253" y="150055"/>
                  <a:pt x="82062" y="145864"/>
                  <a:pt x="82062" y="140677"/>
                </a:cubicBezTo>
                <a:lnTo>
                  <a:pt x="82062" y="9378"/>
                </a:lnTo>
                <a:cubicBezTo>
                  <a:pt x="82062" y="4191"/>
                  <a:pt x="86253" y="0"/>
                  <a:pt x="91440" y="0"/>
                </a:cubicBezTo>
                <a:lnTo>
                  <a:pt x="98474" y="0"/>
                </a:lnTo>
                <a:cubicBezTo>
                  <a:pt x="107530" y="0"/>
                  <a:pt x="114886" y="7356"/>
                  <a:pt x="114886" y="1641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7"/>
          <p:cNvSpPr/>
          <p:nvPr/>
        </p:nvSpPr>
        <p:spPr>
          <a:xfrm>
            <a:off x="1191065" y="4081975"/>
            <a:ext cx="285105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Something You KNOW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91065" y="4307058"/>
            <a:ext cx="2841674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Knowledge-based factors that only the user should know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91065" y="4527452"/>
            <a:ext cx="2841674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Passwords, PINs, security questions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1465" y="4902591"/>
            <a:ext cx="5205046" cy="825305"/>
          </a:xfrm>
          <a:custGeom>
            <a:avLst/>
            <a:gdLst/>
            <a:ahLst/>
            <a:cxnLst/>
            <a:rect l="l" t="t" r="r" b="b"/>
            <a:pathLst>
              <a:path w="5205046" h="825305">
                <a:moveTo>
                  <a:pt x="18757" y="0"/>
                </a:moveTo>
                <a:lnTo>
                  <a:pt x="5167536" y="0"/>
                </a:lnTo>
                <a:cubicBezTo>
                  <a:pt x="5188252" y="0"/>
                  <a:pt x="5205046" y="16794"/>
                  <a:pt x="5205046" y="37510"/>
                </a:cubicBezTo>
                <a:lnTo>
                  <a:pt x="5205046" y="787795"/>
                </a:lnTo>
                <a:cubicBezTo>
                  <a:pt x="5205046" y="808511"/>
                  <a:pt x="5188252" y="825305"/>
                  <a:pt x="5167536" y="825305"/>
                </a:cubicBezTo>
                <a:lnTo>
                  <a:pt x="18757" y="825305"/>
                </a:lnTo>
                <a:cubicBezTo>
                  <a:pt x="8398" y="825305"/>
                  <a:pt x="0" y="816907"/>
                  <a:pt x="0" y="806548"/>
                </a:cubicBezTo>
                <a:lnTo>
                  <a:pt x="0" y="18757"/>
                </a:lnTo>
                <a:cubicBezTo>
                  <a:pt x="0" y="8405"/>
                  <a:pt x="8405" y="0"/>
                  <a:pt x="187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81465" y="4902591"/>
            <a:ext cx="18757" cy="825305"/>
          </a:xfrm>
          <a:custGeom>
            <a:avLst/>
            <a:gdLst/>
            <a:ahLst/>
            <a:cxnLst/>
            <a:rect l="l" t="t" r="r" b="b"/>
            <a:pathLst>
              <a:path w="18757" h="825305">
                <a:moveTo>
                  <a:pt x="18757" y="0"/>
                </a:moveTo>
                <a:lnTo>
                  <a:pt x="18757" y="0"/>
                </a:lnTo>
                <a:lnTo>
                  <a:pt x="18757" y="825305"/>
                </a:lnTo>
                <a:lnTo>
                  <a:pt x="18757" y="825305"/>
                </a:lnTo>
                <a:cubicBezTo>
                  <a:pt x="8398" y="825305"/>
                  <a:pt x="0" y="816907"/>
                  <a:pt x="0" y="806548"/>
                </a:cubicBezTo>
                <a:lnTo>
                  <a:pt x="0" y="18757"/>
                </a:lnTo>
                <a:cubicBezTo>
                  <a:pt x="0" y="8405"/>
                  <a:pt x="8405" y="0"/>
                  <a:pt x="18757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2"/>
          <p:cNvSpPr/>
          <p:nvPr/>
        </p:nvSpPr>
        <p:spPr>
          <a:xfrm>
            <a:off x="703385" y="5015132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187569" y="0"/>
                </a:moveTo>
                <a:lnTo>
                  <a:pt x="187569" y="0"/>
                </a:lnTo>
                <a:cubicBezTo>
                  <a:pt x="291092" y="0"/>
                  <a:pt x="375138" y="84047"/>
                  <a:pt x="375138" y="187569"/>
                </a:cubicBezTo>
                <a:lnTo>
                  <a:pt x="375138" y="187569"/>
                </a:lnTo>
                <a:cubicBezTo>
                  <a:pt x="375138" y="291092"/>
                  <a:pt x="291092" y="375138"/>
                  <a:pt x="187569" y="375138"/>
                </a:cubicBezTo>
                <a:lnTo>
                  <a:pt x="187569" y="375138"/>
                </a:lnTo>
                <a:cubicBezTo>
                  <a:pt x="84047" y="375138"/>
                  <a:pt x="0" y="291092"/>
                  <a:pt x="0" y="187569"/>
                </a:cubicBezTo>
                <a:lnTo>
                  <a:pt x="0" y="187569"/>
                </a:lnTo>
                <a:cubicBezTo>
                  <a:pt x="0" y="84047"/>
                  <a:pt x="84047" y="0"/>
                  <a:pt x="187569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3"/>
          <p:cNvSpPr/>
          <p:nvPr/>
        </p:nvSpPr>
        <p:spPr>
          <a:xfrm>
            <a:off x="834683" y="5127674"/>
            <a:ext cx="112542" cy="150055"/>
          </a:xfrm>
          <a:custGeom>
            <a:avLst/>
            <a:gdLst/>
            <a:ahLst/>
            <a:cxnLst/>
            <a:rect l="l" t="t" r="r" b="b"/>
            <a:pathLst>
              <a:path w="112542" h="150055">
                <a:moveTo>
                  <a:pt x="4689" y="18757"/>
                </a:moveTo>
                <a:cubicBezTo>
                  <a:pt x="4689" y="8411"/>
                  <a:pt x="13101" y="0"/>
                  <a:pt x="23446" y="0"/>
                </a:cubicBezTo>
                <a:lnTo>
                  <a:pt x="89095" y="0"/>
                </a:lnTo>
                <a:cubicBezTo>
                  <a:pt x="99441" y="0"/>
                  <a:pt x="107852" y="8411"/>
                  <a:pt x="107852" y="18757"/>
                </a:cubicBezTo>
                <a:lnTo>
                  <a:pt x="107852" y="131298"/>
                </a:lnTo>
                <a:cubicBezTo>
                  <a:pt x="107852" y="141644"/>
                  <a:pt x="99441" y="150055"/>
                  <a:pt x="89095" y="150055"/>
                </a:cubicBezTo>
                <a:lnTo>
                  <a:pt x="23446" y="150055"/>
                </a:lnTo>
                <a:cubicBezTo>
                  <a:pt x="13101" y="150055"/>
                  <a:pt x="4689" y="141644"/>
                  <a:pt x="4689" y="131298"/>
                </a:cubicBezTo>
                <a:lnTo>
                  <a:pt x="4689" y="18757"/>
                </a:lnTo>
                <a:close/>
                <a:moveTo>
                  <a:pt x="23446" y="18757"/>
                </a:moveTo>
                <a:lnTo>
                  <a:pt x="23446" y="107852"/>
                </a:lnTo>
                <a:lnTo>
                  <a:pt x="89095" y="107852"/>
                </a:lnTo>
                <a:lnTo>
                  <a:pt x="89095" y="18757"/>
                </a:lnTo>
                <a:lnTo>
                  <a:pt x="23446" y="18757"/>
                </a:lnTo>
                <a:close/>
                <a:moveTo>
                  <a:pt x="56271" y="138332"/>
                </a:moveTo>
                <a:cubicBezTo>
                  <a:pt x="61458" y="138332"/>
                  <a:pt x="65649" y="134141"/>
                  <a:pt x="65649" y="128954"/>
                </a:cubicBezTo>
                <a:cubicBezTo>
                  <a:pt x="65649" y="123766"/>
                  <a:pt x="61458" y="119575"/>
                  <a:pt x="56271" y="119575"/>
                </a:cubicBezTo>
                <a:cubicBezTo>
                  <a:pt x="51083" y="119575"/>
                  <a:pt x="46892" y="123766"/>
                  <a:pt x="46892" y="128954"/>
                </a:cubicBezTo>
                <a:cubicBezTo>
                  <a:pt x="46892" y="134141"/>
                  <a:pt x="51083" y="138332"/>
                  <a:pt x="56271" y="13833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Text 24"/>
          <p:cNvSpPr/>
          <p:nvPr/>
        </p:nvSpPr>
        <p:spPr>
          <a:xfrm>
            <a:off x="1191065" y="5015132"/>
            <a:ext cx="2944837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Something You HAVE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91065" y="5240215"/>
            <a:ext cx="293545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Possession-based factors that only the user should possess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91065" y="5460609"/>
            <a:ext cx="2935458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cards, tokens, mobile devices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81465" y="5835748"/>
            <a:ext cx="5205046" cy="825305"/>
          </a:xfrm>
          <a:custGeom>
            <a:avLst/>
            <a:gdLst/>
            <a:ahLst/>
            <a:cxnLst/>
            <a:rect l="l" t="t" r="r" b="b"/>
            <a:pathLst>
              <a:path w="5205046" h="825305">
                <a:moveTo>
                  <a:pt x="18757" y="0"/>
                </a:moveTo>
                <a:lnTo>
                  <a:pt x="5167536" y="0"/>
                </a:lnTo>
                <a:cubicBezTo>
                  <a:pt x="5188252" y="0"/>
                  <a:pt x="5205046" y="16794"/>
                  <a:pt x="5205046" y="37510"/>
                </a:cubicBezTo>
                <a:lnTo>
                  <a:pt x="5205046" y="787795"/>
                </a:lnTo>
                <a:cubicBezTo>
                  <a:pt x="5205046" y="808511"/>
                  <a:pt x="5188252" y="825305"/>
                  <a:pt x="5167536" y="825305"/>
                </a:cubicBezTo>
                <a:lnTo>
                  <a:pt x="18757" y="825305"/>
                </a:lnTo>
                <a:cubicBezTo>
                  <a:pt x="8398" y="825305"/>
                  <a:pt x="0" y="816907"/>
                  <a:pt x="0" y="806548"/>
                </a:cubicBezTo>
                <a:lnTo>
                  <a:pt x="0" y="18757"/>
                </a:lnTo>
                <a:cubicBezTo>
                  <a:pt x="0" y="8405"/>
                  <a:pt x="8405" y="0"/>
                  <a:pt x="187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81465" y="5835748"/>
            <a:ext cx="18757" cy="825305"/>
          </a:xfrm>
          <a:custGeom>
            <a:avLst/>
            <a:gdLst/>
            <a:ahLst/>
            <a:cxnLst/>
            <a:rect l="l" t="t" r="r" b="b"/>
            <a:pathLst>
              <a:path w="18757" h="825305">
                <a:moveTo>
                  <a:pt x="18757" y="0"/>
                </a:moveTo>
                <a:lnTo>
                  <a:pt x="18757" y="0"/>
                </a:lnTo>
                <a:lnTo>
                  <a:pt x="18757" y="825305"/>
                </a:lnTo>
                <a:lnTo>
                  <a:pt x="18757" y="825305"/>
                </a:lnTo>
                <a:cubicBezTo>
                  <a:pt x="8398" y="825305"/>
                  <a:pt x="0" y="816907"/>
                  <a:pt x="0" y="806548"/>
                </a:cubicBezTo>
                <a:lnTo>
                  <a:pt x="0" y="18757"/>
                </a:lnTo>
                <a:cubicBezTo>
                  <a:pt x="0" y="8405"/>
                  <a:pt x="8405" y="0"/>
                  <a:pt x="18757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2" name="Shape 29"/>
          <p:cNvSpPr/>
          <p:nvPr/>
        </p:nvSpPr>
        <p:spPr>
          <a:xfrm>
            <a:off x="712763" y="5957668"/>
            <a:ext cx="356382" cy="356382"/>
          </a:xfrm>
          <a:custGeom>
            <a:avLst/>
            <a:gdLst/>
            <a:ahLst/>
            <a:cxnLst/>
            <a:rect l="l" t="t" r="r" b="b"/>
            <a:pathLst>
              <a:path w="356382" h="356382">
                <a:moveTo>
                  <a:pt x="178191" y="0"/>
                </a:moveTo>
                <a:lnTo>
                  <a:pt x="178191" y="0"/>
                </a:lnTo>
                <a:cubicBezTo>
                  <a:pt x="276537" y="0"/>
                  <a:pt x="356382" y="79845"/>
                  <a:pt x="356382" y="178191"/>
                </a:cubicBezTo>
                <a:lnTo>
                  <a:pt x="356382" y="178191"/>
                </a:lnTo>
                <a:cubicBezTo>
                  <a:pt x="356382" y="276537"/>
                  <a:pt x="276537" y="356382"/>
                  <a:pt x="178191" y="356382"/>
                </a:cubicBezTo>
                <a:lnTo>
                  <a:pt x="178191" y="356382"/>
                </a:lnTo>
                <a:cubicBezTo>
                  <a:pt x="79845" y="356382"/>
                  <a:pt x="0" y="276537"/>
                  <a:pt x="0" y="178191"/>
                </a:cubicBezTo>
                <a:lnTo>
                  <a:pt x="0" y="178191"/>
                </a:lnTo>
                <a:cubicBezTo>
                  <a:pt x="0" y="79845"/>
                  <a:pt x="79845" y="0"/>
                  <a:pt x="178191" y="0"/>
                </a:cubicBezTo>
                <a:close/>
              </a:path>
            </a:pathLst>
          </a:custGeom>
          <a:solidFill>
            <a:srgbClr val="4A5C6A"/>
          </a:solidFill>
          <a:ln w="25400">
            <a:solidFill>
              <a:srgbClr val="EDF2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5926" y="6060831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14068" y="75028"/>
                </a:moveTo>
                <a:cubicBezTo>
                  <a:pt x="14068" y="41353"/>
                  <a:pt x="41353" y="14068"/>
                  <a:pt x="75028" y="14068"/>
                </a:cubicBezTo>
                <a:cubicBezTo>
                  <a:pt x="93521" y="14068"/>
                  <a:pt x="110080" y="22303"/>
                  <a:pt x="121275" y="35316"/>
                </a:cubicBezTo>
                <a:cubicBezTo>
                  <a:pt x="123796" y="38276"/>
                  <a:pt x="128250" y="38598"/>
                  <a:pt x="131181" y="36078"/>
                </a:cubicBezTo>
                <a:cubicBezTo>
                  <a:pt x="134112" y="33557"/>
                  <a:pt x="134464" y="29103"/>
                  <a:pt x="131943" y="26172"/>
                </a:cubicBezTo>
                <a:cubicBezTo>
                  <a:pt x="118198" y="10140"/>
                  <a:pt x="97800" y="0"/>
                  <a:pt x="75028" y="0"/>
                </a:cubicBezTo>
                <a:cubicBezTo>
                  <a:pt x="33587" y="0"/>
                  <a:pt x="0" y="33587"/>
                  <a:pt x="0" y="75028"/>
                </a:cubicBezTo>
                <a:lnTo>
                  <a:pt x="0" y="86751"/>
                </a:lnTo>
                <a:cubicBezTo>
                  <a:pt x="0" y="90649"/>
                  <a:pt x="3136" y="93785"/>
                  <a:pt x="7034" y="93785"/>
                </a:cubicBezTo>
                <a:cubicBezTo>
                  <a:pt x="10932" y="93785"/>
                  <a:pt x="14068" y="90649"/>
                  <a:pt x="14068" y="86751"/>
                </a:cubicBezTo>
                <a:lnTo>
                  <a:pt x="14068" y="75028"/>
                </a:lnTo>
                <a:close/>
                <a:moveTo>
                  <a:pt x="148443" y="59524"/>
                </a:moveTo>
                <a:cubicBezTo>
                  <a:pt x="147652" y="55714"/>
                  <a:pt x="143901" y="53281"/>
                  <a:pt x="140120" y="54102"/>
                </a:cubicBezTo>
                <a:cubicBezTo>
                  <a:pt x="136339" y="54923"/>
                  <a:pt x="133878" y="58645"/>
                  <a:pt x="134698" y="62425"/>
                </a:cubicBezTo>
                <a:cubicBezTo>
                  <a:pt x="135548" y="66499"/>
                  <a:pt x="136017" y="70719"/>
                  <a:pt x="136017" y="75057"/>
                </a:cubicBezTo>
                <a:lnTo>
                  <a:pt x="136017" y="86780"/>
                </a:lnTo>
                <a:cubicBezTo>
                  <a:pt x="136017" y="90678"/>
                  <a:pt x="139153" y="93814"/>
                  <a:pt x="143051" y="93814"/>
                </a:cubicBezTo>
                <a:cubicBezTo>
                  <a:pt x="146949" y="93814"/>
                  <a:pt x="150085" y="90678"/>
                  <a:pt x="150085" y="86780"/>
                </a:cubicBezTo>
                <a:lnTo>
                  <a:pt x="150085" y="75057"/>
                </a:lnTo>
                <a:cubicBezTo>
                  <a:pt x="150085" y="69752"/>
                  <a:pt x="149528" y="64565"/>
                  <a:pt x="148473" y="59553"/>
                </a:cubicBezTo>
                <a:close/>
                <a:moveTo>
                  <a:pt x="75028" y="23446"/>
                </a:moveTo>
                <a:cubicBezTo>
                  <a:pt x="69459" y="23446"/>
                  <a:pt x="64067" y="24325"/>
                  <a:pt x="59055" y="25967"/>
                </a:cubicBezTo>
                <a:cubicBezTo>
                  <a:pt x="54600" y="27432"/>
                  <a:pt x="53574" y="32913"/>
                  <a:pt x="56622" y="36488"/>
                </a:cubicBezTo>
                <a:cubicBezTo>
                  <a:pt x="58703" y="38921"/>
                  <a:pt x="62132" y="39653"/>
                  <a:pt x="65239" y="38803"/>
                </a:cubicBezTo>
                <a:cubicBezTo>
                  <a:pt x="68346" y="37953"/>
                  <a:pt x="71628" y="37514"/>
                  <a:pt x="75028" y="37514"/>
                </a:cubicBezTo>
                <a:cubicBezTo>
                  <a:pt x="95748" y="37514"/>
                  <a:pt x="112542" y="54307"/>
                  <a:pt x="112542" y="75028"/>
                </a:cubicBezTo>
                <a:lnTo>
                  <a:pt x="112542" y="82325"/>
                </a:lnTo>
                <a:cubicBezTo>
                  <a:pt x="112542" y="89711"/>
                  <a:pt x="112102" y="97067"/>
                  <a:pt x="111252" y="104394"/>
                </a:cubicBezTo>
                <a:cubicBezTo>
                  <a:pt x="110754" y="108673"/>
                  <a:pt x="114007" y="112542"/>
                  <a:pt x="118344" y="112542"/>
                </a:cubicBezTo>
                <a:cubicBezTo>
                  <a:pt x="121803" y="112542"/>
                  <a:pt x="124763" y="110021"/>
                  <a:pt x="125173" y="106592"/>
                </a:cubicBezTo>
                <a:cubicBezTo>
                  <a:pt x="126140" y="98562"/>
                  <a:pt x="126639" y="90473"/>
                  <a:pt x="126639" y="82355"/>
                </a:cubicBezTo>
                <a:lnTo>
                  <a:pt x="126639" y="75057"/>
                </a:lnTo>
                <a:cubicBezTo>
                  <a:pt x="126639" y="46570"/>
                  <a:pt x="103544" y="23475"/>
                  <a:pt x="75057" y="23475"/>
                </a:cubicBezTo>
                <a:close/>
                <a:moveTo>
                  <a:pt x="44167" y="43581"/>
                </a:moveTo>
                <a:cubicBezTo>
                  <a:pt x="41500" y="40474"/>
                  <a:pt x="36752" y="40239"/>
                  <a:pt x="34231" y="43463"/>
                </a:cubicBezTo>
                <a:cubicBezTo>
                  <a:pt x="27461" y="52197"/>
                  <a:pt x="23446" y="63129"/>
                  <a:pt x="23446" y="75028"/>
                </a:cubicBezTo>
                <a:lnTo>
                  <a:pt x="23446" y="82325"/>
                </a:lnTo>
                <a:cubicBezTo>
                  <a:pt x="23446" y="89418"/>
                  <a:pt x="22684" y="96510"/>
                  <a:pt x="21160" y="103398"/>
                </a:cubicBezTo>
                <a:cubicBezTo>
                  <a:pt x="20164" y="107970"/>
                  <a:pt x="23475" y="112512"/>
                  <a:pt x="28165" y="112512"/>
                </a:cubicBezTo>
                <a:cubicBezTo>
                  <a:pt x="31242" y="112512"/>
                  <a:pt x="33997" y="110461"/>
                  <a:pt x="34671" y="107442"/>
                </a:cubicBezTo>
                <a:cubicBezTo>
                  <a:pt x="36547" y="99207"/>
                  <a:pt x="37514" y="90795"/>
                  <a:pt x="37514" y="82296"/>
                </a:cubicBezTo>
                <a:lnTo>
                  <a:pt x="37514" y="74998"/>
                </a:lnTo>
                <a:cubicBezTo>
                  <a:pt x="37514" y="67027"/>
                  <a:pt x="40005" y="59641"/>
                  <a:pt x="44225" y="53574"/>
                </a:cubicBezTo>
                <a:cubicBezTo>
                  <a:pt x="46335" y="50526"/>
                  <a:pt x="46570" y="46365"/>
                  <a:pt x="44167" y="43551"/>
                </a:cubicBezTo>
                <a:close/>
                <a:moveTo>
                  <a:pt x="75028" y="46892"/>
                </a:moveTo>
                <a:cubicBezTo>
                  <a:pt x="59495" y="46892"/>
                  <a:pt x="46892" y="59495"/>
                  <a:pt x="46892" y="75028"/>
                </a:cubicBezTo>
                <a:lnTo>
                  <a:pt x="46892" y="82325"/>
                </a:lnTo>
                <a:cubicBezTo>
                  <a:pt x="46892" y="92847"/>
                  <a:pt x="45544" y="103280"/>
                  <a:pt x="42848" y="113421"/>
                </a:cubicBezTo>
                <a:cubicBezTo>
                  <a:pt x="41734" y="117612"/>
                  <a:pt x="44811" y="121920"/>
                  <a:pt x="49149" y="121920"/>
                </a:cubicBezTo>
                <a:cubicBezTo>
                  <a:pt x="51933" y="121920"/>
                  <a:pt x="54395" y="120103"/>
                  <a:pt x="55128" y="117407"/>
                </a:cubicBezTo>
                <a:cubicBezTo>
                  <a:pt x="58205" y="105977"/>
                  <a:pt x="59788" y="94195"/>
                  <a:pt x="59788" y="82325"/>
                </a:cubicBezTo>
                <a:lnTo>
                  <a:pt x="59788" y="75028"/>
                </a:lnTo>
                <a:cubicBezTo>
                  <a:pt x="59788" y="66616"/>
                  <a:pt x="66616" y="59788"/>
                  <a:pt x="75028" y="59788"/>
                </a:cubicBezTo>
                <a:cubicBezTo>
                  <a:pt x="83439" y="59788"/>
                  <a:pt x="90268" y="66616"/>
                  <a:pt x="90268" y="75028"/>
                </a:cubicBezTo>
                <a:lnTo>
                  <a:pt x="90268" y="82325"/>
                </a:lnTo>
                <a:cubicBezTo>
                  <a:pt x="90268" y="92964"/>
                  <a:pt x="89242" y="103544"/>
                  <a:pt x="87220" y="113948"/>
                </a:cubicBezTo>
                <a:cubicBezTo>
                  <a:pt x="86428" y="118022"/>
                  <a:pt x="89476" y="121920"/>
                  <a:pt x="93609" y="121920"/>
                </a:cubicBezTo>
                <a:cubicBezTo>
                  <a:pt x="96598" y="121920"/>
                  <a:pt x="99177" y="119868"/>
                  <a:pt x="99763" y="116938"/>
                </a:cubicBezTo>
                <a:cubicBezTo>
                  <a:pt x="102020" y="105566"/>
                  <a:pt x="103163" y="93990"/>
                  <a:pt x="103163" y="82325"/>
                </a:cubicBezTo>
                <a:lnTo>
                  <a:pt x="103163" y="75028"/>
                </a:lnTo>
                <a:cubicBezTo>
                  <a:pt x="103163" y="59495"/>
                  <a:pt x="90561" y="46892"/>
                  <a:pt x="75028" y="46892"/>
                </a:cubicBezTo>
                <a:close/>
                <a:moveTo>
                  <a:pt x="82062" y="75028"/>
                </a:moveTo>
                <a:cubicBezTo>
                  <a:pt x="82062" y="71130"/>
                  <a:pt x="78926" y="67994"/>
                  <a:pt x="75028" y="67994"/>
                </a:cubicBezTo>
                <a:cubicBezTo>
                  <a:pt x="71130" y="67994"/>
                  <a:pt x="67994" y="71130"/>
                  <a:pt x="67994" y="75028"/>
                </a:cubicBezTo>
                <a:lnTo>
                  <a:pt x="67994" y="82325"/>
                </a:lnTo>
                <a:cubicBezTo>
                  <a:pt x="67994" y="99881"/>
                  <a:pt x="64770" y="117289"/>
                  <a:pt x="58469" y="133672"/>
                </a:cubicBezTo>
                <a:lnTo>
                  <a:pt x="56740" y="138156"/>
                </a:lnTo>
                <a:cubicBezTo>
                  <a:pt x="55333" y="141791"/>
                  <a:pt x="57150" y="145864"/>
                  <a:pt x="60784" y="147242"/>
                </a:cubicBezTo>
                <a:cubicBezTo>
                  <a:pt x="64418" y="148619"/>
                  <a:pt x="68492" y="146832"/>
                  <a:pt x="69870" y="143197"/>
                </a:cubicBezTo>
                <a:lnTo>
                  <a:pt x="71599" y="138713"/>
                </a:lnTo>
                <a:cubicBezTo>
                  <a:pt x="78515" y="120718"/>
                  <a:pt x="82062" y="101610"/>
                  <a:pt x="82062" y="82325"/>
                </a:cubicBezTo>
                <a:lnTo>
                  <a:pt x="82062" y="75028"/>
                </a:ln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34" name="Text 31"/>
          <p:cNvSpPr/>
          <p:nvPr/>
        </p:nvSpPr>
        <p:spPr>
          <a:xfrm>
            <a:off x="1191065" y="5948289"/>
            <a:ext cx="3310597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Something You ARE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91065" y="6173372"/>
            <a:ext cx="330121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Inherence-based factors based on unique biological characteristics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91065" y="6393766"/>
            <a:ext cx="3301218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b="1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Fingerprints, facial recognition, iris scan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211106" y="1692812"/>
            <a:ext cx="5598942" cy="3732628"/>
          </a:xfrm>
          <a:custGeom>
            <a:avLst/>
            <a:gdLst/>
            <a:ahLst/>
            <a:cxnLst/>
            <a:rect l="l" t="t" r="r" b="b"/>
            <a:pathLst>
              <a:path w="5598942" h="3732628">
                <a:moveTo>
                  <a:pt x="75026" y="0"/>
                </a:moveTo>
                <a:lnTo>
                  <a:pt x="5523916" y="0"/>
                </a:lnTo>
                <a:cubicBezTo>
                  <a:pt x="5565351" y="0"/>
                  <a:pt x="5598942" y="33590"/>
                  <a:pt x="5598942" y="75026"/>
                </a:cubicBezTo>
                <a:lnTo>
                  <a:pt x="5598942" y="3657602"/>
                </a:lnTo>
                <a:cubicBezTo>
                  <a:pt x="5598942" y="3699037"/>
                  <a:pt x="5565351" y="3732628"/>
                  <a:pt x="5523916" y="3732628"/>
                </a:cubicBezTo>
                <a:lnTo>
                  <a:pt x="75026" y="3732628"/>
                </a:lnTo>
                <a:cubicBezTo>
                  <a:pt x="33590" y="3732628"/>
                  <a:pt x="0" y="3699037"/>
                  <a:pt x="0" y="3657602"/>
                </a:cubicBezTo>
                <a:lnTo>
                  <a:pt x="0" y="75026"/>
                </a:lnTo>
                <a:cubicBezTo>
                  <a:pt x="0" y="33618"/>
                  <a:pt x="33618" y="0"/>
                  <a:pt x="75026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03364" y="1885071"/>
            <a:ext cx="525194" cy="525194"/>
          </a:xfrm>
          <a:custGeom>
            <a:avLst/>
            <a:gdLst/>
            <a:ahLst/>
            <a:cxnLst/>
            <a:rect l="l" t="t" r="r" b="b"/>
            <a:pathLst>
              <a:path w="525194" h="525194">
                <a:moveTo>
                  <a:pt x="262597" y="0"/>
                </a:moveTo>
                <a:lnTo>
                  <a:pt x="262597" y="0"/>
                </a:lnTo>
                <a:cubicBezTo>
                  <a:pt x="407625" y="0"/>
                  <a:pt x="525194" y="117569"/>
                  <a:pt x="525194" y="262597"/>
                </a:cubicBezTo>
                <a:lnTo>
                  <a:pt x="525194" y="262597"/>
                </a:lnTo>
                <a:cubicBezTo>
                  <a:pt x="525194" y="407625"/>
                  <a:pt x="407625" y="525194"/>
                  <a:pt x="262597" y="525194"/>
                </a:cubicBezTo>
                <a:lnTo>
                  <a:pt x="262597" y="525194"/>
                </a:lnTo>
                <a:cubicBezTo>
                  <a:pt x="117569" y="525194"/>
                  <a:pt x="0" y="407625"/>
                  <a:pt x="0" y="262597"/>
                </a:cubicBezTo>
                <a:lnTo>
                  <a:pt x="0" y="262597"/>
                </a:lnTo>
                <a:cubicBezTo>
                  <a:pt x="0" y="117569"/>
                  <a:pt x="117569" y="0"/>
                  <a:pt x="26259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9" name="Shape 36"/>
          <p:cNvSpPr/>
          <p:nvPr/>
        </p:nvSpPr>
        <p:spPr>
          <a:xfrm>
            <a:off x="6553420" y="2035126"/>
            <a:ext cx="225083" cy="225083"/>
          </a:xfrm>
          <a:custGeom>
            <a:avLst/>
            <a:gdLst/>
            <a:ahLst/>
            <a:cxnLst/>
            <a:rect l="l" t="t" r="r" b="b"/>
            <a:pathLst>
              <a:path w="225083" h="225083">
                <a:moveTo>
                  <a:pt x="112542" y="0"/>
                </a:moveTo>
                <a:cubicBezTo>
                  <a:pt x="114564" y="0"/>
                  <a:pt x="116586" y="440"/>
                  <a:pt x="118432" y="1275"/>
                </a:cubicBezTo>
                <a:lnTo>
                  <a:pt x="201256" y="36400"/>
                </a:lnTo>
                <a:cubicBezTo>
                  <a:pt x="210927" y="40489"/>
                  <a:pt x="218137" y="50028"/>
                  <a:pt x="218093" y="61546"/>
                </a:cubicBezTo>
                <a:cubicBezTo>
                  <a:pt x="217873" y="105156"/>
                  <a:pt x="199937" y="184946"/>
                  <a:pt x="124191" y="221214"/>
                </a:cubicBezTo>
                <a:cubicBezTo>
                  <a:pt x="116850" y="224731"/>
                  <a:pt x="108321" y="224731"/>
                  <a:pt x="100980" y="221214"/>
                </a:cubicBezTo>
                <a:cubicBezTo>
                  <a:pt x="25190" y="184946"/>
                  <a:pt x="7298" y="105156"/>
                  <a:pt x="7078" y="61546"/>
                </a:cubicBezTo>
                <a:cubicBezTo>
                  <a:pt x="7034" y="50028"/>
                  <a:pt x="14244" y="40489"/>
                  <a:pt x="23915" y="36400"/>
                </a:cubicBezTo>
                <a:lnTo>
                  <a:pt x="106695" y="1275"/>
                </a:lnTo>
                <a:cubicBezTo>
                  <a:pt x="108541" y="440"/>
                  <a:pt x="110519" y="0"/>
                  <a:pt x="112542" y="0"/>
                </a:cubicBezTo>
                <a:close/>
                <a:moveTo>
                  <a:pt x="112542" y="29366"/>
                </a:moveTo>
                <a:lnTo>
                  <a:pt x="112542" y="195585"/>
                </a:lnTo>
                <a:cubicBezTo>
                  <a:pt x="173208" y="166219"/>
                  <a:pt x="189518" y="101156"/>
                  <a:pt x="189914" y="62206"/>
                </a:cubicBezTo>
                <a:lnTo>
                  <a:pt x="112542" y="29410"/>
                </a:lnTo>
                <a:lnTo>
                  <a:pt x="112542" y="2941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7"/>
          <p:cNvSpPr/>
          <p:nvPr/>
        </p:nvSpPr>
        <p:spPr>
          <a:xfrm>
            <a:off x="7041100" y="1903828"/>
            <a:ext cx="2860431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2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Multi-Factor Authentication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041100" y="2203938"/>
            <a:ext cx="281353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MFA / 2FA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03364" y="2560320"/>
            <a:ext cx="5280074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MFA?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03364" y="2822917"/>
            <a:ext cx="5280074" cy="43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MFA requires users to provide </a:t>
            </a:r>
            <a:pPr>
              <a:lnSpc>
                <a:spcPct val="14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or more authentication factors</a:t>
            </a:r>
            <a:pPr>
              <a:lnSpc>
                <a:spcPct val="140000"/>
              </a:lnSpc>
            </a:pPr>
            <a:r>
              <a:rPr lang="en-US" sz="103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different categories before granting access.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03364" y="3362178"/>
            <a:ext cx="5214425" cy="975360"/>
          </a:xfrm>
          <a:custGeom>
            <a:avLst/>
            <a:gdLst/>
            <a:ahLst/>
            <a:cxnLst/>
            <a:rect l="l" t="t" r="r" b="b"/>
            <a:pathLst>
              <a:path w="5214425" h="975360">
                <a:moveTo>
                  <a:pt x="37512" y="0"/>
                </a:moveTo>
                <a:lnTo>
                  <a:pt x="5176912" y="0"/>
                </a:lnTo>
                <a:cubicBezTo>
                  <a:pt x="5197630" y="0"/>
                  <a:pt x="5214425" y="16795"/>
                  <a:pt x="5214425" y="37512"/>
                </a:cubicBezTo>
                <a:lnTo>
                  <a:pt x="5214425" y="937848"/>
                </a:lnTo>
                <a:cubicBezTo>
                  <a:pt x="5214425" y="958565"/>
                  <a:pt x="5197630" y="975360"/>
                  <a:pt x="5176912" y="975360"/>
                </a:cubicBezTo>
                <a:lnTo>
                  <a:pt x="37512" y="975360"/>
                </a:lnTo>
                <a:cubicBezTo>
                  <a:pt x="16795" y="975360"/>
                  <a:pt x="0" y="958565"/>
                  <a:pt x="0" y="937848"/>
                </a:cubicBezTo>
                <a:lnTo>
                  <a:pt x="0" y="37512"/>
                </a:lnTo>
                <a:cubicBezTo>
                  <a:pt x="0" y="16809"/>
                  <a:pt x="16809" y="0"/>
                  <a:pt x="375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445568" y="3474720"/>
            <a:ext cx="5130018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87771" y="3812345"/>
            <a:ext cx="5045612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automated attacks blocked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487771" y="4037428"/>
            <a:ext cx="504561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research shows MFA blocks nearly all automated account takeover attempts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403364" y="4445391"/>
            <a:ext cx="5280074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MFA Combinations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03364" y="4707988"/>
            <a:ext cx="5270695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1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Password + SMS code (2FA)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03364" y="4895557"/>
            <a:ext cx="5270695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1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Password + Authenticator app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03364" y="5083126"/>
            <a:ext cx="5270695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1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Password + Biometric + Token (3FA)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211106" y="5584874"/>
            <a:ext cx="5598942" cy="825305"/>
          </a:xfrm>
          <a:custGeom>
            <a:avLst/>
            <a:gdLst/>
            <a:ahLst/>
            <a:cxnLst/>
            <a:rect l="l" t="t" r="r" b="b"/>
            <a:pathLst>
              <a:path w="5598942" h="825305">
                <a:moveTo>
                  <a:pt x="37510" y="0"/>
                </a:moveTo>
                <a:lnTo>
                  <a:pt x="5561431" y="0"/>
                </a:lnTo>
                <a:cubicBezTo>
                  <a:pt x="5582148" y="0"/>
                  <a:pt x="5598942" y="16794"/>
                  <a:pt x="5598942" y="37510"/>
                </a:cubicBezTo>
                <a:lnTo>
                  <a:pt x="5598942" y="787795"/>
                </a:lnTo>
                <a:cubicBezTo>
                  <a:pt x="5598942" y="808511"/>
                  <a:pt x="5582148" y="825305"/>
                  <a:pt x="5561431" y="825305"/>
                </a:cubicBezTo>
                <a:lnTo>
                  <a:pt x="37510" y="825305"/>
                </a:lnTo>
                <a:cubicBezTo>
                  <a:pt x="16794" y="825305"/>
                  <a:pt x="0" y="808511"/>
                  <a:pt x="0" y="787795"/>
                </a:cubicBezTo>
                <a:lnTo>
                  <a:pt x="0" y="37510"/>
                </a:lnTo>
                <a:cubicBezTo>
                  <a:pt x="0" y="16794"/>
                  <a:pt x="16794" y="0"/>
                  <a:pt x="3751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28337" y="5702105"/>
            <a:ext cx="5430129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328337" y="5927188"/>
            <a:ext cx="5420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rely on single-factor authentication for sensitive systems. MFA should be mandatory for all privileged accounts and remote access.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Methods in Practice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technologies and approaches for verifying identity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38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400969"/>
            <a:ext cx="3762375" cy="3055938"/>
          </a:xfrm>
          <a:custGeom>
            <a:avLst/>
            <a:gdLst/>
            <a:ahLst/>
            <a:cxnLst/>
            <a:rect l="l" t="t" r="r" b="b"/>
            <a:pathLst>
              <a:path w="3762375" h="3055938">
                <a:moveTo>
                  <a:pt x="63502" y="0"/>
                </a:moveTo>
                <a:lnTo>
                  <a:pt x="3698873" y="0"/>
                </a:lnTo>
                <a:cubicBezTo>
                  <a:pt x="3733944" y="0"/>
                  <a:pt x="3762375" y="28431"/>
                  <a:pt x="3762375" y="63502"/>
                </a:cubicBezTo>
                <a:lnTo>
                  <a:pt x="3762375" y="2992435"/>
                </a:lnTo>
                <a:cubicBezTo>
                  <a:pt x="3762375" y="3027507"/>
                  <a:pt x="3733944" y="3055937"/>
                  <a:pt x="3698873" y="3055938"/>
                </a:cubicBezTo>
                <a:lnTo>
                  <a:pt x="63502" y="3055938"/>
                </a:lnTo>
                <a:cubicBezTo>
                  <a:pt x="28431" y="3055938"/>
                  <a:pt x="0" y="3027507"/>
                  <a:pt x="0" y="299243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438" y="1531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3641" y="16430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9844" y="19844"/>
                </a:moveTo>
                <a:cubicBezTo>
                  <a:pt x="8899" y="19844"/>
                  <a:pt x="0" y="28742"/>
                  <a:pt x="0" y="39688"/>
                </a:cubicBez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lnTo>
                  <a:pt x="158750" y="138906"/>
                </a:lnTo>
                <a:cubicBezTo>
                  <a:pt x="169695" y="138906"/>
                  <a:pt x="178594" y="130008"/>
                  <a:pt x="178594" y="119062"/>
                </a:cubicBezTo>
                <a:lnTo>
                  <a:pt x="178594" y="39688"/>
                </a:lnTo>
                <a:cubicBezTo>
                  <a:pt x="178594" y="28742"/>
                  <a:pt x="169695" y="19844"/>
                  <a:pt x="158750" y="19844"/>
                </a:cubicBezTo>
                <a:lnTo>
                  <a:pt x="19844" y="19844"/>
                </a:lnTo>
                <a:close/>
                <a:moveTo>
                  <a:pt x="24805" y="39688"/>
                </a:moveTo>
                <a:lnTo>
                  <a:pt x="34727" y="39688"/>
                </a:lnTo>
                <a:cubicBezTo>
                  <a:pt x="37455" y="39688"/>
                  <a:pt x="39688" y="41920"/>
                  <a:pt x="39688" y="44648"/>
                </a:cubicBezTo>
                <a:lnTo>
                  <a:pt x="39688" y="54570"/>
                </a:lnTo>
                <a:cubicBezTo>
                  <a:pt x="39688" y="57299"/>
                  <a:pt x="37455" y="59531"/>
                  <a:pt x="34727" y="59531"/>
                </a:cubicBezTo>
                <a:lnTo>
                  <a:pt x="24805" y="59531"/>
                </a:lnTo>
                <a:cubicBezTo>
                  <a:pt x="22076" y="59531"/>
                  <a:pt x="19844" y="57299"/>
                  <a:pt x="19844" y="54570"/>
                </a:cubicBezTo>
                <a:lnTo>
                  <a:pt x="19844" y="44648"/>
                </a:lnTo>
                <a:cubicBezTo>
                  <a:pt x="19844" y="41920"/>
                  <a:pt x="22076" y="39688"/>
                  <a:pt x="24805" y="39688"/>
                </a:cubicBezTo>
                <a:close/>
                <a:moveTo>
                  <a:pt x="19844" y="74414"/>
                </a:moveTo>
                <a:cubicBezTo>
                  <a:pt x="19844" y="71686"/>
                  <a:pt x="22076" y="69453"/>
                  <a:pt x="24805" y="69453"/>
                </a:cubicBezTo>
                <a:lnTo>
                  <a:pt x="34727" y="69453"/>
                </a:lnTo>
                <a:cubicBezTo>
                  <a:pt x="37455" y="69453"/>
                  <a:pt x="39688" y="71686"/>
                  <a:pt x="39688" y="74414"/>
                </a:cubicBezTo>
                <a:lnTo>
                  <a:pt x="39688" y="84336"/>
                </a:lnTo>
                <a:cubicBezTo>
                  <a:pt x="39688" y="87064"/>
                  <a:pt x="37455" y="89297"/>
                  <a:pt x="34727" y="89297"/>
                </a:cubicBezTo>
                <a:lnTo>
                  <a:pt x="24805" y="89297"/>
                </a:lnTo>
                <a:cubicBezTo>
                  <a:pt x="22076" y="89297"/>
                  <a:pt x="19844" y="87064"/>
                  <a:pt x="19844" y="84336"/>
                </a:cubicBezTo>
                <a:lnTo>
                  <a:pt x="19844" y="74414"/>
                </a:lnTo>
                <a:close/>
                <a:moveTo>
                  <a:pt x="54570" y="39688"/>
                </a:moveTo>
                <a:lnTo>
                  <a:pt x="64492" y="39688"/>
                </a:lnTo>
                <a:cubicBezTo>
                  <a:pt x="67221" y="39688"/>
                  <a:pt x="69453" y="41920"/>
                  <a:pt x="69453" y="44648"/>
                </a:cubicBezTo>
                <a:lnTo>
                  <a:pt x="69453" y="54570"/>
                </a:lnTo>
                <a:cubicBezTo>
                  <a:pt x="69453" y="57299"/>
                  <a:pt x="67221" y="59531"/>
                  <a:pt x="64492" y="59531"/>
                </a:cubicBezTo>
                <a:lnTo>
                  <a:pt x="54570" y="59531"/>
                </a:lnTo>
                <a:cubicBezTo>
                  <a:pt x="51842" y="59531"/>
                  <a:pt x="49609" y="57299"/>
                  <a:pt x="49609" y="54570"/>
                </a:cubicBezTo>
                <a:lnTo>
                  <a:pt x="49609" y="44648"/>
                </a:lnTo>
                <a:cubicBezTo>
                  <a:pt x="49609" y="41920"/>
                  <a:pt x="51842" y="39688"/>
                  <a:pt x="54570" y="39688"/>
                </a:cubicBezTo>
                <a:close/>
                <a:moveTo>
                  <a:pt x="49609" y="74414"/>
                </a:moveTo>
                <a:cubicBezTo>
                  <a:pt x="49609" y="71686"/>
                  <a:pt x="51842" y="69453"/>
                  <a:pt x="54570" y="69453"/>
                </a:cubicBezTo>
                <a:lnTo>
                  <a:pt x="64492" y="69453"/>
                </a:lnTo>
                <a:cubicBezTo>
                  <a:pt x="67221" y="69453"/>
                  <a:pt x="69453" y="71686"/>
                  <a:pt x="69453" y="74414"/>
                </a:cubicBezTo>
                <a:lnTo>
                  <a:pt x="69453" y="84336"/>
                </a:lnTo>
                <a:cubicBezTo>
                  <a:pt x="69453" y="87064"/>
                  <a:pt x="67221" y="89297"/>
                  <a:pt x="64492" y="89297"/>
                </a:cubicBezTo>
                <a:lnTo>
                  <a:pt x="54570" y="89297"/>
                </a:lnTo>
                <a:cubicBezTo>
                  <a:pt x="51842" y="89297"/>
                  <a:pt x="49609" y="87064"/>
                  <a:pt x="49609" y="84336"/>
                </a:cubicBezTo>
                <a:lnTo>
                  <a:pt x="49609" y="74414"/>
                </a:lnTo>
                <a:close/>
                <a:moveTo>
                  <a:pt x="54570" y="99219"/>
                </a:moveTo>
                <a:lnTo>
                  <a:pt x="124023" y="99219"/>
                </a:lnTo>
                <a:cubicBezTo>
                  <a:pt x="126752" y="99219"/>
                  <a:pt x="128984" y="101451"/>
                  <a:pt x="128984" y="104180"/>
                </a:cubicBezTo>
                <a:lnTo>
                  <a:pt x="128984" y="114102"/>
                </a:lnTo>
                <a:cubicBezTo>
                  <a:pt x="128984" y="116830"/>
                  <a:pt x="126752" y="119062"/>
                  <a:pt x="124023" y="119062"/>
                </a:cubicBezTo>
                <a:lnTo>
                  <a:pt x="54570" y="119062"/>
                </a:lnTo>
                <a:cubicBezTo>
                  <a:pt x="51842" y="119062"/>
                  <a:pt x="49609" y="116830"/>
                  <a:pt x="49609" y="114102"/>
                </a:cubicBezTo>
                <a:lnTo>
                  <a:pt x="49609" y="104180"/>
                </a:lnTo>
                <a:cubicBezTo>
                  <a:pt x="49609" y="101451"/>
                  <a:pt x="51842" y="99219"/>
                  <a:pt x="54570" y="99219"/>
                </a:cubicBezTo>
                <a:close/>
                <a:moveTo>
                  <a:pt x="79375" y="44648"/>
                </a:moveTo>
                <a:cubicBezTo>
                  <a:pt x="79375" y="41920"/>
                  <a:pt x="81607" y="39688"/>
                  <a:pt x="84336" y="39688"/>
                </a:cubicBezTo>
                <a:lnTo>
                  <a:pt x="94258" y="39688"/>
                </a:lnTo>
                <a:cubicBezTo>
                  <a:pt x="96986" y="39688"/>
                  <a:pt x="99219" y="41920"/>
                  <a:pt x="99219" y="44648"/>
                </a:cubicBezTo>
                <a:lnTo>
                  <a:pt x="99219" y="54570"/>
                </a:lnTo>
                <a:cubicBezTo>
                  <a:pt x="99219" y="57299"/>
                  <a:pt x="96986" y="59531"/>
                  <a:pt x="94258" y="59531"/>
                </a:cubicBezTo>
                <a:lnTo>
                  <a:pt x="84336" y="59531"/>
                </a:lnTo>
                <a:cubicBezTo>
                  <a:pt x="81607" y="59531"/>
                  <a:pt x="79375" y="57299"/>
                  <a:pt x="79375" y="54570"/>
                </a:cubicBezTo>
                <a:lnTo>
                  <a:pt x="79375" y="44648"/>
                </a:lnTo>
                <a:close/>
                <a:moveTo>
                  <a:pt x="84336" y="69453"/>
                </a:moveTo>
                <a:lnTo>
                  <a:pt x="94258" y="69453"/>
                </a:lnTo>
                <a:cubicBezTo>
                  <a:pt x="96986" y="69453"/>
                  <a:pt x="99219" y="71686"/>
                  <a:pt x="99219" y="74414"/>
                </a:cubicBezTo>
                <a:lnTo>
                  <a:pt x="99219" y="84336"/>
                </a:lnTo>
                <a:cubicBezTo>
                  <a:pt x="99219" y="87064"/>
                  <a:pt x="96986" y="89297"/>
                  <a:pt x="94258" y="89297"/>
                </a:cubicBezTo>
                <a:lnTo>
                  <a:pt x="84336" y="89297"/>
                </a:lnTo>
                <a:cubicBezTo>
                  <a:pt x="81607" y="89297"/>
                  <a:pt x="79375" y="87064"/>
                  <a:pt x="79375" y="84336"/>
                </a:cubicBezTo>
                <a:lnTo>
                  <a:pt x="79375" y="74414"/>
                </a:lnTo>
                <a:cubicBezTo>
                  <a:pt x="79375" y="71686"/>
                  <a:pt x="81607" y="69453"/>
                  <a:pt x="84336" y="69453"/>
                </a:cubicBezTo>
                <a:close/>
                <a:moveTo>
                  <a:pt x="109141" y="44648"/>
                </a:moveTo>
                <a:cubicBezTo>
                  <a:pt x="109141" y="41920"/>
                  <a:pt x="111373" y="39688"/>
                  <a:pt x="114102" y="39688"/>
                </a:cubicBezTo>
                <a:lnTo>
                  <a:pt x="124023" y="39688"/>
                </a:lnTo>
                <a:cubicBezTo>
                  <a:pt x="126752" y="39688"/>
                  <a:pt x="128984" y="41920"/>
                  <a:pt x="128984" y="44648"/>
                </a:cubicBezTo>
                <a:lnTo>
                  <a:pt x="128984" y="54570"/>
                </a:lnTo>
                <a:cubicBezTo>
                  <a:pt x="128984" y="57299"/>
                  <a:pt x="126752" y="59531"/>
                  <a:pt x="124023" y="59531"/>
                </a:cubicBezTo>
                <a:lnTo>
                  <a:pt x="114102" y="59531"/>
                </a:lnTo>
                <a:cubicBezTo>
                  <a:pt x="111373" y="59531"/>
                  <a:pt x="109141" y="57299"/>
                  <a:pt x="109141" y="54570"/>
                </a:cubicBezTo>
                <a:lnTo>
                  <a:pt x="109141" y="44648"/>
                </a:lnTo>
                <a:close/>
                <a:moveTo>
                  <a:pt x="114102" y="69453"/>
                </a:moveTo>
                <a:lnTo>
                  <a:pt x="124023" y="69453"/>
                </a:lnTo>
                <a:cubicBezTo>
                  <a:pt x="126752" y="69453"/>
                  <a:pt x="128984" y="71686"/>
                  <a:pt x="128984" y="74414"/>
                </a:cubicBezTo>
                <a:lnTo>
                  <a:pt x="128984" y="84336"/>
                </a:lnTo>
                <a:cubicBezTo>
                  <a:pt x="128984" y="87064"/>
                  <a:pt x="126752" y="89297"/>
                  <a:pt x="124023" y="89297"/>
                </a:cubicBezTo>
                <a:lnTo>
                  <a:pt x="114102" y="89297"/>
                </a:lnTo>
                <a:cubicBezTo>
                  <a:pt x="111373" y="89297"/>
                  <a:pt x="109141" y="87064"/>
                  <a:pt x="109141" y="84336"/>
                </a:cubicBezTo>
                <a:lnTo>
                  <a:pt x="109141" y="74414"/>
                </a:lnTo>
                <a:cubicBezTo>
                  <a:pt x="109141" y="71686"/>
                  <a:pt x="111373" y="69453"/>
                  <a:pt x="114102" y="69453"/>
                </a:cubicBezTo>
                <a:close/>
                <a:moveTo>
                  <a:pt x="138906" y="44648"/>
                </a:moveTo>
                <a:cubicBezTo>
                  <a:pt x="138906" y="41920"/>
                  <a:pt x="141139" y="39688"/>
                  <a:pt x="143867" y="39688"/>
                </a:cubicBezTo>
                <a:lnTo>
                  <a:pt x="153789" y="39688"/>
                </a:lnTo>
                <a:cubicBezTo>
                  <a:pt x="156518" y="39688"/>
                  <a:pt x="158750" y="41920"/>
                  <a:pt x="158750" y="44648"/>
                </a:cubicBezTo>
                <a:lnTo>
                  <a:pt x="158750" y="54570"/>
                </a:lnTo>
                <a:cubicBezTo>
                  <a:pt x="158750" y="57299"/>
                  <a:pt x="156518" y="59531"/>
                  <a:pt x="153789" y="59531"/>
                </a:cubicBezTo>
                <a:lnTo>
                  <a:pt x="143867" y="59531"/>
                </a:lnTo>
                <a:cubicBezTo>
                  <a:pt x="141139" y="59531"/>
                  <a:pt x="138906" y="57299"/>
                  <a:pt x="138906" y="54570"/>
                </a:cubicBezTo>
                <a:lnTo>
                  <a:pt x="138906" y="44648"/>
                </a:lnTo>
                <a:close/>
                <a:moveTo>
                  <a:pt x="143867" y="69453"/>
                </a:moveTo>
                <a:lnTo>
                  <a:pt x="153789" y="69453"/>
                </a:lnTo>
                <a:cubicBezTo>
                  <a:pt x="156518" y="69453"/>
                  <a:pt x="158750" y="71686"/>
                  <a:pt x="158750" y="74414"/>
                </a:cubicBezTo>
                <a:lnTo>
                  <a:pt x="158750" y="84336"/>
                </a:lnTo>
                <a:cubicBezTo>
                  <a:pt x="158750" y="87064"/>
                  <a:pt x="156518" y="89297"/>
                  <a:pt x="153789" y="89297"/>
                </a:cubicBezTo>
                <a:lnTo>
                  <a:pt x="143867" y="89297"/>
                </a:lnTo>
                <a:cubicBezTo>
                  <a:pt x="141139" y="89297"/>
                  <a:pt x="138906" y="87064"/>
                  <a:pt x="138906" y="84336"/>
                </a:cubicBezTo>
                <a:lnTo>
                  <a:pt x="138906" y="74414"/>
                </a:lnTo>
                <a:cubicBezTo>
                  <a:pt x="138906" y="71686"/>
                  <a:pt x="141139" y="69453"/>
                  <a:pt x="143867" y="6945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928688" y="1611313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Password-Based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438" y="2008187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438" y="2166938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provides a secret string known only to them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438" y="238521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438" y="2543969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to implement, widely supported, no special hardware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438" y="276225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438" y="2921000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Vulnerable to phishing, brute force, credential reuse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438" y="3139281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438" y="3298031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Minimum 12-16 characters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438" y="3440906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Mix of character types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438" y="3583781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dictionary words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438" y="3726656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Unique per account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2438" y="4095750"/>
            <a:ext cx="3500438" cy="7938"/>
          </a:xfrm>
          <a:custGeom>
            <a:avLst/>
            <a:gdLst/>
            <a:ahLst/>
            <a:cxnLst/>
            <a:rect l="l" t="t" r="r" b="b"/>
            <a:pathLst>
              <a:path w="3500438" h="79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2" name="Text 20"/>
          <p:cNvSpPr/>
          <p:nvPr/>
        </p:nvSpPr>
        <p:spPr>
          <a:xfrm>
            <a:off x="452438" y="41949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 Low-Medium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16115" y="1400969"/>
            <a:ext cx="3762375" cy="3055938"/>
          </a:xfrm>
          <a:custGeom>
            <a:avLst/>
            <a:gdLst/>
            <a:ahLst/>
            <a:cxnLst/>
            <a:rect l="l" t="t" r="r" b="b"/>
            <a:pathLst>
              <a:path w="3762375" h="3055938">
                <a:moveTo>
                  <a:pt x="63502" y="0"/>
                </a:moveTo>
                <a:lnTo>
                  <a:pt x="3698873" y="0"/>
                </a:lnTo>
                <a:cubicBezTo>
                  <a:pt x="3733944" y="0"/>
                  <a:pt x="3762375" y="28431"/>
                  <a:pt x="3762375" y="63502"/>
                </a:cubicBezTo>
                <a:lnTo>
                  <a:pt x="3762375" y="2992435"/>
                </a:lnTo>
                <a:cubicBezTo>
                  <a:pt x="3762375" y="3027507"/>
                  <a:pt x="3733944" y="3055937"/>
                  <a:pt x="3698873" y="3055938"/>
                </a:cubicBezTo>
                <a:lnTo>
                  <a:pt x="63502" y="3055938"/>
                </a:lnTo>
                <a:cubicBezTo>
                  <a:pt x="28431" y="3055938"/>
                  <a:pt x="0" y="3027507"/>
                  <a:pt x="0" y="299243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7083" y="1531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8052" y="16430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4961" y="19844"/>
                </a:moveTo>
                <a:cubicBezTo>
                  <a:pt x="4961" y="8899"/>
                  <a:pt x="13860" y="0"/>
                  <a:pt x="24805" y="0"/>
                </a:cubicBezTo>
                <a:lnTo>
                  <a:pt x="94258" y="0"/>
                </a:lnTo>
                <a:cubicBezTo>
                  <a:pt x="105203" y="0"/>
                  <a:pt x="114102" y="8899"/>
                  <a:pt x="114102" y="19844"/>
                </a:cubicBezTo>
                <a:lnTo>
                  <a:pt x="114102" y="138906"/>
                </a:lnTo>
                <a:cubicBezTo>
                  <a:pt x="114102" y="149851"/>
                  <a:pt x="105203" y="158750"/>
                  <a:pt x="94258" y="158750"/>
                </a:cubicBezTo>
                <a:lnTo>
                  <a:pt x="24805" y="158750"/>
                </a:lnTo>
                <a:cubicBezTo>
                  <a:pt x="13860" y="158750"/>
                  <a:pt x="4961" y="149851"/>
                  <a:pt x="4961" y="138906"/>
                </a:cubicBezTo>
                <a:lnTo>
                  <a:pt x="4961" y="19844"/>
                </a:lnTo>
                <a:close/>
                <a:moveTo>
                  <a:pt x="24805" y="19844"/>
                </a:moveTo>
                <a:lnTo>
                  <a:pt x="24805" y="114102"/>
                </a:lnTo>
                <a:lnTo>
                  <a:pt x="94258" y="114102"/>
                </a:lnTo>
                <a:lnTo>
                  <a:pt x="94258" y="19844"/>
                </a:lnTo>
                <a:lnTo>
                  <a:pt x="24805" y="19844"/>
                </a:lnTo>
                <a:close/>
                <a:moveTo>
                  <a:pt x="59531" y="146348"/>
                </a:moveTo>
                <a:cubicBezTo>
                  <a:pt x="65019" y="146348"/>
                  <a:pt x="69453" y="141914"/>
                  <a:pt x="69453" y="136426"/>
                </a:cubicBezTo>
                <a:cubicBezTo>
                  <a:pt x="69453" y="130938"/>
                  <a:pt x="65019" y="126504"/>
                  <a:pt x="59531" y="126504"/>
                </a:cubicBezTo>
                <a:cubicBezTo>
                  <a:pt x="54043" y="126504"/>
                  <a:pt x="49609" y="130938"/>
                  <a:pt x="49609" y="136426"/>
                </a:cubicBezTo>
                <a:cubicBezTo>
                  <a:pt x="49609" y="141914"/>
                  <a:pt x="54043" y="146348"/>
                  <a:pt x="59531" y="14634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4823333" y="1611313"/>
            <a:ext cx="91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Token-Based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47083" y="2008187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47083" y="2166938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or digital device generating one-time codes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7083" y="238521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47083" y="25439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tokens: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YubiKey, RSA SecurID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47083" y="268684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tokens: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Google Authenticator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47083" y="282971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codes: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message OTP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47083" y="297259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notifications: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App-based approval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47083" y="316309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47083" y="3321844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 than passwords alone, widely available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47083" y="3540125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47083" y="3698875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vulnerable to SIM swapping, hardware can be lost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47083" y="4095750"/>
            <a:ext cx="3500438" cy="7938"/>
          </a:xfrm>
          <a:custGeom>
            <a:avLst/>
            <a:gdLst/>
            <a:ahLst/>
            <a:cxnLst/>
            <a:rect l="l" t="t" r="r" b="b"/>
            <a:pathLst>
              <a:path w="3500438" h="79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9" name="Text 37"/>
          <p:cNvSpPr/>
          <p:nvPr/>
        </p:nvSpPr>
        <p:spPr>
          <a:xfrm>
            <a:off x="4347083" y="41949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 Medium-High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10761" y="1400969"/>
            <a:ext cx="3762375" cy="3055938"/>
          </a:xfrm>
          <a:custGeom>
            <a:avLst/>
            <a:gdLst/>
            <a:ahLst/>
            <a:cxnLst/>
            <a:rect l="l" t="t" r="r" b="b"/>
            <a:pathLst>
              <a:path w="3762375" h="3055938">
                <a:moveTo>
                  <a:pt x="63502" y="0"/>
                </a:moveTo>
                <a:lnTo>
                  <a:pt x="3698873" y="0"/>
                </a:lnTo>
                <a:cubicBezTo>
                  <a:pt x="3733944" y="0"/>
                  <a:pt x="3762375" y="28431"/>
                  <a:pt x="3762375" y="63502"/>
                </a:cubicBezTo>
                <a:lnTo>
                  <a:pt x="3762375" y="2992435"/>
                </a:lnTo>
                <a:cubicBezTo>
                  <a:pt x="3762375" y="3027507"/>
                  <a:pt x="3733944" y="3055937"/>
                  <a:pt x="3698873" y="3055938"/>
                </a:cubicBezTo>
                <a:lnTo>
                  <a:pt x="63502" y="3055938"/>
                </a:lnTo>
                <a:cubicBezTo>
                  <a:pt x="28431" y="3055938"/>
                  <a:pt x="0" y="3027507"/>
                  <a:pt x="0" y="299243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49667" y="1539875"/>
            <a:ext cx="365125" cy="365125"/>
          </a:xfrm>
          <a:custGeom>
            <a:avLst/>
            <a:gdLst/>
            <a:ahLst/>
            <a:cxnLst/>
            <a:rect l="l" t="t" r="r" b="b"/>
            <a:pathLst>
              <a:path w="365125" h="365125">
                <a:moveTo>
                  <a:pt x="182563" y="0"/>
                </a:moveTo>
                <a:lnTo>
                  <a:pt x="182563" y="0"/>
                </a:lnTo>
                <a:cubicBezTo>
                  <a:pt x="283321" y="0"/>
                  <a:pt x="365125" y="81804"/>
                  <a:pt x="365125" y="182563"/>
                </a:cubicBezTo>
                <a:lnTo>
                  <a:pt x="365125" y="182563"/>
                </a:lnTo>
                <a:cubicBezTo>
                  <a:pt x="365125" y="283321"/>
                  <a:pt x="283321" y="365125"/>
                  <a:pt x="182563" y="365125"/>
                </a:cubicBezTo>
                <a:lnTo>
                  <a:pt x="182563" y="365125"/>
                </a:lnTo>
                <a:cubicBezTo>
                  <a:pt x="81804" y="365125"/>
                  <a:pt x="0" y="283321"/>
                  <a:pt x="0" y="182563"/>
                </a:cubicBezTo>
                <a:lnTo>
                  <a:pt x="0" y="182563"/>
                </a:lnTo>
                <a:cubicBezTo>
                  <a:pt x="0" y="81804"/>
                  <a:pt x="81804" y="0"/>
                  <a:pt x="182563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 w="25400">
            <a:solidFill>
              <a:srgbClr val="EDF2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2854" y="1643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3" y="79375"/>
                </a:moveTo>
                <a:cubicBezTo>
                  <a:pt x="14883" y="43749"/>
                  <a:pt x="43749" y="14883"/>
                  <a:pt x="79375" y="14883"/>
                </a:cubicBezTo>
                <a:cubicBezTo>
                  <a:pt x="98940" y="14883"/>
                  <a:pt x="116458" y="23595"/>
                  <a:pt x="128302" y="37362"/>
                </a:cubicBezTo>
                <a:cubicBezTo>
                  <a:pt x="130969" y="40494"/>
                  <a:pt x="135682" y="40835"/>
                  <a:pt x="138782" y="38168"/>
                </a:cubicBezTo>
                <a:cubicBezTo>
                  <a:pt x="141883" y="35502"/>
                  <a:pt x="142255" y="30789"/>
                  <a:pt x="139588" y="27688"/>
                </a:cubicBezTo>
                <a:cubicBezTo>
                  <a:pt x="125047" y="10728"/>
                  <a:pt x="103467" y="0"/>
                  <a:pt x="79375" y="0"/>
                </a:cubicBezTo>
                <a:cubicBezTo>
                  <a:pt x="35533" y="0"/>
                  <a:pt x="0" y="35533"/>
                  <a:pt x="0" y="79375"/>
                </a:cubicBezTo>
                <a:lnTo>
                  <a:pt x="0" y="91777"/>
                </a:lnTo>
                <a:cubicBezTo>
                  <a:pt x="0" y="95901"/>
                  <a:pt x="3318" y="99219"/>
                  <a:pt x="7441" y="99219"/>
                </a:cubicBezTo>
                <a:cubicBezTo>
                  <a:pt x="11565" y="99219"/>
                  <a:pt x="14883" y="95901"/>
                  <a:pt x="14883" y="91777"/>
                </a:cubicBezTo>
                <a:lnTo>
                  <a:pt x="14883" y="79375"/>
                </a:lnTo>
                <a:close/>
                <a:moveTo>
                  <a:pt x="157045" y="62973"/>
                </a:moveTo>
                <a:cubicBezTo>
                  <a:pt x="156208" y="58942"/>
                  <a:pt x="152239" y="56369"/>
                  <a:pt x="148239" y="57237"/>
                </a:cubicBezTo>
                <a:cubicBezTo>
                  <a:pt x="144239" y="58105"/>
                  <a:pt x="141635" y="62043"/>
                  <a:pt x="142503" y="66042"/>
                </a:cubicBezTo>
                <a:cubicBezTo>
                  <a:pt x="143402" y="70352"/>
                  <a:pt x="143898" y="74817"/>
                  <a:pt x="143898" y="79406"/>
                </a:cubicBezTo>
                <a:lnTo>
                  <a:pt x="143898" y="91808"/>
                </a:lnTo>
                <a:cubicBezTo>
                  <a:pt x="143898" y="95932"/>
                  <a:pt x="147216" y="99250"/>
                  <a:pt x="151340" y="99250"/>
                </a:cubicBezTo>
                <a:cubicBezTo>
                  <a:pt x="155463" y="99250"/>
                  <a:pt x="158781" y="95932"/>
                  <a:pt x="158781" y="91808"/>
                </a:cubicBezTo>
                <a:lnTo>
                  <a:pt x="158781" y="79406"/>
                </a:lnTo>
                <a:cubicBezTo>
                  <a:pt x="158781" y="73794"/>
                  <a:pt x="158192" y="68306"/>
                  <a:pt x="157076" y="63004"/>
                </a:cubicBezTo>
                <a:close/>
                <a:moveTo>
                  <a:pt x="79375" y="24805"/>
                </a:moveTo>
                <a:cubicBezTo>
                  <a:pt x="73484" y="24805"/>
                  <a:pt x="67779" y="25735"/>
                  <a:pt x="62477" y="27471"/>
                </a:cubicBezTo>
                <a:cubicBezTo>
                  <a:pt x="57764" y="29021"/>
                  <a:pt x="56679" y="34820"/>
                  <a:pt x="59903" y="38602"/>
                </a:cubicBezTo>
                <a:cubicBezTo>
                  <a:pt x="62105" y="41176"/>
                  <a:pt x="65732" y="41951"/>
                  <a:pt x="69019" y="41052"/>
                </a:cubicBezTo>
                <a:cubicBezTo>
                  <a:pt x="72306" y="40153"/>
                  <a:pt x="75778" y="39688"/>
                  <a:pt x="79375" y="39688"/>
                </a:cubicBezTo>
                <a:cubicBezTo>
                  <a:pt x="101296" y="39688"/>
                  <a:pt x="119062" y="57454"/>
                  <a:pt x="119062" y="79375"/>
                </a:cubicBezTo>
                <a:lnTo>
                  <a:pt x="119062" y="87095"/>
                </a:lnTo>
                <a:cubicBezTo>
                  <a:pt x="119062" y="94909"/>
                  <a:pt x="118597" y="102691"/>
                  <a:pt x="117698" y="110443"/>
                </a:cubicBezTo>
                <a:cubicBezTo>
                  <a:pt x="117171" y="114970"/>
                  <a:pt x="120613" y="119062"/>
                  <a:pt x="125202" y="119062"/>
                </a:cubicBezTo>
                <a:cubicBezTo>
                  <a:pt x="128860" y="119062"/>
                  <a:pt x="131992" y="116396"/>
                  <a:pt x="132426" y="112768"/>
                </a:cubicBezTo>
                <a:cubicBezTo>
                  <a:pt x="133449" y="104273"/>
                  <a:pt x="133976" y="95715"/>
                  <a:pt x="133976" y="87126"/>
                </a:cubicBezTo>
                <a:lnTo>
                  <a:pt x="133976" y="79406"/>
                </a:lnTo>
                <a:cubicBezTo>
                  <a:pt x="133976" y="49268"/>
                  <a:pt x="109544" y="24836"/>
                  <a:pt x="79406" y="24836"/>
                </a:cubicBezTo>
                <a:close/>
                <a:moveTo>
                  <a:pt x="46726" y="46106"/>
                </a:moveTo>
                <a:cubicBezTo>
                  <a:pt x="43904" y="42819"/>
                  <a:pt x="38881" y="42571"/>
                  <a:pt x="36215" y="45982"/>
                </a:cubicBezTo>
                <a:cubicBezTo>
                  <a:pt x="29052" y="55221"/>
                  <a:pt x="24805" y="66787"/>
                  <a:pt x="24805" y="79375"/>
                </a:cubicBezTo>
                <a:lnTo>
                  <a:pt x="24805" y="87095"/>
                </a:lnTo>
                <a:cubicBezTo>
                  <a:pt x="24805" y="94599"/>
                  <a:pt x="23999" y="102102"/>
                  <a:pt x="22386" y="109389"/>
                </a:cubicBezTo>
                <a:cubicBezTo>
                  <a:pt x="21332" y="114226"/>
                  <a:pt x="24836" y="119031"/>
                  <a:pt x="29797" y="119031"/>
                </a:cubicBezTo>
                <a:cubicBezTo>
                  <a:pt x="33052" y="119031"/>
                  <a:pt x="35967" y="116861"/>
                  <a:pt x="36680" y="113667"/>
                </a:cubicBezTo>
                <a:cubicBezTo>
                  <a:pt x="38664" y="104955"/>
                  <a:pt x="39688" y="96056"/>
                  <a:pt x="39688" y="87064"/>
                </a:cubicBezTo>
                <a:lnTo>
                  <a:pt x="39688" y="79344"/>
                </a:lnTo>
                <a:cubicBezTo>
                  <a:pt x="39688" y="70910"/>
                  <a:pt x="42323" y="63097"/>
                  <a:pt x="46788" y="56679"/>
                </a:cubicBezTo>
                <a:cubicBezTo>
                  <a:pt x="49020" y="53454"/>
                  <a:pt x="49268" y="49051"/>
                  <a:pt x="46726" y="46075"/>
                </a:cubicBezTo>
                <a:close/>
                <a:moveTo>
                  <a:pt x="79375" y="49609"/>
                </a:moveTo>
                <a:cubicBezTo>
                  <a:pt x="62942" y="49609"/>
                  <a:pt x="49609" y="62942"/>
                  <a:pt x="49609" y="79375"/>
                </a:cubicBezTo>
                <a:lnTo>
                  <a:pt x="49609" y="87095"/>
                </a:lnTo>
                <a:cubicBezTo>
                  <a:pt x="49609" y="98227"/>
                  <a:pt x="48183" y="109265"/>
                  <a:pt x="45331" y="119993"/>
                </a:cubicBezTo>
                <a:cubicBezTo>
                  <a:pt x="44152" y="124427"/>
                  <a:pt x="47408" y="128984"/>
                  <a:pt x="51997" y="128984"/>
                </a:cubicBezTo>
                <a:cubicBezTo>
                  <a:pt x="54942" y="128984"/>
                  <a:pt x="57547" y="127062"/>
                  <a:pt x="58322" y="124209"/>
                </a:cubicBezTo>
                <a:cubicBezTo>
                  <a:pt x="61578" y="112117"/>
                  <a:pt x="63252" y="99653"/>
                  <a:pt x="63252" y="87095"/>
                </a:cubicBezTo>
                <a:lnTo>
                  <a:pt x="63252" y="79375"/>
                </a:lnTo>
                <a:cubicBezTo>
                  <a:pt x="63252" y="70476"/>
                  <a:pt x="70476" y="63252"/>
                  <a:pt x="79375" y="63252"/>
                </a:cubicBezTo>
                <a:cubicBezTo>
                  <a:pt x="88274" y="63252"/>
                  <a:pt x="95498" y="70476"/>
                  <a:pt x="95498" y="79375"/>
                </a:cubicBezTo>
                <a:lnTo>
                  <a:pt x="95498" y="87095"/>
                </a:lnTo>
                <a:cubicBezTo>
                  <a:pt x="95498" y="98351"/>
                  <a:pt x="94413" y="109544"/>
                  <a:pt x="92273" y="120551"/>
                </a:cubicBezTo>
                <a:cubicBezTo>
                  <a:pt x="91436" y="124861"/>
                  <a:pt x="94661" y="128984"/>
                  <a:pt x="99033" y="128984"/>
                </a:cubicBezTo>
                <a:cubicBezTo>
                  <a:pt x="102195" y="128984"/>
                  <a:pt x="104924" y="126814"/>
                  <a:pt x="105544" y="123713"/>
                </a:cubicBezTo>
                <a:cubicBezTo>
                  <a:pt x="107931" y="111683"/>
                  <a:pt x="109141" y="99436"/>
                  <a:pt x="109141" y="87095"/>
                </a:cubicBezTo>
                <a:lnTo>
                  <a:pt x="109141" y="79375"/>
                </a:lnTo>
                <a:cubicBezTo>
                  <a:pt x="109141" y="62942"/>
                  <a:pt x="95808" y="49609"/>
                  <a:pt x="79375" y="49609"/>
                </a:cubicBezTo>
                <a:close/>
                <a:moveTo>
                  <a:pt x="86816" y="79375"/>
                </a:moveTo>
                <a:cubicBezTo>
                  <a:pt x="86816" y="75251"/>
                  <a:pt x="83499" y="71934"/>
                  <a:pt x="79375" y="71934"/>
                </a:cubicBezTo>
                <a:cubicBezTo>
                  <a:pt x="75251" y="71934"/>
                  <a:pt x="71934" y="75251"/>
                  <a:pt x="71934" y="79375"/>
                </a:cubicBezTo>
                <a:lnTo>
                  <a:pt x="71934" y="87095"/>
                </a:lnTo>
                <a:cubicBezTo>
                  <a:pt x="71934" y="105668"/>
                  <a:pt x="68523" y="124085"/>
                  <a:pt x="61857" y="141418"/>
                </a:cubicBezTo>
                <a:lnTo>
                  <a:pt x="60027" y="146162"/>
                </a:lnTo>
                <a:cubicBezTo>
                  <a:pt x="58539" y="150006"/>
                  <a:pt x="60461" y="154316"/>
                  <a:pt x="64306" y="155773"/>
                </a:cubicBezTo>
                <a:cubicBezTo>
                  <a:pt x="68151" y="157231"/>
                  <a:pt x="72461" y="155339"/>
                  <a:pt x="73918" y="151495"/>
                </a:cubicBezTo>
                <a:lnTo>
                  <a:pt x="75747" y="146751"/>
                </a:lnTo>
                <a:cubicBezTo>
                  <a:pt x="83065" y="127713"/>
                  <a:pt x="86816" y="107497"/>
                  <a:pt x="86816" y="87095"/>
                </a:cubicBezTo>
                <a:lnTo>
                  <a:pt x="86816" y="79375"/>
                </a:ln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43" name="Text 41"/>
          <p:cNvSpPr/>
          <p:nvPr/>
        </p:nvSpPr>
        <p:spPr>
          <a:xfrm>
            <a:off x="8717979" y="1611313"/>
            <a:ext cx="682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Biometric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41729" y="2008187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41729" y="2166938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physical or behavioral characteristics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41729" y="238521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41729" y="25439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Fingerprint: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99.9% accuracy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41729" y="268684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recognition: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Hands-free access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41729" y="282971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Iris/Retina: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High-security environments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41729" y="297259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recognition: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Phone banking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41729" y="31154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Typing patterns, gestures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41729" y="33059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41729" y="3464719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Convenient, difficult to share or steal, unique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41729" y="368300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41729" y="3841750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concerns, cannot be changed if compromised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41729" y="4095750"/>
            <a:ext cx="3500438" cy="7938"/>
          </a:xfrm>
          <a:custGeom>
            <a:avLst/>
            <a:gdLst/>
            <a:ahLst/>
            <a:cxnLst/>
            <a:rect l="l" t="t" r="r" b="b"/>
            <a:pathLst>
              <a:path w="3500438" h="79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7" name="Text 55"/>
          <p:cNvSpPr/>
          <p:nvPr/>
        </p:nvSpPr>
        <p:spPr>
          <a:xfrm>
            <a:off x="8241729" y="4194969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 High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21469" y="4587875"/>
            <a:ext cx="3762375" cy="2913063"/>
          </a:xfrm>
          <a:custGeom>
            <a:avLst/>
            <a:gdLst/>
            <a:ahLst/>
            <a:cxnLst/>
            <a:rect l="l" t="t" r="r" b="b"/>
            <a:pathLst>
              <a:path w="3762375" h="2913063">
                <a:moveTo>
                  <a:pt x="63505" y="0"/>
                </a:moveTo>
                <a:lnTo>
                  <a:pt x="3698870" y="0"/>
                </a:lnTo>
                <a:cubicBezTo>
                  <a:pt x="3733943" y="0"/>
                  <a:pt x="3762375" y="28432"/>
                  <a:pt x="3762375" y="63505"/>
                </a:cubicBezTo>
                <a:lnTo>
                  <a:pt x="3762375" y="2849558"/>
                </a:lnTo>
                <a:cubicBezTo>
                  <a:pt x="3762375" y="2884630"/>
                  <a:pt x="3733943" y="2913063"/>
                  <a:pt x="3698870" y="2913063"/>
                </a:cubicBezTo>
                <a:lnTo>
                  <a:pt x="63505" y="2913063"/>
                </a:lnTo>
                <a:cubicBezTo>
                  <a:pt x="28432" y="2913063"/>
                  <a:pt x="0" y="2884630"/>
                  <a:pt x="0" y="2849558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2438" y="47188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53641" y="4829969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74166" y="-2480"/>
                </a:moveTo>
                <a:cubicBezTo>
                  <a:pt x="72275" y="-4403"/>
                  <a:pt x="69515" y="-5178"/>
                  <a:pt x="66911" y="-4465"/>
                </a:cubicBezTo>
                <a:cubicBezTo>
                  <a:pt x="64306" y="-3752"/>
                  <a:pt x="62291" y="-1736"/>
                  <a:pt x="61640" y="868"/>
                </a:cubicBezTo>
                <a:lnTo>
                  <a:pt x="56896" y="19534"/>
                </a:lnTo>
                <a:cubicBezTo>
                  <a:pt x="56555" y="20898"/>
                  <a:pt x="55159" y="21704"/>
                  <a:pt x="53826" y="21301"/>
                </a:cubicBezTo>
                <a:lnTo>
                  <a:pt x="35285" y="16092"/>
                </a:lnTo>
                <a:cubicBezTo>
                  <a:pt x="32680" y="15348"/>
                  <a:pt x="29890" y="16092"/>
                  <a:pt x="27998" y="17983"/>
                </a:cubicBezTo>
                <a:cubicBezTo>
                  <a:pt x="26107" y="19875"/>
                  <a:pt x="25363" y="22665"/>
                  <a:pt x="26107" y="25270"/>
                </a:cubicBezTo>
                <a:lnTo>
                  <a:pt x="31347" y="43811"/>
                </a:lnTo>
                <a:cubicBezTo>
                  <a:pt x="31719" y="45145"/>
                  <a:pt x="30913" y="46540"/>
                  <a:pt x="29580" y="46881"/>
                </a:cubicBezTo>
                <a:lnTo>
                  <a:pt x="10883" y="51625"/>
                </a:lnTo>
                <a:cubicBezTo>
                  <a:pt x="8279" y="52276"/>
                  <a:pt x="6232" y="54322"/>
                  <a:pt x="5519" y="56927"/>
                </a:cubicBezTo>
                <a:cubicBezTo>
                  <a:pt x="4806" y="59531"/>
                  <a:pt x="5581" y="62291"/>
                  <a:pt x="7503" y="64182"/>
                </a:cubicBezTo>
                <a:lnTo>
                  <a:pt x="21301" y="77608"/>
                </a:lnTo>
                <a:cubicBezTo>
                  <a:pt x="22293" y="78569"/>
                  <a:pt x="22293" y="80181"/>
                  <a:pt x="21301" y="81173"/>
                </a:cubicBezTo>
                <a:lnTo>
                  <a:pt x="7534" y="94599"/>
                </a:lnTo>
                <a:cubicBezTo>
                  <a:pt x="5612" y="96490"/>
                  <a:pt x="4837" y="99250"/>
                  <a:pt x="5550" y="101854"/>
                </a:cubicBezTo>
                <a:cubicBezTo>
                  <a:pt x="6263" y="104459"/>
                  <a:pt x="8310" y="106474"/>
                  <a:pt x="10914" y="107156"/>
                </a:cubicBezTo>
                <a:lnTo>
                  <a:pt x="29580" y="111900"/>
                </a:lnTo>
                <a:cubicBezTo>
                  <a:pt x="30944" y="112241"/>
                  <a:pt x="31750" y="113636"/>
                  <a:pt x="31347" y="114970"/>
                </a:cubicBezTo>
                <a:lnTo>
                  <a:pt x="26107" y="133480"/>
                </a:lnTo>
                <a:cubicBezTo>
                  <a:pt x="25363" y="136085"/>
                  <a:pt x="26107" y="138875"/>
                  <a:pt x="27998" y="140767"/>
                </a:cubicBezTo>
                <a:cubicBezTo>
                  <a:pt x="29890" y="142658"/>
                  <a:pt x="32680" y="143402"/>
                  <a:pt x="35285" y="142658"/>
                </a:cubicBezTo>
                <a:lnTo>
                  <a:pt x="53826" y="137418"/>
                </a:lnTo>
                <a:cubicBezTo>
                  <a:pt x="55159" y="137046"/>
                  <a:pt x="56555" y="137852"/>
                  <a:pt x="56896" y="139185"/>
                </a:cubicBezTo>
                <a:lnTo>
                  <a:pt x="61640" y="157851"/>
                </a:lnTo>
                <a:cubicBezTo>
                  <a:pt x="62291" y="160455"/>
                  <a:pt x="64337" y="162502"/>
                  <a:pt x="66942" y="163215"/>
                </a:cubicBezTo>
                <a:cubicBezTo>
                  <a:pt x="69546" y="163928"/>
                  <a:pt x="72306" y="163153"/>
                  <a:pt x="74197" y="161230"/>
                </a:cubicBezTo>
                <a:lnTo>
                  <a:pt x="87623" y="147433"/>
                </a:lnTo>
                <a:cubicBezTo>
                  <a:pt x="88584" y="146441"/>
                  <a:pt x="90196" y="146441"/>
                  <a:pt x="91188" y="147433"/>
                </a:cubicBezTo>
                <a:lnTo>
                  <a:pt x="104583" y="161230"/>
                </a:lnTo>
                <a:cubicBezTo>
                  <a:pt x="106474" y="163153"/>
                  <a:pt x="109234" y="163928"/>
                  <a:pt x="111838" y="163215"/>
                </a:cubicBezTo>
                <a:cubicBezTo>
                  <a:pt x="114443" y="162502"/>
                  <a:pt x="116458" y="160455"/>
                  <a:pt x="117140" y="157851"/>
                </a:cubicBezTo>
                <a:lnTo>
                  <a:pt x="121884" y="139216"/>
                </a:lnTo>
                <a:cubicBezTo>
                  <a:pt x="122225" y="137852"/>
                  <a:pt x="123620" y="137046"/>
                  <a:pt x="124954" y="137449"/>
                </a:cubicBezTo>
                <a:lnTo>
                  <a:pt x="143495" y="142689"/>
                </a:lnTo>
                <a:cubicBezTo>
                  <a:pt x="146100" y="143433"/>
                  <a:pt x="148890" y="142689"/>
                  <a:pt x="150781" y="140798"/>
                </a:cubicBezTo>
                <a:cubicBezTo>
                  <a:pt x="152673" y="138906"/>
                  <a:pt x="153417" y="136116"/>
                  <a:pt x="152673" y="133511"/>
                </a:cubicBezTo>
                <a:lnTo>
                  <a:pt x="147433" y="114970"/>
                </a:lnTo>
                <a:cubicBezTo>
                  <a:pt x="147061" y="113636"/>
                  <a:pt x="147867" y="112241"/>
                  <a:pt x="149200" y="111900"/>
                </a:cubicBezTo>
                <a:lnTo>
                  <a:pt x="167866" y="107156"/>
                </a:lnTo>
                <a:cubicBezTo>
                  <a:pt x="170470" y="106505"/>
                  <a:pt x="172517" y="104459"/>
                  <a:pt x="173230" y="101854"/>
                </a:cubicBezTo>
                <a:cubicBezTo>
                  <a:pt x="173943" y="99250"/>
                  <a:pt x="173168" y="96459"/>
                  <a:pt x="171245" y="94599"/>
                </a:cubicBezTo>
                <a:lnTo>
                  <a:pt x="157448" y="81173"/>
                </a:lnTo>
                <a:cubicBezTo>
                  <a:pt x="156456" y="80212"/>
                  <a:pt x="156456" y="78600"/>
                  <a:pt x="157448" y="77608"/>
                </a:cubicBezTo>
                <a:lnTo>
                  <a:pt x="171245" y="64182"/>
                </a:lnTo>
                <a:cubicBezTo>
                  <a:pt x="173168" y="62291"/>
                  <a:pt x="173943" y="59531"/>
                  <a:pt x="173230" y="56927"/>
                </a:cubicBezTo>
                <a:cubicBezTo>
                  <a:pt x="172517" y="54322"/>
                  <a:pt x="170470" y="52307"/>
                  <a:pt x="167866" y="51625"/>
                </a:cubicBezTo>
                <a:lnTo>
                  <a:pt x="149200" y="46881"/>
                </a:lnTo>
                <a:cubicBezTo>
                  <a:pt x="147836" y="46540"/>
                  <a:pt x="147030" y="45145"/>
                  <a:pt x="147433" y="43811"/>
                </a:cubicBezTo>
                <a:lnTo>
                  <a:pt x="152673" y="25270"/>
                </a:lnTo>
                <a:cubicBezTo>
                  <a:pt x="153417" y="22665"/>
                  <a:pt x="152673" y="19875"/>
                  <a:pt x="150781" y="17983"/>
                </a:cubicBezTo>
                <a:cubicBezTo>
                  <a:pt x="148890" y="16092"/>
                  <a:pt x="146100" y="15348"/>
                  <a:pt x="143495" y="16092"/>
                </a:cubicBezTo>
                <a:lnTo>
                  <a:pt x="124954" y="21332"/>
                </a:lnTo>
                <a:cubicBezTo>
                  <a:pt x="123620" y="21704"/>
                  <a:pt x="122225" y="20898"/>
                  <a:pt x="121884" y="19565"/>
                </a:cubicBezTo>
                <a:lnTo>
                  <a:pt x="117140" y="868"/>
                </a:lnTo>
                <a:cubicBezTo>
                  <a:pt x="116489" y="-1736"/>
                  <a:pt x="114443" y="-3783"/>
                  <a:pt x="111838" y="-4496"/>
                </a:cubicBezTo>
                <a:cubicBezTo>
                  <a:pt x="109234" y="-5209"/>
                  <a:pt x="106474" y="-4434"/>
                  <a:pt x="104583" y="-2511"/>
                </a:cubicBezTo>
                <a:lnTo>
                  <a:pt x="91157" y="11317"/>
                </a:lnTo>
                <a:cubicBezTo>
                  <a:pt x="90196" y="12309"/>
                  <a:pt x="88584" y="12309"/>
                  <a:pt x="87592" y="11317"/>
                </a:cubicBezTo>
                <a:lnTo>
                  <a:pt x="74166" y="-248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1" name="Text 59"/>
          <p:cNvSpPr/>
          <p:nvPr/>
        </p:nvSpPr>
        <p:spPr>
          <a:xfrm>
            <a:off x="928688" y="4798219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Certificate-Based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52438" y="519509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52438" y="5353844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certificates issued by Certificate Authority (CA)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52438" y="5572125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2438" y="5730875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Public-private key cryptography verifies identity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52438" y="5949156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52438" y="6107906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access, email signing, device authentication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2438" y="6326188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2438" y="6484938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security, scalable, automated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52438" y="7139781"/>
            <a:ext cx="3500438" cy="7938"/>
          </a:xfrm>
          <a:custGeom>
            <a:avLst/>
            <a:gdLst/>
            <a:ahLst/>
            <a:cxnLst/>
            <a:rect l="l" t="t" r="r" b="b"/>
            <a:pathLst>
              <a:path w="3500438" h="79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71" name="Text 69"/>
          <p:cNvSpPr/>
          <p:nvPr/>
        </p:nvSpPr>
        <p:spPr>
          <a:xfrm>
            <a:off x="452438" y="723900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 High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216115" y="4587875"/>
            <a:ext cx="3762375" cy="2913063"/>
          </a:xfrm>
          <a:custGeom>
            <a:avLst/>
            <a:gdLst/>
            <a:ahLst/>
            <a:cxnLst/>
            <a:rect l="l" t="t" r="r" b="b"/>
            <a:pathLst>
              <a:path w="3762375" h="2913063">
                <a:moveTo>
                  <a:pt x="63505" y="0"/>
                </a:moveTo>
                <a:lnTo>
                  <a:pt x="3698870" y="0"/>
                </a:lnTo>
                <a:cubicBezTo>
                  <a:pt x="3733943" y="0"/>
                  <a:pt x="3762375" y="28432"/>
                  <a:pt x="3762375" y="63505"/>
                </a:cubicBezTo>
                <a:lnTo>
                  <a:pt x="3762375" y="2849558"/>
                </a:lnTo>
                <a:cubicBezTo>
                  <a:pt x="3762375" y="2884630"/>
                  <a:pt x="3733943" y="2913063"/>
                  <a:pt x="3698870" y="2913063"/>
                </a:cubicBezTo>
                <a:lnTo>
                  <a:pt x="63505" y="2913063"/>
                </a:lnTo>
                <a:cubicBezTo>
                  <a:pt x="28432" y="2913063"/>
                  <a:pt x="0" y="2884630"/>
                  <a:pt x="0" y="2849558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47083" y="47188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458208" y="48299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13854" y="127899"/>
                </a:moveTo>
                <a:lnTo>
                  <a:pt x="30851" y="44896"/>
                </a:lnTo>
                <a:cubicBezTo>
                  <a:pt x="23906" y="54632"/>
                  <a:pt x="19844" y="66539"/>
                  <a:pt x="19844" y="79375"/>
                </a:cubicBezTo>
                <a:cubicBezTo>
                  <a:pt x="19844" y="112241"/>
                  <a:pt x="46509" y="138906"/>
                  <a:pt x="79375" y="138906"/>
                </a:cubicBezTo>
                <a:cubicBezTo>
                  <a:pt x="92242" y="138906"/>
                  <a:pt x="104149" y="134844"/>
                  <a:pt x="113854" y="127899"/>
                </a:cubicBezTo>
                <a:close/>
                <a:moveTo>
                  <a:pt x="127899" y="113854"/>
                </a:moveTo>
                <a:cubicBezTo>
                  <a:pt x="134844" y="104118"/>
                  <a:pt x="138906" y="92211"/>
                  <a:pt x="138906" y="79375"/>
                </a:cubicBezTo>
                <a:cubicBezTo>
                  <a:pt x="138906" y="46509"/>
                  <a:pt x="112241" y="19844"/>
                  <a:pt x="79375" y="19844"/>
                </a:cubicBezTo>
                <a:cubicBezTo>
                  <a:pt x="66508" y="19844"/>
                  <a:pt x="54601" y="23906"/>
                  <a:pt x="44896" y="30851"/>
                </a:cubicBezTo>
                <a:lnTo>
                  <a:pt x="127899" y="113854"/>
                </a:ln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5" name="Text 73"/>
          <p:cNvSpPr/>
          <p:nvPr/>
        </p:nvSpPr>
        <p:spPr>
          <a:xfrm>
            <a:off x="4823333" y="4798219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Passwordless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347083" y="5195094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347083" y="5353844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passwords entirely using alternative factors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4347083" y="5572125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Approaches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4347083" y="5730875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FIDO2/WebAuthn standards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347083" y="587375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Biometric + device possession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347083" y="6016625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Magic links via email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4347083" y="615950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Mobile app push notifications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4347083" y="635000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347083" y="6508750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password fatigue, resistant to phishing, better UX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347083" y="6727031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4347083" y="6885781"/>
            <a:ext cx="354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Legacy system support, user education required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347083" y="7139781"/>
            <a:ext cx="3500438" cy="7938"/>
          </a:xfrm>
          <a:custGeom>
            <a:avLst/>
            <a:gdLst/>
            <a:ahLst/>
            <a:cxnLst/>
            <a:rect l="l" t="t" r="r" b="b"/>
            <a:pathLst>
              <a:path w="3500438" h="79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88" name="Text 86"/>
          <p:cNvSpPr/>
          <p:nvPr/>
        </p:nvSpPr>
        <p:spPr>
          <a:xfrm>
            <a:off x="4347083" y="7239000"/>
            <a:ext cx="354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 Very High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110761" y="4587875"/>
            <a:ext cx="3762375" cy="2913063"/>
          </a:xfrm>
          <a:custGeom>
            <a:avLst/>
            <a:gdLst/>
            <a:ahLst/>
            <a:cxnLst/>
            <a:rect l="l" t="t" r="r" b="b"/>
            <a:pathLst>
              <a:path w="3762375" h="2913063">
                <a:moveTo>
                  <a:pt x="63505" y="0"/>
                </a:moveTo>
                <a:lnTo>
                  <a:pt x="3698870" y="0"/>
                </a:lnTo>
                <a:cubicBezTo>
                  <a:pt x="3733943" y="0"/>
                  <a:pt x="3762375" y="28432"/>
                  <a:pt x="3762375" y="63505"/>
                </a:cubicBezTo>
                <a:lnTo>
                  <a:pt x="3762375" y="2849558"/>
                </a:lnTo>
                <a:cubicBezTo>
                  <a:pt x="3762375" y="2884630"/>
                  <a:pt x="3733943" y="2913063"/>
                  <a:pt x="3698870" y="2913063"/>
                </a:cubicBezTo>
                <a:lnTo>
                  <a:pt x="63505" y="2913063"/>
                </a:lnTo>
                <a:cubicBezTo>
                  <a:pt x="28432" y="2913063"/>
                  <a:pt x="0" y="2884630"/>
                  <a:pt x="0" y="2849558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61573" y="547885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1" name="Text 89"/>
          <p:cNvSpPr/>
          <p:nvPr/>
        </p:nvSpPr>
        <p:spPr>
          <a:xfrm>
            <a:off x="8424292" y="5439172"/>
            <a:ext cx="338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Matrix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241729" y="5756672"/>
            <a:ext cx="3500438" cy="254000"/>
          </a:xfrm>
          <a:custGeom>
            <a:avLst/>
            <a:gdLst/>
            <a:ahLst/>
            <a:cxnLst/>
            <a:rect l="l" t="t" r="r" b="b"/>
            <a:pathLst>
              <a:path w="3500438" h="254000">
                <a:moveTo>
                  <a:pt x="31750" y="0"/>
                </a:moveTo>
                <a:lnTo>
                  <a:pt x="3468688" y="0"/>
                </a:lnTo>
                <a:cubicBezTo>
                  <a:pt x="3486211" y="0"/>
                  <a:pt x="3500438" y="14227"/>
                  <a:pt x="3500438" y="31750"/>
                </a:cubicBezTo>
                <a:lnTo>
                  <a:pt x="3500438" y="222250"/>
                </a:lnTo>
                <a:cubicBezTo>
                  <a:pt x="3500438" y="239773"/>
                  <a:pt x="3486211" y="254000"/>
                  <a:pt x="3468688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8305229" y="5820172"/>
            <a:ext cx="754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Strength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9954617" y="5820172"/>
            <a:ext cx="1770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&gt; Certificate &gt; Token &gt; Password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241729" y="6074172"/>
            <a:ext cx="3500438" cy="254000"/>
          </a:xfrm>
          <a:custGeom>
            <a:avLst/>
            <a:gdLst/>
            <a:ahLst/>
            <a:cxnLst/>
            <a:rect l="l" t="t" r="r" b="b"/>
            <a:pathLst>
              <a:path w="3500438" h="254000">
                <a:moveTo>
                  <a:pt x="31750" y="0"/>
                </a:moveTo>
                <a:lnTo>
                  <a:pt x="3468688" y="0"/>
                </a:lnTo>
                <a:cubicBezTo>
                  <a:pt x="3486211" y="0"/>
                  <a:pt x="3500438" y="14227"/>
                  <a:pt x="3500438" y="31750"/>
                </a:cubicBezTo>
                <a:lnTo>
                  <a:pt x="3500438" y="222250"/>
                </a:lnTo>
                <a:cubicBezTo>
                  <a:pt x="3500438" y="239773"/>
                  <a:pt x="3486211" y="254000"/>
                  <a:pt x="3468688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8305229" y="6137672"/>
            <a:ext cx="801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Convenience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9816021" y="6137672"/>
            <a:ext cx="1905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&gt; Passwordless &gt; Token &gt; Password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8241729" y="6391672"/>
            <a:ext cx="3500438" cy="254000"/>
          </a:xfrm>
          <a:custGeom>
            <a:avLst/>
            <a:gdLst/>
            <a:ahLst/>
            <a:cxnLst/>
            <a:rect l="l" t="t" r="r" b="b"/>
            <a:pathLst>
              <a:path w="3500438" h="254000">
                <a:moveTo>
                  <a:pt x="31750" y="0"/>
                </a:moveTo>
                <a:lnTo>
                  <a:pt x="3468688" y="0"/>
                </a:lnTo>
                <a:cubicBezTo>
                  <a:pt x="3486211" y="0"/>
                  <a:pt x="3500438" y="14227"/>
                  <a:pt x="3500438" y="31750"/>
                </a:cubicBezTo>
                <a:lnTo>
                  <a:pt x="3500438" y="222250"/>
                </a:lnTo>
                <a:cubicBezTo>
                  <a:pt x="3500438" y="239773"/>
                  <a:pt x="3486211" y="254000"/>
                  <a:pt x="3468688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8305229" y="6455172"/>
            <a:ext cx="90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Cost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9954617" y="6455172"/>
            <a:ext cx="1770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&lt; Token &lt; Biometric &lt; Certificate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96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Authorization: Controlling Access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8094" y="1009473"/>
            <a:ext cx="1157413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Determining what authenticated users can do and which resources they can access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094" y="1357567"/>
            <a:ext cx="835426" cy="34809"/>
          </a:xfrm>
          <a:custGeom>
            <a:avLst/>
            <a:gdLst/>
            <a:ahLst/>
            <a:cxnLst/>
            <a:rect l="l" t="t" r="r" b="b"/>
            <a:pathLst>
              <a:path w="835426" h="34809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352445" y="1570775"/>
            <a:ext cx="5630424" cy="2071161"/>
          </a:xfrm>
          <a:custGeom>
            <a:avLst/>
            <a:gdLst/>
            <a:ahLst/>
            <a:cxnLst/>
            <a:rect l="l" t="t" r="r" b="b"/>
            <a:pathLst>
              <a:path w="5630424" h="2071161">
                <a:moveTo>
                  <a:pt x="69612" y="0"/>
                </a:moveTo>
                <a:lnTo>
                  <a:pt x="5560812" y="0"/>
                </a:lnTo>
                <a:cubicBezTo>
                  <a:pt x="5599258" y="0"/>
                  <a:pt x="5630424" y="31166"/>
                  <a:pt x="5630424" y="69612"/>
                </a:cubicBezTo>
                <a:lnTo>
                  <a:pt x="5630424" y="2001549"/>
                </a:lnTo>
                <a:cubicBezTo>
                  <a:pt x="5630424" y="2039994"/>
                  <a:pt x="5599258" y="2071161"/>
                  <a:pt x="5560812" y="2071161"/>
                </a:cubicBezTo>
                <a:lnTo>
                  <a:pt x="69612" y="2071161"/>
                </a:lnTo>
                <a:cubicBezTo>
                  <a:pt x="31166" y="2071161"/>
                  <a:pt x="0" y="2039994"/>
                  <a:pt x="0" y="2001549"/>
                </a:cubicBezTo>
                <a:lnTo>
                  <a:pt x="0" y="69612"/>
                </a:lnTo>
                <a:cubicBezTo>
                  <a:pt x="0" y="31192"/>
                  <a:pt x="31192" y="0"/>
                  <a:pt x="696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355" y="1783983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43512" y="32634"/>
                </a:moveTo>
                <a:lnTo>
                  <a:pt x="43512" y="54390"/>
                </a:lnTo>
                <a:lnTo>
                  <a:pt x="87024" y="54390"/>
                </a:lnTo>
                <a:lnTo>
                  <a:pt x="87024" y="32634"/>
                </a:lnTo>
                <a:cubicBezTo>
                  <a:pt x="87024" y="20634"/>
                  <a:pt x="77267" y="10878"/>
                  <a:pt x="65268" y="10878"/>
                </a:cubicBezTo>
                <a:cubicBezTo>
                  <a:pt x="53268" y="10878"/>
                  <a:pt x="43512" y="20634"/>
                  <a:pt x="43512" y="32634"/>
                </a:cubicBezTo>
                <a:close/>
                <a:moveTo>
                  <a:pt x="21756" y="54390"/>
                </a:moveTo>
                <a:lnTo>
                  <a:pt x="21756" y="32634"/>
                </a:lnTo>
                <a:cubicBezTo>
                  <a:pt x="21756" y="8600"/>
                  <a:pt x="41234" y="-10878"/>
                  <a:pt x="65268" y="-10878"/>
                </a:cubicBezTo>
                <a:cubicBezTo>
                  <a:pt x="89301" y="-10878"/>
                  <a:pt x="108779" y="8600"/>
                  <a:pt x="108779" y="32634"/>
                </a:cubicBezTo>
                <a:lnTo>
                  <a:pt x="108779" y="54390"/>
                </a:lnTo>
                <a:cubicBezTo>
                  <a:pt x="120779" y="54390"/>
                  <a:pt x="130535" y="64146"/>
                  <a:pt x="130535" y="76146"/>
                </a:cubicBezTo>
                <a:lnTo>
                  <a:pt x="130535" y="152291"/>
                </a:lnTo>
                <a:cubicBezTo>
                  <a:pt x="130535" y="164291"/>
                  <a:pt x="120779" y="174047"/>
                  <a:pt x="108779" y="174047"/>
                </a:cubicBezTo>
                <a:lnTo>
                  <a:pt x="21756" y="174047"/>
                </a:lnTo>
                <a:cubicBezTo>
                  <a:pt x="9756" y="174047"/>
                  <a:pt x="0" y="164291"/>
                  <a:pt x="0" y="152291"/>
                </a:cubicBezTo>
                <a:lnTo>
                  <a:pt x="0" y="76146"/>
                </a:lnTo>
                <a:cubicBezTo>
                  <a:pt x="0" y="64146"/>
                  <a:pt x="9756" y="54390"/>
                  <a:pt x="21756" y="5439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48403" y="1749173"/>
            <a:ext cx="514309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vs. Authorization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546" y="2097268"/>
            <a:ext cx="2558493" cy="861533"/>
          </a:xfrm>
          <a:custGeom>
            <a:avLst/>
            <a:gdLst/>
            <a:ahLst/>
            <a:cxnLst/>
            <a:rect l="l" t="t" r="r" b="b"/>
            <a:pathLst>
              <a:path w="2558493" h="861533">
                <a:moveTo>
                  <a:pt x="17405" y="0"/>
                </a:moveTo>
                <a:lnTo>
                  <a:pt x="2523687" y="0"/>
                </a:lnTo>
                <a:cubicBezTo>
                  <a:pt x="2542909" y="0"/>
                  <a:pt x="2558493" y="15583"/>
                  <a:pt x="2558493" y="34806"/>
                </a:cubicBezTo>
                <a:lnTo>
                  <a:pt x="2558493" y="826727"/>
                </a:lnTo>
                <a:cubicBezTo>
                  <a:pt x="2558493" y="845950"/>
                  <a:pt x="2542909" y="861533"/>
                  <a:pt x="2523687" y="861533"/>
                </a:cubicBezTo>
                <a:lnTo>
                  <a:pt x="17405" y="861533"/>
                </a:lnTo>
                <a:cubicBezTo>
                  <a:pt x="7792" y="861533"/>
                  <a:pt x="0" y="853741"/>
                  <a:pt x="0" y="844128"/>
                </a:cubicBezTo>
                <a:lnTo>
                  <a:pt x="0" y="17405"/>
                </a:lnTo>
                <a:cubicBezTo>
                  <a:pt x="0" y="7792"/>
                  <a:pt x="7792" y="0"/>
                  <a:pt x="174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9546" y="2097268"/>
            <a:ext cx="17405" cy="861533"/>
          </a:xfrm>
          <a:custGeom>
            <a:avLst/>
            <a:gdLst/>
            <a:ahLst/>
            <a:cxnLst/>
            <a:rect l="l" t="t" r="r" b="b"/>
            <a:pathLst>
              <a:path w="17405" h="861533">
                <a:moveTo>
                  <a:pt x="17405" y="0"/>
                </a:moveTo>
                <a:lnTo>
                  <a:pt x="17405" y="0"/>
                </a:lnTo>
                <a:lnTo>
                  <a:pt x="17405" y="861533"/>
                </a:lnTo>
                <a:lnTo>
                  <a:pt x="17405" y="861533"/>
                </a:lnTo>
                <a:cubicBezTo>
                  <a:pt x="7792" y="861533"/>
                  <a:pt x="0" y="853741"/>
                  <a:pt x="0" y="844128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652677" y="2201696"/>
            <a:ext cx="240185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677" y="2445362"/>
            <a:ext cx="239314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"Are you who you say you are?"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677" y="2684677"/>
            <a:ext cx="239314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Verifies identity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7882" y="2097268"/>
            <a:ext cx="2558493" cy="861533"/>
          </a:xfrm>
          <a:custGeom>
            <a:avLst/>
            <a:gdLst/>
            <a:ahLst/>
            <a:cxnLst/>
            <a:rect l="l" t="t" r="r" b="b"/>
            <a:pathLst>
              <a:path w="2558493" h="861533">
                <a:moveTo>
                  <a:pt x="17405" y="0"/>
                </a:moveTo>
                <a:lnTo>
                  <a:pt x="2523687" y="0"/>
                </a:lnTo>
                <a:cubicBezTo>
                  <a:pt x="2542909" y="0"/>
                  <a:pt x="2558493" y="15583"/>
                  <a:pt x="2558493" y="34806"/>
                </a:cubicBezTo>
                <a:lnTo>
                  <a:pt x="2558493" y="826727"/>
                </a:lnTo>
                <a:cubicBezTo>
                  <a:pt x="2558493" y="845950"/>
                  <a:pt x="2542909" y="861533"/>
                  <a:pt x="2523687" y="861533"/>
                </a:cubicBezTo>
                <a:lnTo>
                  <a:pt x="17405" y="861533"/>
                </a:lnTo>
                <a:cubicBezTo>
                  <a:pt x="7792" y="861533"/>
                  <a:pt x="0" y="853741"/>
                  <a:pt x="0" y="844128"/>
                </a:cubicBezTo>
                <a:lnTo>
                  <a:pt x="0" y="17405"/>
                </a:lnTo>
                <a:cubicBezTo>
                  <a:pt x="0" y="7792"/>
                  <a:pt x="7792" y="0"/>
                  <a:pt x="174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47882" y="2097268"/>
            <a:ext cx="17405" cy="861533"/>
          </a:xfrm>
          <a:custGeom>
            <a:avLst/>
            <a:gdLst/>
            <a:ahLst/>
            <a:cxnLst/>
            <a:rect l="l" t="t" r="r" b="b"/>
            <a:pathLst>
              <a:path w="17405" h="861533">
                <a:moveTo>
                  <a:pt x="17405" y="0"/>
                </a:moveTo>
                <a:lnTo>
                  <a:pt x="17405" y="0"/>
                </a:lnTo>
                <a:lnTo>
                  <a:pt x="17405" y="861533"/>
                </a:lnTo>
                <a:lnTo>
                  <a:pt x="17405" y="861533"/>
                </a:lnTo>
                <a:cubicBezTo>
                  <a:pt x="7792" y="861533"/>
                  <a:pt x="0" y="853741"/>
                  <a:pt x="0" y="844128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3361013" y="2201696"/>
            <a:ext cx="240185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1013" y="2445362"/>
            <a:ext cx="239314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"What are you allowed to do?"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61013" y="2684677"/>
            <a:ext cx="239314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Controls access rights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844" y="3063229"/>
            <a:ext cx="5334544" cy="400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40000"/>
              </a:lnSpc>
            </a:pPr>
            <a:r>
              <a:rPr lang="en-US" sz="95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Authentication always comes before authorization. You must prove who you are before the system can determine what you can access.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2445" y="3785525"/>
            <a:ext cx="5630424" cy="3071931"/>
          </a:xfrm>
          <a:custGeom>
            <a:avLst/>
            <a:gdLst/>
            <a:ahLst/>
            <a:cxnLst/>
            <a:rect l="l" t="t" r="r" b="b"/>
            <a:pathLst>
              <a:path w="5630424" h="3071931">
                <a:moveTo>
                  <a:pt x="69610" y="0"/>
                </a:moveTo>
                <a:lnTo>
                  <a:pt x="5560814" y="0"/>
                </a:lnTo>
                <a:cubicBezTo>
                  <a:pt x="5599259" y="0"/>
                  <a:pt x="5630424" y="31165"/>
                  <a:pt x="5630424" y="69610"/>
                </a:cubicBezTo>
                <a:lnTo>
                  <a:pt x="5630424" y="3002322"/>
                </a:lnTo>
                <a:cubicBezTo>
                  <a:pt x="5630424" y="3040766"/>
                  <a:pt x="5599259" y="3071931"/>
                  <a:pt x="5560814" y="3071931"/>
                </a:cubicBezTo>
                <a:lnTo>
                  <a:pt x="69610" y="3071931"/>
                </a:lnTo>
                <a:cubicBezTo>
                  <a:pt x="31165" y="3071931"/>
                  <a:pt x="0" y="3040766"/>
                  <a:pt x="0" y="3002322"/>
                </a:cubicBezTo>
                <a:lnTo>
                  <a:pt x="0" y="69610"/>
                </a:lnTo>
                <a:cubicBezTo>
                  <a:pt x="0" y="31191"/>
                  <a:pt x="31191" y="0"/>
                  <a:pt x="6961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844" y="3998732"/>
            <a:ext cx="217559" cy="174047"/>
          </a:xfrm>
          <a:custGeom>
            <a:avLst/>
            <a:gdLst/>
            <a:ahLst/>
            <a:cxnLst/>
            <a:rect l="l" t="t" r="r" b="b"/>
            <a:pathLst>
              <a:path w="217559" h="174047">
                <a:moveTo>
                  <a:pt x="108779" y="76146"/>
                </a:moveTo>
                <a:cubicBezTo>
                  <a:pt x="128291" y="76146"/>
                  <a:pt x="144133" y="60304"/>
                  <a:pt x="144133" y="40792"/>
                </a:cubicBezTo>
                <a:cubicBezTo>
                  <a:pt x="144133" y="21280"/>
                  <a:pt x="128291" y="5439"/>
                  <a:pt x="108779" y="5439"/>
                </a:cubicBezTo>
                <a:cubicBezTo>
                  <a:pt x="89267" y="5439"/>
                  <a:pt x="73426" y="21280"/>
                  <a:pt x="73426" y="40792"/>
                </a:cubicBezTo>
                <a:cubicBezTo>
                  <a:pt x="73426" y="60304"/>
                  <a:pt x="89267" y="76146"/>
                  <a:pt x="108779" y="76146"/>
                </a:cubicBezTo>
                <a:close/>
                <a:moveTo>
                  <a:pt x="32634" y="78865"/>
                </a:moveTo>
                <a:cubicBezTo>
                  <a:pt x="46142" y="78865"/>
                  <a:pt x="57109" y="67898"/>
                  <a:pt x="57109" y="54390"/>
                </a:cubicBezTo>
                <a:cubicBezTo>
                  <a:pt x="57109" y="40881"/>
                  <a:pt x="46142" y="29914"/>
                  <a:pt x="32634" y="29914"/>
                </a:cubicBezTo>
                <a:cubicBezTo>
                  <a:pt x="19126" y="29914"/>
                  <a:pt x="8158" y="40881"/>
                  <a:pt x="8158" y="54390"/>
                </a:cubicBezTo>
                <a:cubicBezTo>
                  <a:pt x="8158" y="67898"/>
                  <a:pt x="19126" y="78865"/>
                  <a:pt x="32634" y="78865"/>
                </a:cubicBezTo>
                <a:close/>
                <a:moveTo>
                  <a:pt x="0" y="141413"/>
                </a:moveTo>
                <a:lnTo>
                  <a:pt x="0" y="152291"/>
                </a:lnTo>
                <a:cubicBezTo>
                  <a:pt x="0" y="158308"/>
                  <a:pt x="4861" y="163169"/>
                  <a:pt x="10878" y="163169"/>
                </a:cubicBezTo>
                <a:lnTo>
                  <a:pt x="40350" y="163169"/>
                </a:lnTo>
                <a:cubicBezTo>
                  <a:pt x="38889" y="159838"/>
                  <a:pt x="38073" y="156166"/>
                  <a:pt x="38073" y="152291"/>
                </a:cubicBezTo>
                <a:lnTo>
                  <a:pt x="38073" y="146852"/>
                </a:lnTo>
                <a:cubicBezTo>
                  <a:pt x="38073" y="128768"/>
                  <a:pt x="44872" y="112247"/>
                  <a:pt x="56055" y="99737"/>
                </a:cubicBezTo>
                <a:cubicBezTo>
                  <a:pt x="52078" y="98547"/>
                  <a:pt x="47863" y="97901"/>
                  <a:pt x="43512" y="97901"/>
                </a:cubicBezTo>
                <a:cubicBezTo>
                  <a:pt x="19478" y="97901"/>
                  <a:pt x="0" y="117380"/>
                  <a:pt x="0" y="141413"/>
                </a:cubicBezTo>
                <a:close/>
                <a:moveTo>
                  <a:pt x="209400" y="54390"/>
                </a:moveTo>
                <a:cubicBezTo>
                  <a:pt x="209400" y="40881"/>
                  <a:pt x="198433" y="29914"/>
                  <a:pt x="184925" y="29914"/>
                </a:cubicBezTo>
                <a:cubicBezTo>
                  <a:pt x="171417" y="29914"/>
                  <a:pt x="160450" y="40881"/>
                  <a:pt x="160450" y="54390"/>
                </a:cubicBezTo>
                <a:cubicBezTo>
                  <a:pt x="160450" y="67898"/>
                  <a:pt x="171417" y="78865"/>
                  <a:pt x="184925" y="78865"/>
                </a:cubicBezTo>
                <a:cubicBezTo>
                  <a:pt x="198433" y="78865"/>
                  <a:pt x="209400" y="67898"/>
                  <a:pt x="209400" y="54390"/>
                </a:cubicBezTo>
                <a:close/>
                <a:moveTo>
                  <a:pt x="54390" y="146852"/>
                </a:moveTo>
                <a:lnTo>
                  <a:pt x="54390" y="152291"/>
                </a:lnTo>
                <a:cubicBezTo>
                  <a:pt x="54390" y="158308"/>
                  <a:pt x="59251" y="163169"/>
                  <a:pt x="65268" y="163169"/>
                </a:cubicBezTo>
                <a:lnTo>
                  <a:pt x="118570" y="163169"/>
                </a:lnTo>
                <a:cubicBezTo>
                  <a:pt x="116156" y="155827"/>
                  <a:pt x="116428" y="148076"/>
                  <a:pt x="122207" y="141413"/>
                </a:cubicBezTo>
                <a:cubicBezTo>
                  <a:pt x="117448" y="135906"/>
                  <a:pt x="115238" y="127918"/>
                  <a:pt x="118332" y="119895"/>
                </a:cubicBezTo>
                <a:cubicBezTo>
                  <a:pt x="120575" y="114082"/>
                  <a:pt x="123737" y="108643"/>
                  <a:pt x="127646" y="103816"/>
                </a:cubicBezTo>
                <a:cubicBezTo>
                  <a:pt x="129482" y="101573"/>
                  <a:pt x="131589" y="99839"/>
                  <a:pt x="133867" y="98581"/>
                </a:cubicBezTo>
                <a:cubicBezTo>
                  <a:pt x="126354" y="94672"/>
                  <a:pt x="117822" y="92463"/>
                  <a:pt x="108779" y="92463"/>
                </a:cubicBezTo>
                <a:cubicBezTo>
                  <a:pt x="78729" y="92463"/>
                  <a:pt x="54390" y="116802"/>
                  <a:pt x="54390" y="146852"/>
                </a:cubicBezTo>
                <a:close/>
                <a:moveTo>
                  <a:pt x="212324" y="131861"/>
                </a:moveTo>
                <a:cubicBezTo>
                  <a:pt x="214465" y="130637"/>
                  <a:pt x="215553" y="128088"/>
                  <a:pt x="214635" y="125742"/>
                </a:cubicBezTo>
                <a:cubicBezTo>
                  <a:pt x="213004" y="121527"/>
                  <a:pt x="210726" y="117550"/>
                  <a:pt x="207871" y="114048"/>
                </a:cubicBezTo>
                <a:cubicBezTo>
                  <a:pt x="206307" y="112111"/>
                  <a:pt x="203554" y="111771"/>
                  <a:pt x="201412" y="113029"/>
                </a:cubicBezTo>
                <a:cubicBezTo>
                  <a:pt x="194001" y="117312"/>
                  <a:pt x="184891" y="112077"/>
                  <a:pt x="184891" y="103476"/>
                </a:cubicBezTo>
                <a:cubicBezTo>
                  <a:pt x="184891" y="100995"/>
                  <a:pt x="183225" y="98785"/>
                  <a:pt x="180778" y="98411"/>
                </a:cubicBezTo>
                <a:cubicBezTo>
                  <a:pt x="176393" y="97732"/>
                  <a:pt x="171668" y="97732"/>
                  <a:pt x="167282" y="98411"/>
                </a:cubicBezTo>
                <a:cubicBezTo>
                  <a:pt x="164835" y="98785"/>
                  <a:pt x="163169" y="100995"/>
                  <a:pt x="163169" y="103476"/>
                </a:cubicBezTo>
                <a:cubicBezTo>
                  <a:pt x="163169" y="112043"/>
                  <a:pt x="154059" y="117312"/>
                  <a:pt x="146648" y="113029"/>
                </a:cubicBezTo>
                <a:cubicBezTo>
                  <a:pt x="144507" y="111805"/>
                  <a:pt x="141753" y="112145"/>
                  <a:pt x="140190" y="114048"/>
                </a:cubicBezTo>
                <a:cubicBezTo>
                  <a:pt x="137334" y="117550"/>
                  <a:pt x="135056" y="121527"/>
                  <a:pt x="133425" y="125742"/>
                </a:cubicBezTo>
                <a:cubicBezTo>
                  <a:pt x="132541" y="128054"/>
                  <a:pt x="133595" y="130603"/>
                  <a:pt x="135736" y="131827"/>
                </a:cubicBezTo>
                <a:cubicBezTo>
                  <a:pt x="143181" y="136110"/>
                  <a:pt x="143181" y="146614"/>
                  <a:pt x="135736" y="150931"/>
                </a:cubicBezTo>
                <a:cubicBezTo>
                  <a:pt x="133595" y="152155"/>
                  <a:pt x="132507" y="154705"/>
                  <a:pt x="133425" y="157016"/>
                </a:cubicBezTo>
                <a:cubicBezTo>
                  <a:pt x="135056" y="161232"/>
                  <a:pt x="137334" y="165209"/>
                  <a:pt x="140190" y="168710"/>
                </a:cubicBezTo>
                <a:cubicBezTo>
                  <a:pt x="141753" y="170648"/>
                  <a:pt x="144507" y="170988"/>
                  <a:pt x="146648" y="169730"/>
                </a:cubicBezTo>
                <a:cubicBezTo>
                  <a:pt x="154059" y="165447"/>
                  <a:pt x="163169" y="170716"/>
                  <a:pt x="163169" y="179282"/>
                </a:cubicBezTo>
                <a:cubicBezTo>
                  <a:pt x="163169" y="181764"/>
                  <a:pt x="164835" y="183973"/>
                  <a:pt x="167282" y="184347"/>
                </a:cubicBezTo>
                <a:cubicBezTo>
                  <a:pt x="171668" y="185027"/>
                  <a:pt x="176393" y="185027"/>
                  <a:pt x="180778" y="184347"/>
                </a:cubicBezTo>
                <a:cubicBezTo>
                  <a:pt x="183225" y="183973"/>
                  <a:pt x="184891" y="181764"/>
                  <a:pt x="184891" y="179282"/>
                </a:cubicBezTo>
                <a:cubicBezTo>
                  <a:pt x="184891" y="170716"/>
                  <a:pt x="194001" y="165447"/>
                  <a:pt x="201412" y="169730"/>
                </a:cubicBezTo>
                <a:cubicBezTo>
                  <a:pt x="203554" y="170954"/>
                  <a:pt x="206307" y="170614"/>
                  <a:pt x="207871" y="168710"/>
                </a:cubicBezTo>
                <a:cubicBezTo>
                  <a:pt x="210726" y="165209"/>
                  <a:pt x="213004" y="161232"/>
                  <a:pt x="214635" y="157016"/>
                </a:cubicBezTo>
                <a:cubicBezTo>
                  <a:pt x="215519" y="154705"/>
                  <a:pt x="214465" y="152155"/>
                  <a:pt x="212324" y="150931"/>
                </a:cubicBezTo>
                <a:cubicBezTo>
                  <a:pt x="204879" y="146648"/>
                  <a:pt x="204879" y="136144"/>
                  <a:pt x="212324" y="131827"/>
                </a:cubicBezTo>
                <a:close/>
                <a:moveTo>
                  <a:pt x="160450" y="141413"/>
                </a:moveTo>
                <a:cubicBezTo>
                  <a:pt x="160450" y="133909"/>
                  <a:pt x="166542" y="127816"/>
                  <a:pt x="174047" y="127816"/>
                </a:cubicBezTo>
                <a:cubicBezTo>
                  <a:pt x="181552" y="127816"/>
                  <a:pt x="187645" y="133909"/>
                  <a:pt x="187645" y="141413"/>
                </a:cubicBezTo>
                <a:cubicBezTo>
                  <a:pt x="187645" y="148918"/>
                  <a:pt x="181552" y="155011"/>
                  <a:pt x="174047" y="155011"/>
                </a:cubicBezTo>
                <a:cubicBezTo>
                  <a:pt x="166542" y="155011"/>
                  <a:pt x="160450" y="148918"/>
                  <a:pt x="160450" y="14141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48403" y="3963923"/>
            <a:ext cx="514309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Authorization Models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546" y="4312017"/>
            <a:ext cx="5264925" cy="765807"/>
          </a:xfrm>
          <a:custGeom>
            <a:avLst/>
            <a:gdLst/>
            <a:ahLst/>
            <a:cxnLst/>
            <a:rect l="l" t="t" r="r" b="b"/>
            <a:pathLst>
              <a:path w="5264925" h="765807">
                <a:moveTo>
                  <a:pt x="17405" y="0"/>
                </a:moveTo>
                <a:lnTo>
                  <a:pt x="5230119" y="0"/>
                </a:lnTo>
                <a:cubicBezTo>
                  <a:pt x="5249342" y="0"/>
                  <a:pt x="5264925" y="15583"/>
                  <a:pt x="5264925" y="34806"/>
                </a:cubicBezTo>
                <a:lnTo>
                  <a:pt x="5264925" y="731001"/>
                </a:lnTo>
                <a:cubicBezTo>
                  <a:pt x="5264925" y="750224"/>
                  <a:pt x="5249342" y="765807"/>
                  <a:pt x="5230119" y="765807"/>
                </a:cubicBez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2"/>
                  <a:pt x="7792" y="0"/>
                  <a:pt x="174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9546" y="4312017"/>
            <a:ext cx="17405" cy="765807"/>
          </a:xfrm>
          <a:custGeom>
            <a:avLst/>
            <a:gdLst/>
            <a:ahLst/>
            <a:cxnLst/>
            <a:rect l="l" t="t" r="r" b="b"/>
            <a:pathLst>
              <a:path w="17405" h="765807">
                <a:moveTo>
                  <a:pt x="17405" y="0"/>
                </a:moveTo>
                <a:lnTo>
                  <a:pt x="17405" y="0"/>
                </a:lnTo>
                <a:lnTo>
                  <a:pt x="17405" y="765807"/>
                </a:ln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52677" y="4416445"/>
            <a:ext cx="190581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RBAC - Role-Based Access Control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32341" y="4433850"/>
            <a:ext cx="722296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2677" y="4625302"/>
            <a:ext cx="509958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based on user's role within the organization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677" y="4829807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"Managers can approve expenses up to $5,000"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9546" y="5177901"/>
            <a:ext cx="5264925" cy="765807"/>
          </a:xfrm>
          <a:custGeom>
            <a:avLst/>
            <a:gdLst/>
            <a:ahLst/>
            <a:cxnLst/>
            <a:rect l="l" t="t" r="r" b="b"/>
            <a:pathLst>
              <a:path w="5264925" h="765807">
                <a:moveTo>
                  <a:pt x="17405" y="0"/>
                </a:moveTo>
                <a:lnTo>
                  <a:pt x="5230119" y="0"/>
                </a:lnTo>
                <a:cubicBezTo>
                  <a:pt x="5249342" y="0"/>
                  <a:pt x="5264925" y="15583"/>
                  <a:pt x="5264925" y="34806"/>
                </a:cubicBezTo>
                <a:lnTo>
                  <a:pt x="5264925" y="731001"/>
                </a:lnTo>
                <a:cubicBezTo>
                  <a:pt x="5264925" y="750224"/>
                  <a:pt x="5249342" y="765807"/>
                  <a:pt x="5230119" y="765807"/>
                </a:cubicBez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2"/>
                  <a:pt x="7792" y="0"/>
                  <a:pt x="174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9546" y="5177901"/>
            <a:ext cx="17405" cy="765807"/>
          </a:xfrm>
          <a:custGeom>
            <a:avLst/>
            <a:gdLst/>
            <a:ahLst/>
            <a:cxnLst/>
            <a:rect l="l" t="t" r="r" b="b"/>
            <a:pathLst>
              <a:path w="17405" h="765807">
                <a:moveTo>
                  <a:pt x="17405" y="0"/>
                </a:moveTo>
                <a:lnTo>
                  <a:pt x="17405" y="0"/>
                </a:lnTo>
                <a:lnTo>
                  <a:pt x="17405" y="765807"/>
                </a:ln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652677" y="5282330"/>
            <a:ext cx="183619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 - Mandatory Access Control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70133" y="5299734"/>
            <a:ext cx="783212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Security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2677" y="5491186"/>
            <a:ext cx="509958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enforced by system based on security labels/clearances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2677" y="5695692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Military classifications (Top Secret, Secret, Confidential)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4236" y="1570775"/>
            <a:ext cx="5630424" cy="3080634"/>
          </a:xfrm>
          <a:custGeom>
            <a:avLst/>
            <a:gdLst/>
            <a:ahLst/>
            <a:cxnLst/>
            <a:rect l="l" t="t" r="r" b="b"/>
            <a:pathLst>
              <a:path w="5630424" h="3080634">
                <a:moveTo>
                  <a:pt x="69622" y="0"/>
                </a:moveTo>
                <a:lnTo>
                  <a:pt x="5560802" y="0"/>
                </a:lnTo>
                <a:cubicBezTo>
                  <a:pt x="5599253" y="0"/>
                  <a:pt x="5630424" y="31171"/>
                  <a:pt x="5630424" y="69622"/>
                </a:cubicBezTo>
                <a:lnTo>
                  <a:pt x="5630424" y="3011012"/>
                </a:lnTo>
                <a:cubicBezTo>
                  <a:pt x="5630424" y="3049463"/>
                  <a:pt x="5599253" y="3080634"/>
                  <a:pt x="5560802" y="3080634"/>
                </a:cubicBezTo>
                <a:lnTo>
                  <a:pt x="69622" y="3080634"/>
                </a:lnTo>
                <a:cubicBezTo>
                  <a:pt x="31171" y="3080634"/>
                  <a:pt x="0" y="3049463"/>
                  <a:pt x="0" y="3011012"/>
                </a:cubicBezTo>
                <a:lnTo>
                  <a:pt x="0" y="69622"/>
                </a:lnTo>
                <a:cubicBezTo>
                  <a:pt x="0" y="31197"/>
                  <a:pt x="31197" y="0"/>
                  <a:pt x="6962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1336" y="1749173"/>
            <a:ext cx="5264925" cy="765807"/>
          </a:xfrm>
          <a:custGeom>
            <a:avLst/>
            <a:gdLst/>
            <a:ahLst/>
            <a:cxnLst/>
            <a:rect l="l" t="t" r="r" b="b"/>
            <a:pathLst>
              <a:path w="5264925" h="765807">
                <a:moveTo>
                  <a:pt x="17405" y="0"/>
                </a:moveTo>
                <a:lnTo>
                  <a:pt x="5230119" y="0"/>
                </a:lnTo>
                <a:cubicBezTo>
                  <a:pt x="5249342" y="0"/>
                  <a:pt x="5264925" y="15583"/>
                  <a:pt x="5264925" y="34806"/>
                </a:cubicBezTo>
                <a:lnTo>
                  <a:pt x="5264925" y="731001"/>
                </a:lnTo>
                <a:cubicBezTo>
                  <a:pt x="5264925" y="750224"/>
                  <a:pt x="5249342" y="765807"/>
                  <a:pt x="5230119" y="765807"/>
                </a:cubicBez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2"/>
                  <a:pt x="7792" y="0"/>
                  <a:pt x="174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91336" y="1749173"/>
            <a:ext cx="17405" cy="765807"/>
          </a:xfrm>
          <a:custGeom>
            <a:avLst/>
            <a:gdLst/>
            <a:ahLst/>
            <a:cxnLst/>
            <a:rect l="l" t="t" r="r" b="b"/>
            <a:pathLst>
              <a:path w="17405" h="765807">
                <a:moveTo>
                  <a:pt x="17405" y="0"/>
                </a:moveTo>
                <a:lnTo>
                  <a:pt x="17405" y="0"/>
                </a:lnTo>
                <a:lnTo>
                  <a:pt x="17405" y="765807"/>
                </a:ln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8" name="Text 36"/>
          <p:cNvSpPr/>
          <p:nvPr/>
        </p:nvSpPr>
        <p:spPr>
          <a:xfrm>
            <a:off x="6504467" y="1853602"/>
            <a:ext cx="19493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DAC - Discretionary Access Control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59257" y="1871006"/>
            <a:ext cx="65267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Flexible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4467" y="2062458"/>
            <a:ext cx="509958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owners decide who can access their resources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4467" y="2266964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sharing - you control who sees your documents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336" y="2615058"/>
            <a:ext cx="5264925" cy="765807"/>
          </a:xfrm>
          <a:custGeom>
            <a:avLst/>
            <a:gdLst/>
            <a:ahLst/>
            <a:cxnLst/>
            <a:rect l="l" t="t" r="r" b="b"/>
            <a:pathLst>
              <a:path w="5264925" h="765807">
                <a:moveTo>
                  <a:pt x="17405" y="0"/>
                </a:moveTo>
                <a:lnTo>
                  <a:pt x="5230119" y="0"/>
                </a:lnTo>
                <a:cubicBezTo>
                  <a:pt x="5249342" y="0"/>
                  <a:pt x="5264925" y="15583"/>
                  <a:pt x="5264925" y="34806"/>
                </a:cubicBezTo>
                <a:lnTo>
                  <a:pt x="5264925" y="731001"/>
                </a:lnTo>
                <a:cubicBezTo>
                  <a:pt x="5264925" y="750224"/>
                  <a:pt x="5249342" y="765807"/>
                  <a:pt x="5230119" y="765807"/>
                </a:cubicBez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2"/>
                  <a:pt x="7792" y="0"/>
                  <a:pt x="174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91336" y="2615058"/>
            <a:ext cx="17405" cy="765807"/>
          </a:xfrm>
          <a:custGeom>
            <a:avLst/>
            <a:gdLst/>
            <a:ahLst/>
            <a:cxnLst/>
            <a:rect l="l" t="t" r="r" b="b"/>
            <a:pathLst>
              <a:path w="17405" h="765807">
                <a:moveTo>
                  <a:pt x="17405" y="0"/>
                </a:moveTo>
                <a:lnTo>
                  <a:pt x="17405" y="0"/>
                </a:lnTo>
                <a:lnTo>
                  <a:pt x="17405" y="765807"/>
                </a:lnTo>
                <a:lnTo>
                  <a:pt x="17405" y="765807"/>
                </a:lnTo>
                <a:cubicBezTo>
                  <a:pt x="7792" y="765807"/>
                  <a:pt x="0" y="758015"/>
                  <a:pt x="0" y="748403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504467" y="2719486"/>
            <a:ext cx="214077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ABAC - Attribute-Based Access Control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902556" y="2736891"/>
            <a:ext cx="704891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Dynamic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04467" y="2928343"/>
            <a:ext cx="509958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based on attributes of user, resource, and environment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04467" y="3132848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"Engineers can access prod servers only during business hours from company network"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6985" y="3520103"/>
            <a:ext cx="5264925" cy="948557"/>
          </a:xfrm>
          <a:custGeom>
            <a:avLst/>
            <a:gdLst/>
            <a:ahLst/>
            <a:cxnLst/>
            <a:rect l="l" t="t" r="r" b="b"/>
            <a:pathLst>
              <a:path w="5264925" h="948557">
                <a:moveTo>
                  <a:pt x="34812" y="0"/>
                </a:moveTo>
                <a:lnTo>
                  <a:pt x="5230113" y="0"/>
                </a:lnTo>
                <a:cubicBezTo>
                  <a:pt x="5249339" y="0"/>
                  <a:pt x="5264925" y="15586"/>
                  <a:pt x="5264925" y="34812"/>
                </a:cubicBezTo>
                <a:lnTo>
                  <a:pt x="5264925" y="913745"/>
                </a:lnTo>
                <a:cubicBezTo>
                  <a:pt x="5264925" y="932971"/>
                  <a:pt x="5249339" y="948557"/>
                  <a:pt x="5230113" y="948557"/>
                </a:cubicBezTo>
                <a:lnTo>
                  <a:pt x="34812" y="948557"/>
                </a:lnTo>
                <a:cubicBezTo>
                  <a:pt x="15586" y="948557"/>
                  <a:pt x="0" y="932971"/>
                  <a:pt x="0" y="913745"/>
                </a:cubicBezTo>
                <a:lnTo>
                  <a:pt x="0" y="34812"/>
                </a:lnTo>
                <a:cubicBezTo>
                  <a:pt x="0" y="15586"/>
                  <a:pt x="15586" y="0"/>
                  <a:pt x="3481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5764" y="3628882"/>
            <a:ext cx="510828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Authorization Principles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95764" y="3872548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get minimum access needed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95764" y="4046595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Need-to-Know: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 only to information required for job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95764" y="4220642"/>
            <a:ext cx="5099580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2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10000"/>
              </a:lnSpc>
            </a:pPr>
            <a:r>
              <a:rPr lang="en-US" sz="8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Duties:</a:t>
            </a:r>
            <a:pPr>
              <a:lnSpc>
                <a:spcPct val="110000"/>
              </a:lnSpc>
            </a:pPr>
            <a:r>
              <a:rPr lang="en-US" sz="8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Critical actions require multiple people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04236" y="4799349"/>
            <a:ext cx="5630424" cy="2053756"/>
          </a:xfrm>
          <a:custGeom>
            <a:avLst/>
            <a:gdLst/>
            <a:ahLst/>
            <a:cxnLst/>
            <a:rect l="l" t="t" r="r" b="b"/>
            <a:pathLst>
              <a:path w="5630424" h="2053756">
                <a:moveTo>
                  <a:pt x="69622" y="0"/>
                </a:moveTo>
                <a:lnTo>
                  <a:pt x="5560802" y="0"/>
                </a:lnTo>
                <a:cubicBezTo>
                  <a:pt x="5599253" y="0"/>
                  <a:pt x="5630424" y="31171"/>
                  <a:pt x="5630424" y="69622"/>
                </a:cubicBezTo>
                <a:lnTo>
                  <a:pt x="5630424" y="1984134"/>
                </a:lnTo>
                <a:cubicBezTo>
                  <a:pt x="5630424" y="2022585"/>
                  <a:pt x="5599253" y="2053756"/>
                  <a:pt x="5560802" y="2053756"/>
                </a:cubicBezTo>
                <a:lnTo>
                  <a:pt x="69622" y="2053756"/>
                </a:lnTo>
                <a:cubicBezTo>
                  <a:pt x="31171" y="2053756"/>
                  <a:pt x="0" y="2022585"/>
                  <a:pt x="0" y="1984134"/>
                </a:cubicBezTo>
                <a:lnTo>
                  <a:pt x="0" y="69622"/>
                </a:lnTo>
                <a:cubicBezTo>
                  <a:pt x="0" y="31197"/>
                  <a:pt x="31197" y="0"/>
                  <a:pt x="6962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0000" y="4986450"/>
            <a:ext cx="195803" cy="156642"/>
          </a:xfrm>
          <a:custGeom>
            <a:avLst/>
            <a:gdLst/>
            <a:ahLst/>
            <a:cxnLst/>
            <a:rect l="l" t="t" r="r" b="b"/>
            <a:pathLst>
              <a:path w="195803" h="156642">
                <a:moveTo>
                  <a:pt x="117482" y="9790"/>
                </a:moveTo>
                <a:lnTo>
                  <a:pt x="156642" y="9790"/>
                </a:lnTo>
                <a:cubicBezTo>
                  <a:pt x="162058" y="9790"/>
                  <a:pt x="166433" y="14165"/>
                  <a:pt x="166433" y="19580"/>
                </a:cubicBezTo>
                <a:cubicBezTo>
                  <a:pt x="166433" y="24995"/>
                  <a:pt x="162058" y="29370"/>
                  <a:pt x="156642" y="29370"/>
                </a:cubicBezTo>
                <a:lnTo>
                  <a:pt x="121887" y="29370"/>
                </a:lnTo>
                <a:cubicBezTo>
                  <a:pt x="120296" y="37264"/>
                  <a:pt x="114881" y="43780"/>
                  <a:pt x="107692" y="46901"/>
                </a:cubicBezTo>
                <a:lnTo>
                  <a:pt x="107692" y="137062"/>
                </a:lnTo>
                <a:lnTo>
                  <a:pt x="156642" y="137062"/>
                </a:lnTo>
                <a:cubicBezTo>
                  <a:pt x="162058" y="137062"/>
                  <a:pt x="166433" y="141437"/>
                  <a:pt x="166433" y="146852"/>
                </a:cubicBezTo>
                <a:cubicBezTo>
                  <a:pt x="166433" y="152267"/>
                  <a:pt x="162058" y="156642"/>
                  <a:pt x="156642" y="156642"/>
                </a:cubicBezTo>
                <a:lnTo>
                  <a:pt x="39161" y="156642"/>
                </a:lnTo>
                <a:cubicBezTo>
                  <a:pt x="33745" y="156642"/>
                  <a:pt x="29370" y="152267"/>
                  <a:pt x="29370" y="146852"/>
                </a:cubicBezTo>
                <a:cubicBezTo>
                  <a:pt x="29370" y="141437"/>
                  <a:pt x="33745" y="137062"/>
                  <a:pt x="39161" y="137062"/>
                </a:cubicBezTo>
                <a:lnTo>
                  <a:pt x="88111" y="137062"/>
                </a:lnTo>
                <a:lnTo>
                  <a:pt x="88111" y="46901"/>
                </a:lnTo>
                <a:cubicBezTo>
                  <a:pt x="80922" y="43750"/>
                  <a:pt x="75507" y="37233"/>
                  <a:pt x="73916" y="29370"/>
                </a:cubicBezTo>
                <a:lnTo>
                  <a:pt x="39161" y="29370"/>
                </a:lnTo>
                <a:cubicBezTo>
                  <a:pt x="33745" y="29370"/>
                  <a:pt x="29370" y="24995"/>
                  <a:pt x="29370" y="19580"/>
                </a:cubicBezTo>
                <a:cubicBezTo>
                  <a:pt x="29370" y="14165"/>
                  <a:pt x="33745" y="9790"/>
                  <a:pt x="39161" y="9790"/>
                </a:cubicBezTo>
                <a:lnTo>
                  <a:pt x="78321" y="9790"/>
                </a:lnTo>
                <a:cubicBezTo>
                  <a:pt x="82788" y="3855"/>
                  <a:pt x="89886" y="0"/>
                  <a:pt x="97901" y="0"/>
                </a:cubicBezTo>
                <a:cubicBezTo>
                  <a:pt x="105917" y="0"/>
                  <a:pt x="113015" y="3855"/>
                  <a:pt x="117482" y="9790"/>
                </a:cubicBezTo>
                <a:close/>
                <a:moveTo>
                  <a:pt x="134492" y="97901"/>
                </a:moveTo>
                <a:lnTo>
                  <a:pt x="178793" y="97901"/>
                </a:lnTo>
                <a:lnTo>
                  <a:pt x="156642" y="59903"/>
                </a:lnTo>
                <a:lnTo>
                  <a:pt x="134492" y="97901"/>
                </a:lnTo>
                <a:close/>
                <a:moveTo>
                  <a:pt x="156642" y="127272"/>
                </a:moveTo>
                <a:cubicBezTo>
                  <a:pt x="137399" y="127272"/>
                  <a:pt x="121398" y="116870"/>
                  <a:pt x="118094" y="103133"/>
                </a:cubicBezTo>
                <a:cubicBezTo>
                  <a:pt x="117298" y="99768"/>
                  <a:pt x="118400" y="96311"/>
                  <a:pt x="120143" y="93312"/>
                </a:cubicBezTo>
                <a:lnTo>
                  <a:pt x="149269" y="43383"/>
                </a:lnTo>
                <a:cubicBezTo>
                  <a:pt x="150799" y="40751"/>
                  <a:pt x="153614" y="39161"/>
                  <a:pt x="156642" y="39161"/>
                </a:cubicBezTo>
                <a:cubicBezTo>
                  <a:pt x="159671" y="39161"/>
                  <a:pt x="162486" y="40782"/>
                  <a:pt x="164016" y="43383"/>
                </a:cubicBezTo>
                <a:lnTo>
                  <a:pt x="193141" y="93312"/>
                </a:lnTo>
                <a:cubicBezTo>
                  <a:pt x="194885" y="96311"/>
                  <a:pt x="195987" y="99768"/>
                  <a:pt x="195191" y="103133"/>
                </a:cubicBezTo>
                <a:cubicBezTo>
                  <a:pt x="191887" y="116839"/>
                  <a:pt x="175886" y="127272"/>
                  <a:pt x="156642" y="127272"/>
                </a:cubicBezTo>
                <a:close/>
                <a:moveTo>
                  <a:pt x="38793" y="59903"/>
                </a:moveTo>
                <a:lnTo>
                  <a:pt x="16643" y="97901"/>
                </a:lnTo>
                <a:lnTo>
                  <a:pt x="60974" y="97901"/>
                </a:lnTo>
                <a:lnTo>
                  <a:pt x="38793" y="59903"/>
                </a:lnTo>
                <a:close/>
                <a:moveTo>
                  <a:pt x="275" y="103133"/>
                </a:moveTo>
                <a:cubicBezTo>
                  <a:pt x="-520" y="99768"/>
                  <a:pt x="581" y="96311"/>
                  <a:pt x="2325" y="93312"/>
                </a:cubicBezTo>
                <a:lnTo>
                  <a:pt x="31451" y="43383"/>
                </a:lnTo>
                <a:cubicBezTo>
                  <a:pt x="32981" y="40751"/>
                  <a:pt x="35795" y="39161"/>
                  <a:pt x="38824" y="39161"/>
                </a:cubicBezTo>
                <a:cubicBezTo>
                  <a:pt x="41853" y="39161"/>
                  <a:pt x="44668" y="40782"/>
                  <a:pt x="46197" y="43383"/>
                </a:cubicBezTo>
                <a:lnTo>
                  <a:pt x="75323" y="93312"/>
                </a:lnTo>
                <a:cubicBezTo>
                  <a:pt x="77067" y="96311"/>
                  <a:pt x="78168" y="99768"/>
                  <a:pt x="77373" y="103133"/>
                </a:cubicBezTo>
                <a:cubicBezTo>
                  <a:pt x="74069" y="116839"/>
                  <a:pt x="58068" y="127272"/>
                  <a:pt x="38824" y="127272"/>
                </a:cubicBezTo>
                <a:cubicBezTo>
                  <a:pt x="19580" y="127272"/>
                  <a:pt x="3580" y="116870"/>
                  <a:pt x="275" y="10313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6547979" y="4942938"/>
            <a:ext cx="522141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7824" y="5291032"/>
          <a:ext cx="5343246" cy="1418484"/>
        </p:xfrm>
        <a:graphic>
          <a:graphicData uri="http://schemas.openxmlformats.org/drawingml/2006/table">
            <a:tbl>
              <a:tblPr/>
              <a:tblGrid>
                <a:gridCol w="931152"/>
                <a:gridCol w="1279246"/>
                <a:gridCol w="1688257"/>
                <a:gridCol w="1444591"/>
              </a:tblGrid>
              <a:tr h="283697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5C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Flexibility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5C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5C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Complexity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5C6A"/>
                    </a:solidFill>
                  </a:tcPr>
                </a:tc>
              </a:tr>
              <a:tr h="283697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RBAC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Medium-High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</a:tr>
              <a:tr h="283697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Very 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</a:tr>
              <a:tr h="283697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4A5C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DAC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Low-Medium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</a:tr>
              <a:tr h="283697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ABAC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Very 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Very High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9619" marR="69619" marT="69619" marB="6961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792f53f13e92b7d99008398ca8a5eb9b01eeee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6" b="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24525" y="411956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24550" y="61198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2785616" y="1393031"/>
            <a:ext cx="661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 Security-First Culture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00263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1781175" y="2574131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is not just about tools and technologies—it's about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people, processes, and continuous improvement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5938" y="3421856"/>
            <a:ext cx="8620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understanding these fundamental concepts, organizations can build resilient defense mechanisms and foster a culture where </a:t>
            </a:r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is everyone's responsibility</a:t>
            </a:r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23963" y="4364831"/>
            <a:ext cx="2257425" cy="1514475"/>
          </a:xfrm>
          <a:custGeom>
            <a:avLst/>
            <a:gdLst/>
            <a:ahLst/>
            <a:cxnLst/>
            <a:rect l="l" t="t" r="r" b="b"/>
            <a:pathLst>
              <a:path w="2257425" h="1514475">
                <a:moveTo>
                  <a:pt x="76193" y="0"/>
                </a:moveTo>
                <a:lnTo>
                  <a:pt x="2181232" y="0"/>
                </a:lnTo>
                <a:cubicBezTo>
                  <a:pt x="2223312" y="0"/>
                  <a:pt x="2257425" y="34113"/>
                  <a:pt x="2257425" y="76193"/>
                </a:cubicBezTo>
                <a:lnTo>
                  <a:pt x="2257425" y="1438282"/>
                </a:lnTo>
                <a:cubicBezTo>
                  <a:pt x="2257425" y="1480362"/>
                  <a:pt x="2223312" y="1514475"/>
                  <a:pt x="2181232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76463" y="456009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1376363" y="496014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Teamwork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85888" y="5303044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Red, Blue, and Purple teams working together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19512" y="4364831"/>
            <a:ext cx="2257425" cy="1514475"/>
          </a:xfrm>
          <a:custGeom>
            <a:avLst/>
            <a:gdLst/>
            <a:ahLst/>
            <a:cxnLst/>
            <a:rect l="l" t="t" r="r" b="b"/>
            <a:pathLst>
              <a:path w="2257425" h="1514475">
                <a:moveTo>
                  <a:pt x="76193" y="0"/>
                </a:moveTo>
                <a:lnTo>
                  <a:pt x="2181232" y="0"/>
                </a:lnTo>
                <a:cubicBezTo>
                  <a:pt x="2223312" y="0"/>
                  <a:pt x="2257425" y="34113"/>
                  <a:pt x="2257425" y="76193"/>
                </a:cubicBezTo>
                <a:lnTo>
                  <a:pt x="2257425" y="1438282"/>
                </a:lnTo>
                <a:cubicBezTo>
                  <a:pt x="2257425" y="1480362"/>
                  <a:pt x="2223312" y="1514475"/>
                  <a:pt x="2181232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9872" y="456009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3"/>
          <p:cNvSpPr/>
          <p:nvPr/>
        </p:nvSpPr>
        <p:spPr>
          <a:xfrm>
            <a:off x="3871913" y="496014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Vigilance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81438" y="5303044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monitoring and proactive threat hunting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5063" y="4364831"/>
            <a:ext cx="2257425" cy="1514475"/>
          </a:xfrm>
          <a:custGeom>
            <a:avLst/>
            <a:gdLst/>
            <a:ahLst/>
            <a:cxnLst/>
            <a:rect l="l" t="t" r="r" b="b"/>
            <a:pathLst>
              <a:path w="2257425" h="1514475">
                <a:moveTo>
                  <a:pt x="76193" y="0"/>
                </a:moveTo>
                <a:lnTo>
                  <a:pt x="2181232" y="0"/>
                </a:lnTo>
                <a:cubicBezTo>
                  <a:pt x="2223312" y="0"/>
                  <a:pt x="2257425" y="34113"/>
                  <a:pt x="2257425" y="76193"/>
                </a:cubicBezTo>
                <a:lnTo>
                  <a:pt x="2257425" y="1438282"/>
                </a:lnTo>
                <a:cubicBezTo>
                  <a:pt x="2257425" y="1480362"/>
                  <a:pt x="2223312" y="1514475"/>
                  <a:pt x="2181232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03281" y="45600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367463" y="496014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 in Depth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76988" y="5303044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layers of security controls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710613" y="4364831"/>
            <a:ext cx="2257425" cy="1514475"/>
          </a:xfrm>
          <a:custGeom>
            <a:avLst/>
            <a:gdLst/>
            <a:ahLst/>
            <a:cxnLst/>
            <a:rect l="l" t="t" r="r" b="b"/>
            <a:pathLst>
              <a:path w="2257425" h="1514475">
                <a:moveTo>
                  <a:pt x="76193" y="0"/>
                </a:moveTo>
                <a:lnTo>
                  <a:pt x="2181232" y="0"/>
                </a:lnTo>
                <a:cubicBezTo>
                  <a:pt x="2223312" y="0"/>
                  <a:pt x="2257425" y="34113"/>
                  <a:pt x="2257425" y="76193"/>
                </a:cubicBezTo>
                <a:lnTo>
                  <a:pt x="2257425" y="1438282"/>
                </a:lnTo>
                <a:cubicBezTo>
                  <a:pt x="2257425" y="1480362"/>
                  <a:pt x="2223312" y="1514475"/>
                  <a:pt x="2181232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8831" y="45600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1"/>
          <p:cNvSpPr/>
          <p:nvPr/>
        </p:nvSpPr>
        <p:spPr>
          <a:xfrm>
            <a:off x="8863013" y="496014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72538" y="5303044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Adapting to evolving threats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127674" y="62841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4"/>
          <p:cNvSpPr/>
          <p:nvPr/>
        </p:nvSpPr>
        <p:spPr>
          <a:xfrm>
            <a:off x="4361036" y="6265069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10312" y="628411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6"/>
          <p:cNvSpPr/>
          <p:nvPr/>
        </p:nvSpPr>
        <p:spPr>
          <a:xfrm>
            <a:off x="5972249" y="6265069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14939" y="628411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8"/>
          <p:cNvSpPr/>
          <p:nvPr/>
        </p:nvSpPr>
        <p:spPr>
          <a:xfrm>
            <a:off x="7276877" y="6265069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&amp; Verify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Fundamentals</dc:title>
  <dc:subject>Cybersecurity Fundamentals</dc:subject>
  <dc:creator>Kimi</dc:creator>
  <cp:lastModifiedBy>Kimi</cp:lastModifiedBy>
  <cp:revision>1</cp:revision>
  <dcterms:created xsi:type="dcterms:W3CDTF">2026-02-14T18:44:42Z</dcterms:created>
  <dcterms:modified xsi:type="dcterms:W3CDTF">2026-02-14T18:44:42Z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{"Label":"Cybersecurity Fundamentals","ContentProducer":"001191110108MACG2KBH8F10000","ProduceID":"19c5d6e4-a892-8d29-8000-00003bb8586d","ReservedCode1":"","ContentPropagator":"001191110108MACG2KBH8F20000","PropagateID":"19c5d6e4-a892-8d29-8000-00003bb8586d","ReservedCode2":""}</vt:lpwstr>
  </property>
</Properties>
</file>