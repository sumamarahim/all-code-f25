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1" r:id="rId5"/>
    <p:sldId id="265" r:id="rId6"/>
    <p:sldId id="285" r:id="rId7"/>
    <p:sldId id="275" r:id="rId8"/>
    <p:sldId id="276" r:id="rId9"/>
    <p:sldId id="277" r:id="rId10"/>
    <p:sldId id="272" r:id="rId11"/>
    <p:sldId id="270" r:id="rId12"/>
    <p:sldId id="273" r:id="rId13"/>
    <p:sldId id="271" r:id="rId14"/>
    <p:sldId id="259" r:id="rId15"/>
    <p:sldId id="266" r:id="rId16"/>
    <p:sldId id="267" r:id="rId17"/>
    <p:sldId id="260" r:id="rId18"/>
    <p:sldId id="274" r:id="rId19"/>
    <p:sldId id="262" r:id="rId20"/>
    <p:sldId id="263" r:id="rId21"/>
    <p:sldId id="264" r:id="rId22"/>
    <p:sldId id="282" r:id="rId23"/>
    <p:sldId id="283" r:id="rId24"/>
    <p:sldId id="289" r:id="rId25"/>
    <p:sldId id="280" r:id="rId26"/>
    <p:sldId id="279" r:id="rId27"/>
    <p:sldId id="281" r:id="rId28"/>
    <p:sldId id="290" r:id="rId29"/>
    <p:sldId id="26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C47B6FA-5A37-4429-A48D-51E2675EA91C}">
          <p14:sldIdLst>
            <p14:sldId id="256"/>
            <p14:sldId id="257"/>
            <p14:sldId id="258"/>
            <p14:sldId id="261"/>
            <p14:sldId id="265"/>
            <p14:sldId id="285"/>
            <p14:sldId id="275"/>
            <p14:sldId id="276"/>
            <p14:sldId id="277"/>
            <p14:sldId id="272"/>
            <p14:sldId id="270"/>
            <p14:sldId id="273"/>
            <p14:sldId id="271"/>
            <p14:sldId id="259"/>
            <p14:sldId id="266"/>
            <p14:sldId id="267"/>
            <p14:sldId id="260"/>
            <p14:sldId id="274"/>
            <p14:sldId id="262"/>
            <p14:sldId id="263"/>
            <p14:sldId id="264"/>
            <p14:sldId id="282"/>
            <p14:sldId id="283"/>
            <p14:sldId id="289"/>
            <p14:sldId id="280"/>
            <p14:sldId id="279"/>
            <p14:sldId id="281"/>
            <p14:sldId id="290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4" autoAdjust="0"/>
    <p:restoredTop sz="86355" autoAdjust="0"/>
  </p:normalViewPr>
  <p:slideViewPr>
    <p:cSldViewPr snapToGrid="0">
      <p:cViewPr varScale="1">
        <p:scale>
          <a:sx n="64" d="100"/>
          <a:sy n="64" d="100"/>
        </p:scale>
        <p:origin x="924" y="72"/>
      </p:cViewPr>
      <p:guideLst/>
    </p:cSldViewPr>
  </p:slideViewPr>
  <p:outlineViewPr>
    <p:cViewPr>
      <p:scale>
        <a:sx n="33" d="100"/>
        <a:sy n="33" d="100"/>
      </p:scale>
      <p:origin x="0" y="-62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86B3B3-17CB-4CC5-A852-5AA5E9F55BD1}" type="doc">
      <dgm:prSet loTypeId="urn:microsoft.com/office/officeart/2005/8/layout/hList3" loCatId="list" qsTypeId="urn:microsoft.com/office/officeart/2005/8/quickstyle/simple2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2C0AFC9A-D62F-4B40-8D3A-68EE6158CB48}">
      <dgm:prSet phldrT="[Text]"/>
      <dgm:spPr/>
      <dgm:t>
        <a:bodyPr/>
        <a:lstStyle/>
        <a:p>
          <a:r>
            <a:rPr lang="en-US" dirty="0" smtClean="0"/>
            <a:t>Types of </a:t>
          </a:r>
          <a:r>
            <a:rPr lang="en-US" dirty="0" err="1" smtClean="0"/>
            <a:t>Blockchain</a:t>
          </a:r>
          <a:endParaRPr lang="en-US" dirty="0"/>
        </a:p>
      </dgm:t>
    </dgm:pt>
    <dgm:pt modelId="{BD7BAF65-7403-43E9-80EF-88C787F0299B}" type="parTrans" cxnId="{C59ADB29-E6B6-4D09-A908-171EAFD2B46C}">
      <dgm:prSet/>
      <dgm:spPr/>
      <dgm:t>
        <a:bodyPr/>
        <a:lstStyle/>
        <a:p>
          <a:endParaRPr lang="en-US"/>
        </a:p>
      </dgm:t>
    </dgm:pt>
    <dgm:pt modelId="{C5E416BE-2F34-4240-9375-D055960C8E9C}" type="sibTrans" cxnId="{C59ADB29-E6B6-4D09-A908-171EAFD2B46C}">
      <dgm:prSet/>
      <dgm:spPr/>
      <dgm:t>
        <a:bodyPr/>
        <a:lstStyle/>
        <a:p>
          <a:endParaRPr lang="en-US"/>
        </a:p>
      </dgm:t>
    </dgm:pt>
    <dgm:pt modelId="{A044B0CC-68E6-43A5-903B-12539F576083}">
      <dgm:prSet phldrT="[Text]"/>
      <dgm:spPr/>
      <dgm:t>
        <a:bodyPr/>
        <a:lstStyle/>
        <a:p>
          <a:r>
            <a:rPr lang="en-US" dirty="0" smtClean="0"/>
            <a:t>Private</a:t>
          </a:r>
          <a:endParaRPr lang="en-US" dirty="0"/>
        </a:p>
      </dgm:t>
    </dgm:pt>
    <dgm:pt modelId="{246BBF47-7BE9-4466-94D4-317D3362EE12}" type="parTrans" cxnId="{012E739C-E2EB-45AE-BB5A-0455A329A0CF}">
      <dgm:prSet/>
      <dgm:spPr/>
      <dgm:t>
        <a:bodyPr/>
        <a:lstStyle/>
        <a:p>
          <a:endParaRPr lang="en-US"/>
        </a:p>
      </dgm:t>
    </dgm:pt>
    <dgm:pt modelId="{D3514739-A1C6-4633-8B5C-AB4DDB0C344B}" type="sibTrans" cxnId="{012E739C-E2EB-45AE-BB5A-0455A329A0CF}">
      <dgm:prSet/>
      <dgm:spPr/>
      <dgm:t>
        <a:bodyPr/>
        <a:lstStyle/>
        <a:p>
          <a:endParaRPr lang="en-US"/>
        </a:p>
      </dgm:t>
    </dgm:pt>
    <dgm:pt modelId="{95CDBD3F-8346-4DFB-9F97-774E353D1A6E}">
      <dgm:prSet phldrT="[Text]"/>
      <dgm:spPr/>
      <dgm:t>
        <a:bodyPr/>
        <a:lstStyle/>
        <a:p>
          <a:r>
            <a:rPr lang="en-US" dirty="0" smtClean="0"/>
            <a:t>Public</a:t>
          </a:r>
          <a:endParaRPr lang="en-US" dirty="0"/>
        </a:p>
      </dgm:t>
    </dgm:pt>
    <dgm:pt modelId="{B636A44A-B2E9-437F-A27E-386422CBE8E6}" type="parTrans" cxnId="{538A1235-8C55-41C6-BE03-0B4218DD82EF}">
      <dgm:prSet/>
      <dgm:spPr/>
      <dgm:t>
        <a:bodyPr/>
        <a:lstStyle/>
        <a:p>
          <a:endParaRPr lang="en-US"/>
        </a:p>
      </dgm:t>
    </dgm:pt>
    <dgm:pt modelId="{B56DF72C-5585-43D1-8A3F-232B9E0E8B91}" type="sibTrans" cxnId="{538A1235-8C55-41C6-BE03-0B4218DD82EF}">
      <dgm:prSet/>
      <dgm:spPr/>
      <dgm:t>
        <a:bodyPr/>
        <a:lstStyle/>
        <a:p>
          <a:endParaRPr lang="en-US"/>
        </a:p>
      </dgm:t>
    </dgm:pt>
    <dgm:pt modelId="{E5BA49E2-CC37-4EB8-8774-141A3777D890}">
      <dgm:prSet phldrT="[Text]"/>
      <dgm:spPr/>
      <dgm:t>
        <a:bodyPr/>
        <a:lstStyle/>
        <a:p>
          <a:r>
            <a:rPr lang="en-US" dirty="0" smtClean="0"/>
            <a:t>Hybrid</a:t>
          </a:r>
          <a:endParaRPr lang="en-US" dirty="0"/>
        </a:p>
      </dgm:t>
    </dgm:pt>
    <dgm:pt modelId="{33117C6E-DA58-4DAD-8FA7-113AFC5E8EEF}" type="parTrans" cxnId="{B114E768-6AB4-4D61-8AF5-176C28347996}">
      <dgm:prSet/>
      <dgm:spPr/>
      <dgm:t>
        <a:bodyPr/>
        <a:lstStyle/>
        <a:p>
          <a:endParaRPr lang="en-US"/>
        </a:p>
      </dgm:t>
    </dgm:pt>
    <dgm:pt modelId="{D9EB8DD8-A7CF-4BB8-A4EE-B4A644EDF601}" type="sibTrans" cxnId="{B114E768-6AB4-4D61-8AF5-176C28347996}">
      <dgm:prSet/>
      <dgm:spPr/>
      <dgm:t>
        <a:bodyPr/>
        <a:lstStyle/>
        <a:p>
          <a:endParaRPr lang="en-US"/>
        </a:p>
      </dgm:t>
    </dgm:pt>
    <dgm:pt modelId="{17D4C893-4CCA-48D8-AD29-54ED7DBCF2E7}" type="pres">
      <dgm:prSet presAssocID="{C286B3B3-17CB-4CC5-A852-5AA5E9F55BD1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8CCA96-D606-40F7-BC98-D6C5E8AFBA0E}" type="pres">
      <dgm:prSet presAssocID="{2C0AFC9A-D62F-4B40-8D3A-68EE6158CB48}" presName="roof" presStyleLbl="dkBgShp" presStyleIdx="0" presStyleCnt="2"/>
      <dgm:spPr/>
      <dgm:t>
        <a:bodyPr/>
        <a:lstStyle/>
        <a:p>
          <a:endParaRPr lang="en-US"/>
        </a:p>
      </dgm:t>
    </dgm:pt>
    <dgm:pt modelId="{B638B86B-E907-420E-AE6C-394B72EFBBD7}" type="pres">
      <dgm:prSet presAssocID="{2C0AFC9A-D62F-4B40-8D3A-68EE6158CB48}" presName="pillars" presStyleCnt="0"/>
      <dgm:spPr/>
    </dgm:pt>
    <dgm:pt modelId="{06B587B3-6D3A-4CA7-B74B-6BAF91FE02B5}" type="pres">
      <dgm:prSet presAssocID="{2C0AFC9A-D62F-4B40-8D3A-68EE6158CB48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AC0FC5-A8CD-4030-80B4-F190AB00E245}" type="pres">
      <dgm:prSet presAssocID="{95CDBD3F-8346-4DFB-9F97-774E353D1A6E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6C8573-BDD0-4B12-B76D-A6271FE0D5A2}" type="pres">
      <dgm:prSet presAssocID="{E5BA49E2-CC37-4EB8-8774-141A3777D890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314C4-3851-4355-A589-127B8FF6AA86}" type="pres">
      <dgm:prSet presAssocID="{2C0AFC9A-D62F-4B40-8D3A-68EE6158CB48}" presName="base" presStyleLbl="dkBgShp" presStyleIdx="1" presStyleCnt="2"/>
      <dgm:spPr/>
    </dgm:pt>
  </dgm:ptLst>
  <dgm:cxnLst>
    <dgm:cxn modelId="{27434CBB-3B26-4797-B556-4431ADF0F8F1}" type="presOf" srcId="{2C0AFC9A-D62F-4B40-8D3A-68EE6158CB48}" destId="{448CCA96-D606-40F7-BC98-D6C5E8AFBA0E}" srcOrd="0" destOrd="0" presId="urn:microsoft.com/office/officeart/2005/8/layout/hList3"/>
    <dgm:cxn modelId="{E3466119-2A52-4FEC-A675-3700FFA59138}" type="presOf" srcId="{A044B0CC-68E6-43A5-903B-12539F576083}" destId="{06B587B3-6D3A-4CA7-B74B-6BAF91FE02B5}" srcOrd="0" destOrd="0" presId="urn:microsoft.com/office/officeart/2005/8/layout/hList3"/>
    <dgm:cxn modelId="{B114E768-6AB4-4D61-8AF5-176C28347996}" srcId="{2C0AFC9A-D62F-4B40-8D3A-68EE6158CB48}" destId="{E5BA49E2-CC37-4EB8-8774-141A3777D890}" srcOrd="2" destOrd="0" parTransId="{33117C6E-DA58-4DAD-8FA7-113AFC5E8EEF}" sibTransId="{D9EB8DD8-A7CF-4BB8-A4EE-B4A644EDF601}"/>
    <dgm:cxn modelId="{C59ADB29-E6B6-4D09-A908-171EAFD2B46C}" srcId="{C286B3B3-17CB-4CC5-A852-5AA5E9F55BD1}" destId="{2C0AFC9A-D62F-4B40-8D3A-68EE6158CB48}" srcOrd="0" destOrd="0" parTransId="{BD7BAF65-7403-43E9-80EF-88C787F0299B}" sibTransId="{C5E416BE-2F34-4240-9375-D055960C8E9C}"/>
    <dgm:cxn modelId="{0B70BAFF-E5C0-4923-80BE-356820A30408}" type="presOf" srcId="{C286B3B3-17CB-4CC5-A852-5AA5E9F55BD1}" destId="{17D4C893-4CCA-48D8-AD29-54ED7DBCF2E7}" srcOrd="0" destOrd="0" presId="urn:microsoft.com/office/officeart/2005/8/layout/hList3"/>
    <dgm:cxn modelId="{012E739C-E2EB-45AE-BB5A-0455A329A0CF}" srcId="{2C0AFC9A-D62F-4B40-8D3A-68EE6158CB48}" destId="{A044B0CC-68E6-43A5-903B-12539F576083}" srcOrd="0" destOrd="0" parTransId="{246BBF47-7BE9-4466-94D4-317D3362EE12}" sibTransId="{D3514739-A1C6-4633-8B5C-AB4DDB0C344B}"/>
    <dgm:cxn modelId="{538A1235-8C55-41C6-BE03-0B4218DD82EF}" srcId="{2C0AFC9A-D62F-4B40-8D3A-68EE6158CB48}" destId="{95CDBD3F-8346-4DFB-9F97-774E353D1A6E}" srcOrd="1" destOrd="0" parTransId="{B636A44A-B2E9-437F-A27E-386422CBE8E6}" sibTransId="{B56DF72C-5585-43D1-8A3F-232B9E0E8B91}"/>
    <dgm:cxn modelId="{8BB060E6-66AE-44D4-8613-A7E4BE730585}" type="presOf" srcId="{E5BA49E2-CC37-4EB8-8774-141A3777D890}" destId="{266C8573-BDD0-4B12-B76D-A6271FE0D5A2}" srcOrd="0" destOrd="0" presId="urn:microsoft.com/office/officeart/2005/8/layout/hList3"/>
    <dgm:cxn modelId="{85994D86-E695-47EA-8DC4-71BD108C45AB}" type="presOf" srcId="{95CDBD3F-8346-4DFB-9F97-774E353D1A6E}" destId="{49AC0FC5-A8CD-4030-80B4-F190AB00E245}" srcOrd="0" destOrd="0" presId="urn:microsoft.com/office/officeart/2005/8/layout/hList3"/>
    <dgm:cxn modelId="{BD867725-32D0-467B-84BC-D5AAAC5639F6}" type="presParOf" srcId="{17D4C893-4CCA-48D8-AD29-54ED7DBCF2E7}" destId="{448CCA96-D606-40F7-BC98-D6C5E8AFBA0E}" srcOrd="0" destOrd="0" presId="urn:microsoft.com/office/officeart/2005/8/layout/hList3"/>
    <dgm:cxn modelId="{1D9537C0-C4DA-48B8-9BDB-3F2D1C04C221}" type="presParOf" srcId="{17D4C893-4CCA-48D8-AD29-54ED7DBCF2E7}" destId="{B638B86B-E907-420E-AE6C-394B72EFBBD7}" srcOrd="1" destOrd="0" presId="urn:microsoft.com/office/officeart/2005/8/layout/hList3"/>
    <dgm:cxn modelId="{8B1F5A66-7E14-49B4-9826-0391E017F1A8}" type="presParOf" srcId="{B638B86B-E907-420E-AE6C-394B72EFBBD7}" destId="{06B587B3-6D3A-4CA7-B74B-6BAF91FE02B5}" srcOrd="0" destOrd="0" presId="urn:microsoft.com/office/officeart/2005/8/layout/hList3"/>
    <dgm:cxn modelId="{1291F356-959B-4EFC-9C01-99E155D0A60C}" type="presParOf" srcId="{B638B86B-E907-420E-AE6C-394B72EFBBD7}" destId="{49AC0FC5-A8CD-4030-80B4-F190AB00E245}" srcOrd="1" destOrd="0" presId="urn:microsoft.com/office/officeart/2005/8/layout/hList3"/>
    <dgm:cxn modelId="{96C0D7D7-E235-4B28-B028-5EA71AB30B35}" type="presParOf" srcId="{B638B86B-E907-420E-AE6C-394B72EFBBD7}" destId="{266C8573-BDD0-4B12-B76D-A6271FE0D5A2}" srcOrd="2" destOrd="0" presId="urn:microsoft.com/office/officeart/2005/8/layout/hList3"/>
    <dgm:cxn modelId="{B6A3ACFC-390D-4851-BBDB-5288B8C7693B}" type="presParOf" srcId="{17D4C893-4CCA-48D8-AD29-54ED7DBCF2E7}" destId="{326314C4-3851-4355-A589-127B8FF6AA8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CCA96-D606-40F7-BC98-D6C5E8AFBA0E}">
      <dsp:nvSpPr>
        <dsp:cNvPr id="0" name=""/>
        <dsp:cNvSpPr/>
      </dsp:nvSpPr>
      <dsp:spPr>
        <a:xfrm>
          <a:off x="0" y="0"/>
          <a:ext cx="8747760" cy="1608327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Types of </a:t>
          </a:r>
          <a:r>
            <a:rPr lang="en-US" sz="6500" kern="1200" dirty="0" err="1" smtClean="0"/>
            <a:t>Blockchain</a:t>
          </a:r>
          <a:endParaRPr lang="en-US" sz="6500" kern="1200" dirty="0"/>
        </a:p>
      </dsp:txBody>
      <dsp:txXfrm>
        <a:off x="0" y="0"/>
        <a:ext cx="8747760" cy="1608327"/>
      </dsp:txXfrm>
    </dsp:sp>
    <dsp:sp modelId="{06B587B3-6D3A-4CA7-B74B-6BAF91FE02B5}">
      <dsp:nvSpPr>
        <dsp:cNvPr id="0" name=""/>
        <dsp:cNvSpPr/>
      </dsp:nvSpPr>
      <dsp:spPr>
        <a:xfrm>
          <a:off x="4271" y="1608327"/>
          <a:ext cx="2913072" cy="3377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Private</a:t>
          </a:r>
          <a:endParaRPr lang="en-US" sz="6500" kern="1200" dirty="0"/>
        </a:p>
      </dsp:txBody>
      <dsp:txXfrm>
        <a:off x="4271" y="1608327"/>
        <a:ext cx="2913072" cy="3377488"/>
      </dsp:txXfrm>
    </dsp:sp>
    <dsp:sp modelId="{49AC0FC5-A8CD-4030-80B4-F190AB00E245}">
      <dsp:nvSpPr>
        <dsp:cNvPr id="0" name=""/>
        <dsp:cNvSpPr/>
      </dsp:nvSpPr>
      <dsp:spPr>
        <a:xfrm>
          <a:off x="2917343" y="1608327"/>
          <a:ext cx="2913072" cy="3377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Public</a:t>
          </a:r>
          <a:endParaRPr lang="en-US" sz="6500" kern="1200" dirty="0"/>
        </a:p>
      </dsp:txBody>
      <dsp:txXfrm>
        <a:off x="2917343" y="1608327"/>
        <a:ext cx="2913072" cy="3377488"/>
      </dsp:txXfrm>
    </dsp:sp>
    <dsp:sp modelId="{266C8573-BDD0-4B12-B76D-A6271FE0D5A2}">
      <dsp:nvSpPr>
        <dsp:cNvPr id="0" name=""/>
        <dsp:cNvSpPr/>
      </dsp:nvSpPr>
      <dsp:spPr>
        <a:xfrm>
          <a:off x="5830416" y="1608327"/>
          <a:ext cx="2913072" cy="3377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Hybrid</a:t>
          </a:r>
          <a:endParaRPr lang="en-US" sz="6500" kern="1200" dirty="0"/>
        </a:p>
      </dsp:txBody>
      <dsp:txXfrm>
        <a:off x="5830416" y="1608327"/>
        <a:ext cx="2913072" cy="3377488"/>
      </dsp:txXfrm>
    </dsp:sp>
    <dsp:sp modelId="{326314C4-3851-4355-A589-127B8FF6AA86}">
      <dsp:nvSpPr>
        <dsp:cNvPr id="0" name=""/>
        <dsp:cNvSpPr/>
      </dsp:nvSpPr>
      <dsp:spPr>
        <a:xfrm>
          <a:off x="0" y="4985816"/>
          <a:ext cx="8747760" cy="375276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48543-DB83-4D2D-9CB8-AAEAA30FC4ED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46AB-42B1-4AA7-866E-5F4CDF6E8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0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Form</a:t>
            </a:r>
            <a:r>
              <a:rPr lang="en-US" baseline="0" dirty="0" smtClean="0"/>
              <a:t> of s</a:t>
            </a:r>
            <a:r>
              <a:rPr lang="en-US" dirty="0" smtClean="0"/>
              <a:t>oftware (software network) means it act like a software but it has also</a:t>
            </a:r>
            <a:r>
              <a:rPr lang="en-US" baseline="0" dirty="0" smtClean="0"/>
              <a:t> a network of hardware system as well</a:t>
            </a:r>
            <a:endParaRPr lang="en-US" dirty="0" smtClean="0"/>
          </a:p>
          <a:p>
            <a:r>
              <a:rPr lang="en-US" dirty="0" smtClean="0"/>
              <a:t>It</a:t>
            </a:r>
            <a:r>
              <a:rPr lang="en-US" baseline="0" dirty="0" smtClean="0"/>
              <a:t> sends copy of each </a:t>
            </a:r>
            <a:r>
              <a:rPr lang="en-US" baseline="0" dirty="0" err="1" smtClean="0"/>
              <a:t>trx</a:t>
            </a:r>
            <a:r>
              <a:rPr lang="en-US" baseline="0" dirty="0" smtClean="0"/>
              <a:t> to each node on the </a:t>
            </a:r>
            <a:r>
              <a:rPr lang="en-US" baseline="0" dirty="0" smtClean="0"/>
              <a:t>network</a:t>
            </a:r>
          </a:p>
          <a:p>
            <a:r>
              <a:rPr lang="en-US" baseline="0" dirty="0" smtClean="0"/>
              <a:t>DLT: Distributed Ledger Technology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02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22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AKA storage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5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6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51%</a:t>
            </a:r>
            <a:r>
              <a:rPr lang="en-US" baseline="0" dirty="0" smtClean="0"/>
              <a:t> attack is just limited to theory</a:t>
            </a:r>
          </a:p>
          <a:p>
            <a:r>
              <a:rPr lang="en-US" baseline="0" dirty="0" smtClean="0"/>
              <a:t>Double Spending: currently solved by </a:t>
            </a:r>
            <a:r>
              <a:rPr lang="en-US" baseline="0" dirty="0" err="1" smtClean="0"/>
              <a:t>cryptocurrency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blockchains</a:t>
            </a:r>
            <a:r>
              <a:rPr lang="en-US" baseline="0" dirty="0" smtClean="0"/>
              <a:t> but may be you face in new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 tech implementation, because </a:t>
            </a:r>
            <a:r>
              <a:rPr lang="en-US" baseline="0" dirty="0" err="1" smtClean="0"/>
              <a:t>trx</a:t>
            </a:r>
            <a:r>
              <a:rPr lang="en-US" baseline="0" dirty="0" smtClean="0"/>
              <a:t> is more big so it take little time to trace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65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86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3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CIA Rule (Integrity,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Confidenciality</a:t>
            </a:r>
            <a:r>
              <a:rPr lang="en-US" baseline="0" dirty="0" smtClean="0"/>
              <a:t>, Accessibility)</a:t>
            </a:r>
          </a:p>
          <a:p>
            <a:r>
              <a:rPr lang="en-US" baseline="0" dirty="0" smtClean="0"/>
              <a:t>Immutability means “not able to erase or replace any recorded data”</a:t>
            </a:r>
          </a:p>
          <a:p>
            <a:r>
              <a:rPr lang="en-US" baseline="0" dirty="0" smtClean="0"/>
              <a:t>Traceability means “allowing easy tracing of changes on the network”</a:t>
            </a:r>
          </a:p>
          <a:p>
            <a:endParaRPr lang="en-US" baseline="0" dirty="0" smtClean="0"/>
          </a:p>
          <a:p>
            <a:r>
              <a:rPr lang="en-US" dirty="0" smtClean="0"/>
              <a:t>https://kindgeek.com/blog/post/what-you-need-to-know-about-blockchain-pros-and-cons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66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Immutability </a:t>
            </a:r>
            <a:r>
              <a:rPr lang="en-US" baseline="0" dirty="0" smtClean="0"/>
              <a:t>means “not able to erase or replace any recorded data”</a:t>
            </a:r>
          </a:p>
          <a:p>
            <a:r>
              <a:rPr lang="en-US" baseline="0" dirty="0" smtClean="0"/>
              <a:t>Traceability means “allowing easy tracing of changes on the network”</a:t>
            </a:r>
          </a:p>
          <a:p>
            <a:endParaRPr lang="en-US" baseline="0" dirty="0" smtClean="0"/>
          </a:p>
          <a:p>
            <a:r>
              <a:rPr lang="en-US" dirty="0" smtClean="0"/>
              <a:t>https://kindgeek.com/blog/post/what-you-need-to-know-about-blockchain-pros-and-cons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04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As compare to traditional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DBs.</a:t>
            </a:r>
            <a:endParaRPr lang="en-US" baseline="0" dirty="0" smtClean="0"/>
          </a:p>
          <a:p>
            <a:r>
              <a:rPr lang="en-US" dirty="0" smtClean="0"/>
              <a:t>https://kindgeek.com/blog/post/what-you-need-to-know-about-blockchain-pros-and-cons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86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Special software</a:t>
            </a:r>
            <a:r>
              <a:rPr lang="en-US" baseline="0" dirty="0" smtClean="0"/>
              <a:t> needs to install in your hardware to join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 network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00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times</a:t>
            </a:r>
            <a:r>
              <a:rPr lang="en-US" baseline="0" dirty="0" smtClean="0"/>
              <a:t> Consortium: Semi Decentralized e.g. </a:t>
            </a:r>
            <a:r>
              <a:rPr lang="en-US" baseline="0" dirty="0" err="1" smtClean="0"/>
              <a:t>hyperledger</a:t>
            </a:r>
            <a:r>
              <a:rPr lang="en-US" baseline="0" dirty="0" smtClean="0"/>
              <a:t> fabric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6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Special software</a:t>
            </a:r>
            <a:r>
              <a:rPr lang="en-US" baseline="0" dirty="0" smtClean="0"/>
              <a:t> needs to install in your hardware to join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 network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65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Special software</a:t>
            </a:r>
            <a:r>
              <a:rPr lang="en-US" baseline="0" dirty="0" smtClean="0"/>
              <a:t> needs to install in your hardware to join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 network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Miner in BC: used to describe the process of adding transections records to the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15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Special software</a:t>
            </a:r>
            <a:r>
              <a:rPr lang="en-US" baseline="0" dirty="0" smtClean="0"/>
              <a:t> needs to install in your hardware to join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 network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Miner in BC: used to describe the process of adding transections records to the </a:t>
            </a:r>
            <a:r>
              <a:rPr lang="en-US" baseline="0" dirty="0" err="1" smtClean="0"/>
              <a:t>blockchain</a:t>
            </a:r>
            <a:r>
              <a:rPr lang="en-US" baseline="0" dirty="0" smtClean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00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USE </a:t>
            </a:r>
            <a:r>
              <a:rPr lang="en-US" baseline="0" dirty="0" smtClean="0"/>
              <a:t>Cases: Supply Chain, Real Estate </a:t>
            </a:r>
            <a:r>
              <a:rPr lang="en-US" baseline="0" dirty="0" err="1" smtClean="0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97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USE </a:t>
            </a:r>
            <a:r>
              <a:rPr lang="en-US" baseline="0" dirty="0" smtClean="0"/>
              <a:t>Cases: Docs Validation, </a:t>
            </a:r>
            <a:r>
              <a:rPr lang="en-US" baseline="0" dirty="0" err="1" smtClean="0"/>
              <a:t>Cryptocurrency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964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9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669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7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45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691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51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2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25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2201" y="1916151"/>
            <a:ext cx="10058400" cy="2383493"/>
          </a:xfrm>
        </p:spPr>
        <p:txBody>
          <a:bodyPr/>
          <a:lstStyle/>
          <a:p>
            <a:r>
              <a:rPr lang="en-US" dirty="0" err="1" smtClean="0"/>
              <a:t>Blockchain</a:t>
            </a:r>
            <a:r>
              <a:rPr lang="en-US" dirty="0" smtClean="0"/>
              <a:t> Technology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11" y="4567308"/>
            <a:ext cx="10058400" cy="1143000"/>
          </a:xfrm>
        </p:spPr>
        <p:txBody>
          <a:bodyPr>
            <a:noAutofit/>
          </a:bodyPr>
          <a:lstStyle/>
          <a:p>
            <a:r>
              <a:rPr lang="en-US" sz="3200" cap="none" dirty="0" err="1" smtClean="0"/>
              <a:t>Aun</a:t>
            </a:r>
            <a:r>
              <a:rPr lang="en-US" sz="3200" cap="none" dirty="0" smtClean="0"/>
              <a:t>, Bilal, </a:t>
            </a:r>
            <a:r>
              <a:rPr lang="en-US" sz="3200" cap="none" dirty="0" err="1" smtClean="0"/>
              <a:t>Faik</a:t>
            </a:r>
            <a:r>
              <a:rPr lang="en-US" sz="3200" cap="none" dirty="0" smtClean="0"/>
              <a:t> and </a:t>
            </a:r>
            <a:r>
              <a:rPr lang="en-US" sz="3200" cap="none" dirty="0" err="1" smtClean="0"/>
              <a:t>Sumama</a:t>
            </a:r>
            <a:endParaRPr lang="en-US" sz="3200" cap="none" dirty="0" smtClean="0"/>
          </a:p>
          <a:p>
            <a:r>
              <a:rPr lang="en-US" sz="3200" cap="none" dirty="0" smtClean="0"/>
              <a:t>BS CS – Fall 2024</a:t>
            </a:r>
          </a:p>
          <a:p>
            <a:r>
              <a:rPr lang="en-US" sz="3200" cap="none" dirty="0" smtClean="0"/>
              <a:t>Application of ICT</a:t>
            </a:r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85838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to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Impact on society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Disadvantages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Types of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QnAs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00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595242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Open, distributed and permanent ledger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Verifiable and permanent transactions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 trust by copying each transactions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DLT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54611" y="2193006"/>
            <a:ext cx="10058400" cy="8799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8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177914"/>
            <a:ext cx="10058400" cy="2691179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all transection’s record in a block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block is connected with previous and next block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transection/record is encrypted with SHA-256 Algorithm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block contains Nonce,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Hash and all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hash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a diagram here (IMPORTANT and other DIAGRAMS as well)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12072" y="2265458"/>
            <a:ext cx="10058400" cy="10173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Works?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62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Ledger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sheet of records AKA storage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in or out transections</a:t>
            </a:r>
          </a:p>
        </p:txBody>
      </p:sp>
    </p:spTree>
    <p:extLst>
      <p:ext uri="{BB962C8B-B14F-4D97-AF65-F5344CB8AC3E}">
        <p14:creationId xmlns:p14="http://schemas.microsoft.com/office/powerpoint/2010/main" val="14099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290" y="-118132"/>
            <a:ext cx="10058400" cy="2846341"/>
          </a:xfrm>
        </p:spPr>
        <p:txBody>
          <a:bodyPr>
            <a:normAutofit/>
          </a:bodyPr>
          <a:lstStyle/>
          <a:p>
            <a:r>
              <a:rPr lang="en-US" sz="6000" dirty="0" smtClean="0"/>
              <a:t>Story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3430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on Society (show job market and opportunities)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will lost their jobs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opportunities – as a consultant, smart contract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analyst, 	lawyer, policymaker, programmer, security engineer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291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Blockchain</a:t>
            </a:r>
            <a:r>
              <a:rPr lang="en-US" dirty="0" smtClean="0"/>
              <a:t> Technology </a:t>
            </a:r>
            <a:r>
              <a:rPr lang="en-US" dirty="0" err="1" smtClean="0"/>
              <a:t>Challanges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barhengy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transections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barhengy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load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ledger size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barhega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entry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dondhna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mushkil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miner k computer/node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 issues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power and time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51% attack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Double spending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Bad smart contract (</a:t>
            </a:r>
          </a:p>
        </p:txBody>
      </p:sp>
    </p:spTree>
    <p:extLst>
      <p:ext uri="{BB962C8B-B14F-4D97-AF65-F5344CB8AC3E}">
        <p14:creationId xmlns:p14="http://schemas.microsoft.com/office/powerpoint/2010/main" val="291612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Blockchain</a:t>
            </a:r>
            <a:r>
              <a:rPr lang="en-US" dirty="0" smtClean="0"/>
              <a:t> Technology </a:t>
            </a:r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(every node/touch point need to upgrade his/her storage 	size)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Mile and Last Mile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(may be remove it)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Perception</a:t>
            </a:r>
          </a:p>
        </p:txBody>
      </p:sp>
    </p:spTree>
    <p:extLst>
      <p:ext uri="{BB962C8B-B14F-4D97-AF65-F5344CB8AC3E}">
        <p14:creationId xmlns:p14="http://schemas.microsoft.com/office/powerpoint/2010/main" val="282971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/>
          <p:cNvSpPr/>
          <p:nvPr/>
        </p:nvSpPr>
        <p:spPr>
          <a:xfrm>
            <a:off x="434712" y="179882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 Traditional DB fulfill your need?</a:t>
            </a:r>
            <a:endParaRPr lang="en-US" dirty="0"/>
          </a:p>
        </p:txBody>
      </p:sp>
      <p:sp>
        <p:nvSpPr>
          <p:cNvPr id="5" name="Flowchart: Process 4"/>
          <p:cNvSpPr/>
          <p:nvPr/>
        </p:nvSpPr>
        <p:spPr>
          <a:xfrm>
            <a:off x="434712" y="1741358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Multiple parties update data?</a:t>
            </a:r>
            <a:endParaRPr lang="en-US" dirty="0"/>
          </a:p>
        </p:txBody>
      </p:sp>
      <p:sp>
        <p:nvSpPr>
          <p:cNvPr id="6" name="Flowchart: Process 5"/>
          <p:cNvSpPr/>
          <p:nvPr/>
        </p:nvSpPr>
        <p:spPr>
          <a:xfrm>
            <a:off x="434712" y="3302834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All Parties trust each other?</a:t>
            </a:r>
            <a:endParaRPr lang="en-US" dirty="0"/>
          </a:p>
        </p:txBody>
      </p:sp>
      <p:sp>
        <p:nvSpPr>
          <p:cNvPr id="7" name="Flowchart: Process 6"/>
          <p:cNvSpPr/>
          <p:nvPr/>
        </p:nvSpPr>
        <p:spPr>
          <a:xfrm>
            <a:off x="434712" y="4864310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They trust 3</a:t>
            </a:r>
            <a:r>
              <a:rPr lang="en-US" baseline="30000" dirty="0" smtClean="0"/>
              <a:t>rd</a:t>
            </a:r>
            <a:r>
              <a:rPr lang="en-US" dirty="0" smtClean="0"/>
              <a:t> party?</a:t>
            </a:r>
            <a:endParaRPr lang="en-US" dirty="0"/>
          </a:p>
        </p:txBody>
      </p:sp>
      <p:sp>
        <p:nvSpPr>
          <p:cNvPr id="8" name="Flowchart: Process 7"/>
          <p:cNvSpPr/>
          <p:nvPr/>
        </p:nvSpPr>
        <p:spPr>
          <a:xfrm>
            <a:off x="8456950" y="764499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 Need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9" name="Flowchart: Process 8"/>
          <p:cNvSpPr/>
          <p:nvPr/>
        </p:nvSpPr>
        <p:spPr>
          <a:xfrm>
            <a:off x="8519408" y="2673247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 Private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10" name="Flowchart: Process 9"/>
          <p:cNvSpPr/>
          <p:nvPr/>
        </p:nvSpPr>
        <p:spPr>
          <a:xfrm>
            <a:off x="8519408" y="4581995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 Public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11" name="Flowchart: Process 10"/>
          <p:cNvSpPr/>
          <p:nvPr/>
        </p:nvSpPr>
        <p:spPr>
          <a:xfrm>
            <a:off x="4460821" y="920648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Worried about data altered and need multiple copies of data?</a:t>
            </a:r>
            <a:endParaRPr lang="en-US" dirty="0"/>
          </a:p>
        </p:txBody>
      </p:sp>
      <p:sp>
        <p:nvSpPr>
          <p:cNvPr id="12" name="Flowchart: Process 11"/>
          <p:cNvSpPr/>
          <p:nvPr/>
        </p:nvSpPr>
        <p:spPr>
          <a:xfrm>
            <a:off x="4447080" y="2640770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Dealing in private data?</a:t>
            </a:r>
            <a:endParaRPr lang="en-US" dirty="0"/>
          </a:p>
        </p:txBody>
      </p:sp>
      <p:sp>
        <p:nvSpPr>
          <p:cNvPr id="13" name="Flowchart: Process 12"/>
          <p:cNvSpPr/>
          <p:nvPr/>
        </p:nvSpPr>
        <p:spPr>
          <a:xfrm>
            <a:off x="4492050" y="4312175"/>
            <a:ext cx="3267856" cy="107929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</a:t>
            </a:r>
            <a:r>
              <a:rPr lang="en-US" dirty="0" err="1" smtClean="0"/>
              <a:t>ny</a:t>
            </a:r>
            <a:r>
              <a:rPr lang="en-US" dirty="0" smtClean="0"/>
              <a:t> control on who make changes to BC S/W?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62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</a:t>
            </a:r>
            <a:r>
              <a:rPr lang="en-US" sz="2800" dirty="0" smtClean="0"/>
              <a:t>Decentralized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third parties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involved)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Immutability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Traceability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Permanent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Transparency and </a:t>
            </a:r>
            <a:r>
              <a:rPr lang="en-US" sz="2800" dirty="0" smtClean="0"/>
              <a:t>Security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No </a:t>
            </a:r>
            <a:r>
              <a:rPr lang="en-US" sz="2800" dirty="0" smtClean="0"/>
              <a:t>altered and tempered data etc.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real time transactions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04891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Efficiency and </a:t>
            </a:r>
            <a:r>
              <a:rPr lang="en-US" sz="2800" dirty="0" smtClean="0"/>
              <a:t>Speed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Cost </a:t>
            </a:r>
            <a:r>
              <a:rPr lang="en-US" sz="2800" dirty="0" smtClean="0"/>
              <a:t>reduction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Privacy</a:t>
            </a:r>
            <a:r>
              <a:rPr lang="en-US" sz="2800" dirty="0" smtClean="0"/>
              <a:t> (e-ID</a:t>
            </a:r>
            <a:r>
              <a:rPr lang="en-US" sz="2800" dirty="0" smtClean="0"/>
              <a:t>, Money </a:t>
            </a:r>
            <a:r>
              <a:rPr lang="en-US" sz="2800" dirty="0" err="1" smtClean="0"/>
              <a:t>etc</a:t>
            </a:r>
            <a:r>
              <a:rPr lang="en-US" sz="2800" dirty="0" smtClean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No hack no crack </a:t>
            </a:r>
            <a:r>
              <a:rPr lang="en-US" sz="2800" dirty="0" err="1" smtClean="0"/>
              <a:t>etc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Verifiable</a:t>
            </a: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Trustable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 only no reverse or D or U option like other DBs (use 	CRUD operation)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138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Slow in speed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Scalability issues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High implementation cost (some times it is disadvantage)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More node joins then speed will slow down more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Power Consumption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Regulations issues and Legal Formalities</a:t>
            </a:r>
          </a:p>
        </p:txBody>
      </p:sp>
    </p:spTree>
    <p:extLst>
      <p:ext uri="{BB962C8B-B14F-4D97-AF65-F5344CB8AC3E}">
        <p14:creationId xmlns:p14="http://schemas.microsoft.com/office/powerpoint/2010/main" val="426913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6240" y="287338"/>
            <a:ext cx="11795760" cy="3309302"/>
          </a:xfrm>
        </p:spPr>
        <p:txBody>
          <a:bodyPr>
            <a:normAutofit/>
          </a:bodyPr>
          <a:lstStyle/>
          <a:p>
            <a:r>
              <a:rPr lang="en-US" sz="7200" dirty="0" smtClean="0"/>
              <a:t>Types of </a:t>
            </a:r>
            <a:r>
              <a:rPr lang="en-US" sz="7200" dirty="0" err="1" smtClean="0"/>
              <a:t>Blockchain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6340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19518894"/>
              </p:ext>
            </p:extLst>
          </p:nvPr>
        </p:nvGraphicFramePr>
        <p:xfrm>
          <a:off x="1691640" y="777240"/>
          <a:ext cx="8747760" cy="5361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0895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26314C4-3851-4355-A589-127B8FF6AA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26314C4-3851-4355-A589-127B8FF6AA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26314C4-3851-4355-A589-127B8FF6AA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8CCA96-D606-40F7-BC98-D6C5E8AFB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448CCA96-D606-40F7-BC98-D6C5E8AFB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448CCA96-D606-40F7-BC98-D6C5E8AFB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B587B3-6D3A-4CA7-B74B-6BAF91FE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06B587B3-6D3A-4CA7-B74B-6BAF91FE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06B587B3-6D3A-4CA7-B74B-6BAF91FE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9AC0FC5-A8CD-4030-80B4-F190AB00E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graphicEl>
                                              <a:dgm id="{49AC0FC5-A8CD-4030-80B4-F190AB00E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49AC0FC5-A8CD-4030-80B4-F190AB00E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6C8573-BDD0-4B12-B76D-A6271FE0D5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266C8573-BDD0-4B12-B76D-A6271FE0D5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266C8573-BDD0-4B12-B76D-A6271FE0D5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Three types mainly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Anyone can join any </a:t>
            </a:r>
            <a:r>
              <a:rPr lang="en-US" sz="2800" dirty="0" err="1" smtClean="0"/>
              <a:t>blockchain</a:t>
            </a:r>
            <a:r>
              <a:rPr lang="en-US" sz="2800" dirty="0" smtClean="0"/>
              <a:t> network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You need only a Node</a:t>
            </a:r>
          </a:p>
        </p:txBody>
      </p:sp>
    </p:spTree>
    <p:extLst>
      <p:ext uri="{BB962C8B-B14F-4D97-AF65-F5344CB8AC3E}">
        <p14:creationId xmlns:p14="http://schemas.microsoft.com/office/powerpoint/2010/main" val="71099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Node/s?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Computer/System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Joined any computer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every transection has to be recorded and distributed to a series of  	connected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can be any role over the network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It verify each transection</a:t>
            </a:r>
          </a:p>
        </p:txBody>
      </p:sp>
    </p:spTree>
    <p:extLst>
      <p:ext uri="{BB962C8B-B14F-4D97-AF65-F5344CB8AC3E}">
        <p14:creationId xmlns:p14="http://schemas.microsoft.com/office/powerpoint/2010/main" val="348825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Node/s?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Data will be stored in encryption type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Every node have the same info and can communicate with each 	other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Half/Lite node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Full node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Miner Node</a:t>
            </a:r>
          </a:p>
        </p:txBody>
      </p:sp>
    </p:spTree>
    <p:extLst>
      <p:ext uri="{BB962C8B-B14F-4D97-AF65-F5344CB8AC3E}">
        <p14:creationId xmlns:p14="http://schemas.microsoft.com/office/powerpoint/2010/main" val="106153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Private </a:t>
            </a:r>
            <a:r>
              <a:rPr lang="en-US" dirty="0" err="1" smtClean="0"/>
              <a:t>Blockchain</a:t>
            </a:r>
            <a:r>
              <a:rPr lang="en-US" dirty="0" smtClean="0"/>
              <a:t>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Only for organization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Authorized persons can join only</a:t>
            </a:r>
          </a:p>
        </p:txBody>
      </p:sp>
    </p:spTree>
    <p:extLst>
      <p:ext uri="{BB962C8B-B14F-4D97-AF65-F5344CB8AC3E}">
        <p14:creationId xmlns:p14="http://schemas.microsoft.com/office/powerpoint/2010/main" val="329072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 </a:t>
            </a:r>
            <a:r>
              <a:rPr lang="en-US" dirty="0" err="1" smtClean="0"/>
              <a:t>Blockchain</a:t>
            </a:r>
            <a:r>
              <a:rPr lang="en-US" dirty="0" smtClean="0"/>
              <a:t>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Open publically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Anyone can join from anywhere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No restrictions</a:t>
            </a:r>
          </a:p>
        </p:txBody>
      </p:sp>
    </p:spTree>
    <p:extLst>
      <p:ext uri="{BB962C8B-B14F-4D97-AF65-F5344CB8AC3E}">
        <p14:creationId xmlns:p14="http://schemas.microsoft.com/office/powerpoint/2010/main" val="61222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Hybrid </a:t>
            </a:r>
            <a:r>
              <a:rPr lang="en-US" dirty="0" err="1" smtClean="0"/>
              <a:t>Blockchain</a:t>
            </a:r>
            <a:r>
              <a:rPr lang="en-US" dirty="0" smtClean="0"/>
              <a:t>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Combination of Private and Public </a:t>
            </a:r>
            <a:r>
              <a:rPr lang="en-US" sz="2800" dirty="0" err="1" smtClean="0"/>
              <a:t>Blockchain</a:t>
            </a:r>
            <a:r>
              <a:rPr lang="en-US" sz="2800" dirty="0" smtClean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Anyone can join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Limited access for public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Full access with admin or organization only</a:t>
            </a:r>
          </a:p>
        </p:txBody>
      </p:sp>
    </p:spTree>
    <p:extLst>
      <p:ext uri="{BB962C8B-B14F-4D97-AF65-F5344CB8AC3E}">
        <p14:creationId xmlns:p14="http://schemas.microsoft.com/office/powerpoint/2010/main" val="181194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4663" y="347298"/>
            <a:ext cx="10058400" cy="1449387"/>
          </a:xfrm>
        </p:spPr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14663" y="1309167"/>
            <a:ext cx="10058400" cy="4611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How Hash function </a:t>
            </a:r>
            <a:r>
              <a:rPr lang="en-US" dirty="0" smtClean="0"/>
              <a:t>works/generated?</a:t>
            </a:r>
            <a:endParaRPr lang="en-US" dirty="0" smtClean="0"/>
          </a:p>
          <a:p>
            <a:pPr marL="685800" indent="-6858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How Blocks are formed?</a:t>
            </a:r>
          </a:p>
          <a:p>
            <a:pPr marL="685800" indent="-6858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How Blocks connected each other?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14663" y="2033860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4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4663" y="347298"/>
            <a:ext cx="10058400" cy="1449387"/>
          </a:xfrm>
        </p:spPr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14663" y="1309167"/>
            <a:ext cx="10058400" cy="4611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How data are stored on </a:t>
            </a:r>
            <a:r>
              <a:rPr lang="en-US" dirty="0" err="1" smtClean="0"/>
              <a:t>blockchain</a:t>
            </a:r>
            <a:r>
              <a:rPr lang="en-US" dirty="0" smtClean="0"/>
              <a:t>?</a:t>
            </a:r>
          </a:p>
          <a:p>
            <a:pPr marL="685800" indent="-6858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How blocks are mined and store data?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14663" y="2033860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Other </a:t>
            </a:r>
            <a:r>
              <a:rPr lang="en-US" sz="2800" dirty="0"/>
              <a:t>than these few examples, the revolutionary technology of </a:t>
            </a:r>
            <a:r>
              <a:rPr lang="en-US" sz="2800" dirty="0" smtClean="0"/>
              <a:t>	</a:t>
            </a:r>
            <a:r>
              <a:rPr lang="en-US" sz="2800" dirty="0" err="1" smtClean="0"/>
              <a:t>Blockchain</a:t>
            </a:r>
            <a:r>
              <a:rPr lang="en-US" sz="2800" dirty="0" smtClean="0"/>
              <a:t> </a:t>
            </a:r>
            <a:r>
              <a:rPr lang="en-US" sz="2800" dirty="0"/>
              <a:t>holds a high potential of applications in many </a:t>
            </a:r>
            <a:r>
              <a:rPr lang="en-US" sz="2800" dirty="0" smtClean="0"/>
              <a:t>	different </a:t>
            </a:r>
            <a:r>
              <a:rPr lang="en-US" sz="2800" dirty="0"/>
              <a:t>industries and sectors</a:t>
            </a:r>
            <a:r>
              <a:rPr lang="en-US" sz="2800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dirty="0" smtClean="0"/>
              <a:t>Healthcare, </a:t>
            </a:r>
            <a:r>
              <a:rPr lang="en-US" sz="2800" dirty="0" err="1" smtClean="0"/>
              <a:t>Supplychain</a:t>
            </a:r>
            <a:r>
              <a:rPr lang="en-US" sz="2800" dirty="0" smtClean="0"/>
              <a:t>, Education, Finance and Banking, </a:t>
            </a:r>
            <a:r>
              <a:rPr lang="en-US" sz="2800" dirty="0" err="1" smtClean="0"/>
              <a:t>Gov</a:t>
            </a:r>
            <a:r>
              <a:rPr lang="en-US" sz="2800" dirty="0" smtClean="0"/>
              <a:t>, 	</a:t>
            </a:r>
            <a:r>
              <a:rPr lang="en-US" sz="2800" dirty="0" err="1" smtClean="0"/>
              <a:t>Cryptocurrancies</a:t>
            </a:r>
            <a:r>
              <a:rPr lang="en-US" sz="2800" dirty="0" smtClean="0"/>
              <a:t>, Travel and Transportations, </a:t>
            </a:r>
            <a:r>
              <a:rPr lang="en-US" sz="2800" dirty="0" err="1" smtClean="0"/>
              <a:t>IoT</a:t>
            </a:r>
            <a:r>
              <a:rPr lang="en-US" sz="2800" dirty="0" smtClean="0"/>
              <a:t>, Escrow, Land 	records, Courts (criminal and all other records),  </a:t>
            </a:r>
            <a:r>
              <a:rPr lang="en-US" sz="2800" dirty="0" err="1" smtClean="0"/>
              <a:t>eCommerce</a:t>
            </a:r>
            <a:r>
              <a:rPr lang="en-US" sz="2800" dirty="0"/>
              <a:t> </a:t>
            </a:r>
            <a:r>
              <a:rPr lang="en-US" sz="2800" dirty="0" smtClean="0"/>
              <a:t>	(even though local shops are included),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registration,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Birth/Death Certificates, Voting, Trading, Passports (e-ID)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here a diagram or logos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about above point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074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industries have already started adopting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their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businesses, many are still exploring the best possible ways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3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new name in the world of technologies but it is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definitely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one to last. Even in the early stages,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technology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gained huge popularity starting with their very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first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cryptocurrencies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0633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/>
              <a:t> More </a:t>
            </a:r>
            <a:r>
              <a:rPr lang="en-US" sz="2800" dirty="0"/>
              <a:t>areas of applications are being discovered and tested with </a:t>
            </a:r>
            <a:r>
              <a:rPr lang="en-US" sz="2800" dirty="0" smtClean="0"/>
              <a:t>	each </a:t>
            </a:r>
            <a:r>
              <a:rPr lang="en-US" sz="2800" dirty="0"/>
              <a:t>passing day. Once the technology is adopted and </a:t>
            </a:r>
            <a:r>
              <a:rPr lang="en-US" sz="2800" dirty="0" smtClean="0"/>
              <a:t>	accepted </a:t>
            </a:r>
            <a:r>
              <a:rPr lang="en-US" sz="2800" dirty="0"/>
              <a:t>on </a:t>
            </a:r>
            <a:r>
              <a:rPr lang="en-US" sz="2800" dirty="0" smtClean="0"/>
              <a:t>a global </a:t>
            </a:r>
            <a:r>
              <a:rPr lang="en-US" sz="2800" dirty="0"/>
              <a:t>level, it’ll transform the way we live today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84318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959370" y="287338"/>
            <a:ext cx="10523095" cy="4239692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you have any question?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43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Credit (it is just a demo and can be changed as per each person contribution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Animation by </a:t>
            </a:r>
            <a:r>
              <a:rPr lang="en-US" dirty="0" err="1" smtClean="0"/>
              <a:t>Sumama</a:t>
            </a:r>
            <a:endParaRPr lang="en-US" dirty="0" smtClean="0"/>
          </a:p>
          <a:p>
            <a:r>
              <a:rPr lang="en-US" dirty="0" smtClean="0"/>
              <a:t>Content organized by </a:t>
            </a:r>
            <a:r>
              <a:rPr lang="en-US" dirty="0" err="1" smtClean="0"/>
              <a:t>Sumama</a:t>
            </a:r>
            <a:endParaRPr lang="en-US" dirty="0" smtClean="0"/>
          </a:p>
          <a:p>
            <a:r>
              <a:rPr lang="en-US" dirty="0" smtClean="0"/>
              <a:t>Content gathered by </a:t>
            </a:r>
          </a:p>
          <a:p>
            <a:pPr lvl="1"/>
            <a:r>
              <a:rPr lang="en-US" dirty="0" err="1" smtClean="0"/>
              <a:t>Sumama</a:t>
            </a:r>
            <a:endParaRPr lang="en-US" dirty="0" smtClean="0"/>
          </a:p>
          <a:p>
            <a:pPr lvl="1"/>
            <a:r>
              <a:rPr lang="en-US" dirty="0" smtClean="0"/>
              <a:t>Bilal</a:t>
            </a:r>
          </a:p>
          <a:p>
            <a:pPr lvl="1"/>
            <a:r>
              <a:rPr lang="en-US" dirty="0" err="1" smtClean="0"/>
              <a:t>Faik</a:t>
            </a:r>
            <a:endParaRPr lang="en-US" dirty="0"/>
          </a:p>
          <a:p>
            <a:pPr marL="201168" lvl="1" indent="0">
              <a:buNone/>
            </a:pPr>
            <a:r>
              <a:rPr lang="en-US" dirty="0" smtClean="0"/>
              <a:t>Images and Stats</a:t>
            </a:r>
            <a:endParaRPr lang="en-US" dirty="0"/>
          </a:p>
          <a:p>
            <a:pPr marL="201168" lvl="1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abc</a:t>
            </a:r>
            <a:endParaRPr lang="en-US" dirty="0"/>
          </a:p>
          <a:p>
            <a:pPr marL="201168" lvl="1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etc</a:t>
            </a:r>
            <a:endParaRPr lang="en-US" dirty="0"/>
          </a:p>
          <a:p>
            <a:pPr marL="201168" lvl="1" indent="0">
              <a:buNone/>
            </a:pPr>
            <a:r>
              <a:rPr lang="en-US" dirty="0" smtClean="0"/>
              <a:t>Resources: Introduction to </a:t>
            </a:r>
            <a:r>
              <a:rPr lang="en-US" dirty="0" err="1" smtClean="0"/>
              <a:t>Blockchain</a:t>
            </a:r>
            <a:r>
              <a:rPr lang="en-US" dirty="0" smtClean="0"/>
              <a:t> By </a:t>
            </a:r>
            <a:r>
              <a:rPr lang="en-US" dirty="0" err="1" smtClean="0"/>
              <a:t>Sumama</a:t>
            </a:r>
            <a:r>
              <a:rPr lang="en-US" dirty="0" smtClean="0"/>
              <a:t> (Short Book, available online and with team members only – use QR code here to get this book)</a:t>
            </a:r>
          </a:p>
          <a:p>
            <a:pPr marL="201168" lvl="1" indent="0">
              <a:buNone/>
            </a:pPr>
            <a:r>
              <a:rPr lang="en-US" dirty="0" smtClean="0"/>
              <a:t>Sponsored by: XYZ – (talk and do it ask for payment)</a:t>
            </a:r>
          </a:p>
        </p:txBody>
      </p:sp>
    </p:spTree>
    <p:extLst>
      <p:ext uri="{BB962C8B-B14F-4D97-AF65-F5344CB8AC3E}">
        <p14:creationId xmlns:p14="http://schemas.microsoft.com/office/powerpoint/2010/main" val="370403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6590</TotalTime>
  <Words>1019</Words>
  <Application>Microsoft Office PowerPoint</Application>
  <PresentationFormat>Widescreen</PresentationFormat>
  <Paragraphs>194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Calibri Light</vt:lpstr>
      <vt:lpstr>Times New Roman</vt:lpstr>
      <vt:lpstr>Wingdings</vt:lpstr>
      <vt:lpstr>Retrospect</vt:lpstr>
      <vt:lpstr>Blockchain Technology</vt:lpstr>
      <vt:lpstr>Outlines</vt:lpstr>
      <vt:lpstr>Introduction to Blockchain</vt:lpstr>
      <vt:lpstr>Introduction to Blockchain</vt:lpstr>
      <vt:lpstr>Ledger</vt:lpstr>
      <vt:lpstr>Story</vt:lpstr>
      <vt:lpstr>Impact on Society (show job market and opportunities)</vt:lpstr>
      <vt:lpstr>Blockchain Technology Challanges</vt:lpstr>
      <vt:lpstr>Blockchain Technology Challenges</vt:lpstr>
      <vt:lpstr>PowerPoint Presentation</vt:lpstr>
      <vt:lpstr>Advantages</vt:lpstr>
      <vt:lpstr>Advantages</vt:lpstr>
      <vt:lpstr>Disadvantages</vt:lpstr>
      <vt:lpstr>Types of Blockchain</vt:lpstr>
      <vt:lpstr>PowerPoint Presentation</vt:lpstr>
      <vt:lpstr>Types of Blockchain</vt:lpstr>
      <vt:lpstr>What is Node/s?</vt:lpstr>
      <vt:lpstr>What is Node/s?</vt:lpstr>
      <vt:lpstr>Private Blockchain Network</vt:lpstr>
      <vt:lpstr>Public Blockchain Network</vt:lpstr>
      <vt:lpstr>Hybrid Blockchain Network</vt:lpstr>
      <vt:lpstr>Demo</vt:lpstr>
      <vt:lpstr>Demo</vt:lpstr>
      <vt:lpstr>Conclusion</vt:lpstr>
      <vt:lpstr>Conclusion</vt:lpstr>
      <vt:lpstr>Conclusion</vt:lpstr>
      <vt:lpstr>Conclusion</vt:lpstr>
      <vt:lpstr>Do you have any question?</vt:lpstr>
      <vt:lpstr>Credit (it is just a demo and can be changed as per each person contribution etc)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</dc:title>
  <dc:creator>Sumama Rahim</dc:creator>
  <cp:keywords>Blockchain</cp:keywords>
  <cp:lastModifiedBy>Adeel</cp:lastModifiedBy>
  <cp:revision>178</cp:revision>
  <dcterms:created xsi:type="dcterms:W3CDTF">2024-12-03T16:31:55Z</dcterms:created>
  <dcterms:modified xsi:type="dcterms:W3CDTF">2024-12-16T17:49:35Z</dcterms:modified>
</cp:coreProperties>
</file>