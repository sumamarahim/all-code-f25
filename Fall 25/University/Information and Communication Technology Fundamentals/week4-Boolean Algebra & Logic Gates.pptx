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2" r:id="rId4"/>
    <p:sldId id="263" r:id="rId5"/>
    <p:sldId id="264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26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3FD3-14F4-4C7A-83C1-93726A45FA35}" type="datetimeFigureOut">
              <a:rPr lang="en-US" smtClean="0"/>
              <a:t>9/24/2014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3035ECD-4E7B-46FA-BD16-2B8A0A4ACA7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3FD3-14F4-4C7A-83C1-93726A45FA35}" type="datetimeFigureOut">
              <a:rPr lang="en-US" smtClean="0"/>
              <a:t>9/24/2014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E3035ECD-4E7B-46FA-BD16-2B8A0A4ACA7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3FD3-14F4-4C7A-83C1-93726A45FA35}" type="datetimeFigureOut">
              <a:rPr lang="en-US" smtClean="0"/>
              <a:t>9/24/2014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3035ECD-4E7B-46FA-BD16-2B8A0A4ACA7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94113FD3-14F4-4C7A-83C1-93726A45FA35}" type="datetimeFigureOut">
              <a:rPr lang="en-US" smtClean="0"/>
              <a:t>9/24/2014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35ECD-4E7B-46FA-BD16-2B8A0A4ACA7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3FD3-14F4-4C7A-83C1-93726A45FA35}" type="datetimeFigureOut">
              <a:rPr lang="en-US" smtClean="0"/>
              <a:t>9/24/2014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E3035ECD-4E7B-46FA-BD16-2B8A0A4ACA74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3FD3-14F4-4C7A-83C1-93726A45FA35}" type="datetimeFigureOut">
              <a:rPr lang="en-US" smtClean="0"/>
              <a:t>9/24/2014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E3035ECD-4E7B-46FA-BD16-2B8A0A4ACA7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3FD3-14F4-4C7A-83C1-93726A45FA35}" type="datetimeFigureOut">
              <a:rPr lang="en-US" smtClean="0"/>
              <a:t>9/24/2014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3035ECD-4E7B-46FA-BD16-2B8A0A4ACA7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3035ECD-4E7B-46FA-BD16-2B8A0A4ACA74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3FD3-14F4-4C7A-83C1-93726A45FA35}" type="datetimeFigureOut">
              <a:rPr lang="en-US" smtClean="0"/>
              <a:t>9/24/2014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E3035ECD-4E7B-46FA-BD16-2B8A0A4ACA7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94113FD3-14F4-4C7A-83C1-93726A45FA35}" type="datetimeFigureOut">
              <a:rPr lang="en-US" smtClean="0"/>
              <a:t>9/24/2014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3FD3-14F4-4C7A-83C1-93726A45FA35}" type="datetimeFigureOut">
              <a:rPr lang="en-US" smtClean="0"/>
              <a:t>9/24/2014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35ECD-4E7B-46FA-BD16-2B8A0A4ACA7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E3035ECD-4E7B-46FA-BD16-2B8A0A4ACA7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3FD3-14F4-4C7A-83C1-93726A45FA35}" type="datetimeFigureOut">
              <a:rPr lang="en-US" smtClean="0"/>
              <a:t>9/24/2014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94113FD3-14F4-4C7A-83C1-93726A45FA35}" type="datetimeFigureOut">
              <a:rPr lang="en-US" smtClean="0"/>
              <a:t>9/24/2014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3035ECD-4E7B-46FA-BD16-2B8A0A4ACA74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Boolean Algebra &amp; Logic Gates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007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Fundamental Concepts of Boolean Algebra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tabLst>
                <a:tab pos="410291" algn="l"/>
              </a:tabLst>
            </a:pPr>
            <a:r>
              <a:rPr lang="en-US" altLang="zh-CN" sz="2400" dirty="0" smtClean="0"/>
              <a:t>Use </a:t>
            </a:r>
            <a:r>
              <a:rPr lang="en-US" altLang="zh-CN" sz="2400" dirty="0"/>
              <a:t>of Binary Digit</a:t>
            </a:r>
          </a:p>
          <a:p>
            <a:pPr lvl="1">
              <a:tabLst>
                <a:tab pos="410291" algn="l"/>
              </a:tabLst>
            </a:pPr>
            <a:r>
              <a:rPr lang="en-US" altLang="zh-CN" sz="1900" dirty="0" smtClean="0"/>
              <a:t>Boolean </a:t>
            </a:r>
            <a:r>
              <a:rPr lang="en-US" altLang="zh-CN" sz="1900" dirty="0"/>
              <a:t>equations can have either of two </a:t>
            </a:r>
            <a:r>
              <a:rPr lang="en-US" altLang="zh-CN" sz="1900" dirty="0" smtClean="0"/>
              <a:t>possible values</a:t>
            </a:r>
            <a:r>
              <a:rPr lang="en-US" altLang="zh-CN" sz="1900" dirty="0"/>
              <a:t>, 0 and 1</a:t>
            </a:r>
          </a:p>
          <a:p>
            <a:pPr>
              <a:tabLst>
                <a:tab pos="410291" algn="l"/>
              </a:tabLst>
            </a:pPr>
            <a:r>
              <a:rPr lang="en-US" altLang="zh-CN" sz="2400" dirty="0" smtClean="0"/>
              <a:t>Logical </a:t>
            </a:r>
            <a:r>
              <a:rPr lang="en-US" altLang="zh-CN" sz="2400" dirty="0"/>
              <a:t>Addition</a:t>
            </a:r>
          </a:p>
          <a:p>
            <a:pPr lvl="1">
              <a:tabLst>
                <a:tab pos="410291" algn="l"/>
              </a:tabLst>
            </a:pPr>
            <a:r>
              <a:rPr lang="en-US" altLang="zh-CN" sz="1900" dirty="0" smtClean="0"/>
              <a:t>Symbol </a:t>
            </a:r>
            <a:r>
              <a:rPr lang="en-US" altLang="zh-CN" sz="1900" dirty="0"/>
              <a:t>‘+’, also known as ‘OR’ operator, used </a:t>
            </a:r>
            <a:r>
              <a:rPr lang="en-US" altLang="zh-CN" sz="1900" dirty="0" smtClean="0"/>
              <a:t>for logical </a:t>
            </a:r>
            <a:r>
              <a:rPr lang="en-US" altLang="zh-CN" sz="1900" dirty="0"/>
              <a:t>addition. </a:t>
            </a:r>
            <a:r>
              <a:rPr lang="en-US" altLang="zh-CN" sz="1900" dirty="0"/>
              <a:t>Follows law of binary addition</a:t>
            </a:r>
          </a:p>
          <a:p>
            <a:pPr>
              <a:tabLst>
                <a:tab pos="410291" algn="l"/>
              </a:tabLst>
            </a:pPr>
            <a:r>
              <a:rPr lang="en-US" altLang="zh-CN" sz="2400" dirty="0" smtClean="0"/>
              <a:t>Logical </a:t>
            </a:r>
            <a:r>
              <a:rPr lang="en-US" altLang="zh-CN" sz="2400" dirty="0"/>
              <a:t>Multiplication</a:t>
            </a:r>
          </a:p>
          <a:p>
            <a:pPr lvl="1">
              <a:tabLst>
                <a:tab pos="410291" algn="l"/>
              </a:tabLst>
            </a:pPr>
            <a:r>
              <a:rPr lang="en-US" altLang="zh-CN" sz="1900" dirty="0" smtClean="0"/>
              <a:t>Symbol </a:t>
            </a:r>
            <a:r>
              <a:rPr lang="en-US" altLang="zh-CN" sz="1900" dirty="0"/>
              <a:t>‘.’, also known as ‘AND’ operator, used </a:t>
            </a:r>
            <a:r>
              <a:rPr lang="en-US" altLang="zh-CN" sz="1900" dirty="0" smtClean="0"/>
              <a:t>for logical </a:t>
            </a:r>
            <a:r>
              <a:rPr lang="en-US" altLang="zh-CN" sz="1900" dirty="0"/>
              <a:t>multiplication.   Follows law of </a:t>
            </a:r>
            <a:r>
              <a:rPr lang="en-US" altLang="zh-CN" sz="1900" dirty="0" smtClean="0"/>
              <a:t>binary multiplication</a:t>
            </a:r>
            <a:endParaRPr lang="en-US" altLang="zh-CN" sz="1900" dirty="0"/>
          </a:p>
          <a:p>
            <a:pPr>
              <a:tabLst>
                <a:tab pos="410291" algn="l"/>
              </a:tabLst>
            </a:pPr>
            <a:r>
              <a:rPr lang="en-US" altLang="zh-CN" sz="2400" dirty="0" smtClean="0"/>
              <a:t>Complementation</a:t>
            </a:r>
            <a:endParaRPr lang="en-US" altLang="zh-CN" sz="2400" dirty="0"/>
          </a:p>
          <a:p>
            <a:pPr lvl="1">
              <a:tabLst>
                <a:tab pos="410291" algn="l"/>
              </a:tabLst>
            </a:pPr>
            <a:r>
              <a:rPr lang="en-US" altLang="zh-CN" sz="1900" dirty="0" smtClean="0"/>
              <a:t>Symbol </a:t>
            </a:r>
            <a:r>
              <a:rPr lang="en-US" altLang="zh-CN" sz="1900" dirty="0"/>
              <a:t>‘-’, also known as ‘NOT’ operator, used </a:t>
            </a:r>
            <a:r>
              <a:rPr lang="en-US" altLang="zh-CN" sz="1900" dirty="0" smtClean="0"/>
              <a:t>for complementation</a:t>
            </a:r>
            <a:r>
              <a:rPr lang="en-US" altLang="zh-CN" sz="1900" dirty="0"/>
              <a:t>. </a:t>
            </a:r>
            <a:r>
              <a:rPr lang="en-US" altLang="zh-CN" sz="1900" dirty="0"/>
              <a:t>Follows law of binary compliment</a:t>
            </a:r>
          </a:p>
          <a:p>
            <a:pPr>
              <a:tabLst>
                <a:tab pos="410291" algn="l"/>
              </a:tabLst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898898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Operator precedence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ts val="2961"/>
              </a:lnSpc>
              <a:tabLst>
                <a:tab pos="410291" algn="l"/>
              </a:tabLst>
            </a:pPr>
            <a:r>
              <a:rPr lang="en-US" altLang="zh-CN" sz="2800" dirty="0" smtClean="0"/>
              <a:t>Each </a:t>
            </a:r>
            <a:r>
              <a:rPr lang="en-US" altLang="zh-CN" sz="2800" dirty="0"/>
              <a:t>operator has a precedence </a:t>
            </a:r>
            <a:r>
              <a:rPr lang="en-US" altLang="zh-CN" sz="2800" dirty="0" smtClean="0"/>
              <a:t>level -Higher </a:t>
            </a:r>
            <a:r>
              <a:rPr lang="en-US" altLang="zh-CN" sz="2800" dirty="0"/>
              <a:t>the operator’s precedence level, earlier it is evaluated</a:t>
            </a:r>
          </a:p>
          <a:p>
            <a:pPr>
              <a:lnSpc>
                <a:spcPts val="2961"/>
              </a:lnSpc>
              <a:tabLst>
                <a:tab pos="410291" algn="l"/>
              </a:tabLst>
            </a:pPr>
            <a:r>
              <a:rPr lang="en-US" altLang="zh-CN" sz="2800" dirty="0" smtClean="0"/>
              <a:t>Expression </a:t>
            </a:r>
            <a:r>
              <a:rPr lang="en-US" altLang="zh-CN" sz="2800" dirty="0"/>
              <a:t>is scanned from left to right</a:t>
            </a:r>
          </a:p>
          <a:p>
            <a:pPr lvl="1">
              <a:lnSpc>
                <a:spcPts val="2961"/>
              </a:lnSpc>
              <a:tabLst>
                <a:tab pos="410291" algn="l"/>
              </a:tabLst>
            </a:pPr>
            <a:r>
              <a:rPr lang="en-US" altLang="zh-CN" sz="2400" dirty="0" smtClean="0"/>
              <a:t>First</a:t>
            </a:r>
            <a:r>
              <a:rPr lang="en-US" altLang="zh-CN" sz="2400" dirty="0"/>
              <a:t>, expressions enclosed within parentheses are evaluated</a:t>
            </a:r>
          </a:p>
          <a:p>
            <a:pPr lvl="1">
              <a:lnSpc>
                <a:spcPts val="2961"/>
              </a:lnSpc>
              <a:tabLst>
                <a:tab pos="410291" algn="l"/>
              </a:tabLst>
            </a:pPr>
            <a:r>
              <a:rPr lang="en-US" altLang="zh-CN" sz="2400" dirty="0" smtClean="0"/>
              <a:t>Then</a:t>
            </a:r>
            <a:r>
              <a:rPr lang="en-US" altLang="zh-CN" sz="2400" dirty="0"/>
              <a:t>, all complement (NOT) operations are performed</a:t>
            </a:r>
          </a:p>
          <a:p>
            <a:pPr lvl="1">
              <a:lnSpc>
                <a:spcPts val="3051"/>
              </a:lnSpc>
              <a:tabLst>
                <a:tab pos="410291" algn="l"/>
              </a:tabLst>
            </a:pPr>
            <a:r>
              <a:rPr lang="en-US" altLang="zh-CN" sz="2400" dirty="0" smtClean="0"/>
              <a:t>Then</a:t>
            </a:r>
            <a:r>
              <a:rPr lang="en-US" altLang="zh-CN" sz="2400" dirty="0"/>
              <a:t>, all ‘⋅’ (AND) operations are performed</a:t>
            </a:r>
          </a:p>
          <a:p>
            <a:pPr lvl="1">
              <a:lnSpc>
                <a:spcPts val="2961"/>
              </a:lnSpc>
              <a:tabLst>
                <a:tab pos="410291" algn="l"/>
              </a:tabLst>
            </a:pPr>
            <a:r>
              <a:rPr lang="en-US" altLang="zh-CN" sz="2400" dirty="0" smtClean="0"/>
              <a:t>Finally</a:t>
            </a:r>
            <a:r>
              <a:rPr lang="en-US" altLang="zh-CN" sz="2400" dirty="0"/>
              <a:t>, all ‘+’ (OR) operations are performed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241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100" y="2124075"/>
            <a:ext cx="4495800" cy="2609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8054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Boolean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ts val="2961"/>
              </a:lnSpc>
              <a:tabLst>
                <a:tab pos="410291" algn="l"/>
              </a:tabLst>
            </a:pPr>
            <a:r>
              <a:rPr lang="en-US" altLang="zh-CN" sz="5900" dirty="0"/>
              <a:t>A Boolean function is an expression formed with:</a:t>
            </a:r>
          </a:p>
          <a:p>
            <a:pPr lvl="1">
              <a:lnSpc>
                <a:spcPts val="2961"/>
              </a:lnSpc>
              <a:tabLst>
                <a:tab pos="410291" algn="l"/>
              </a:tabLst>
            </a:pPr>
            <a:r>
              <a:rPr lang="en-US" altLang="zh-CN" sz="5400" dirty="0" smtClean="0"/>
              <a:t>Binary </a:t>
            </a:r>
            <a:r>
              <a:rPr lang="en-US" altLang="zh-CN" sz="5400" dirty="0"/>
              <a:t>variables</a:t>
            </a:r>
          </a:p>
          <a:p>
            <a:pPr lvl="1">
              <a:lnSpc>
                <a:spcPts val="2961"/>
              </a:lnSpc>
              <a:tabLst>
                <a:tab pos="410291" algn="l"/>
              </a:tabLst>
            </a:pPr>
            <a:r>
              <a:rPr lang="en-US" altLang="zh-CN" sz="5400" dirty="0" smtClean="0"/>
              <a:t>Operators </a:t>
            </a:r>
            <a:r>
              <a:rPr lang="en-US" altLang="zh-CN" sz="5400" dirty="0"/>
              <a:t>(OR, AND, and NOT)</a:t>
            </a:r>
          </a:p>
          <a:p>
            <a:pPr lvl="1">
              <a:lnSpc>
                <a:spcPts val="2961"/>
              </a:lnSpc>
              <a:tabLst>
                <a:tab pos="410291" algn="l"/>
              </a:tabLst>
            </a:pPr>
            <a:r>
              <a:rPr lang="en-US" altLang="zh-CN" sz="5400" dirty="0" smtClean="0"/>
              <a:t>Parentheses</a:t>
            </a:r>
            <a:r>
              <a:rPr lang="en-US" altLang="zh-CN" sz="5400" dirty="0"/>
              <a:t>, and equal sign</a:t>
            </a:r>
          </a:p>
          <a:p>
            <a:pPr lvl="1">
              <a:lnSpc>
                <a:spcPts val="2961"/>
              </a:lnSpc>
              <a:tabLst>
                <a:tab pos="410291" algn="l"/>
              </a:tabLst>
            </a:pPr>
            <a:r>
              <a:rPr lang="en-US" altLang="zh-CN" sz="5400" dirty="0" smtClean="0"/>
              <a:t>The </a:t>
            </a:r>
            <a:r>
              <a:rPr lang="en-US" altLang="zh-CN" sz="5400" dirty="0"/>
              <a:t>value of a Boolean function can be either 0 or </a:t>
            </a:r>
            <a:r>
              <a:rPr lang="en-US" altLang="zh-CN" sz="5400" dirty="0" smtClean="0"/>
              <a:t>1</a:t>
            </a:r>
          </a:p>
          <a:p>
            <a:pPr>
              <a:lnSpc>
                <a:spcPts val="2961"/>
              </a:lnSpc>
              <a:tabLst>
                <a:tab pos="410291" algn="l"/>
              </a:tabLst>
            </a:pPr>
            <a:r>
              <a:rPr lang="en-US" altLang="zh-CN" sz="5900" dirty="0" smtClean="0"/>
              <a:t>A </a:t>
            </a:r>
            <a:r>
              <a:rPr lang="en-US" altLang="zh-CN" sz="5900" dirty="0"/>
              <a:t>Boolean function may be represented as:</a:t>
            </a:r>
          </a:p>
          <a:p>
            <a:pPr lvl="1">
              <a:lnSpc>
                <a:spcPts val="2961"/>
              </a:lnSpc>
              <a:tabLst>
                <a:tab pos="410291" algn="l"/>
              </a:tabLst>
            </a:pPr>
            <a:r>
              <a:rPr lang="en-US" altLang="zh-CN" sz="5400" dirty="0" smtClean="0"/>
              <a:t>An </a:t>
            </a:r>
            <a:r>
              <a:rPr lang="en-US" altLang="zh-CN" sz="5400" dirty="0"/>
              <a:t>algebraic expression, or</a:t>
            </a:r>
          </a:p>
          <a:p>
            <a:pPr lvl="1">
              <a:lnSpc>
                <a:spcPts val="2961"/>
              </a:lnSpc>
              <a:tabLst>
                <a:tab pos="410291" algn="l"/>
              </a:tabLst>
            </a:pPr>
            <a:r>
              <a:rPr lang="en-US" altLang="zh-CN" sz="5400" dirty="0" smtClean="0"/>
              <a:t>A </a:t>
            </a:r>
            <a:r>
              <a:rPr lang="en-US" altLang="zh-CN" sz="5400" dirty="0"/>
              <a:t>truth table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445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ts val="2961"/>
              </a:lnSpc>
              <a:tabLst>
                <a:tab pos="410291" algn="l"/>
              </a:tabLst>
            </a:pPr>
            <a:r>
              <a:rPr lang="en-US" altLang="zh-CN" sz="2800" dirty="0"/>
              <a:t>W = X +Y ·Z</a:t>
            </a:r>
          </a:p>
          <a:p>
            <a:pPr>
              <a:lnSpc>
                <a:spcPts val="2961"/>
              </a:lnSpc>
              <a:tabLst>
                <a:tab pos="410291" algn="l"/>
              </a:tabLst>
            </a:pPr>
            <a:r>
              <a:rPr lang="en-US" altLang="zh-CN" sz="2800" dirty="0" smtClean="0"/>
              <a:t>Variable   </a:t>
            </a:r>
            <a:r>
              <a:rPr lang="en-US" altLang="zh-CN" sz="2800" dirty="0"/>
              <a:t>W   is   a   function   of   X,   Y,   and   Z,   can   </a:t>
            </a:r>
            <a:r>
              <a:rPr lang="en-US" altLang="zh-CN" sz="2800" dirty="0" smtClean="0"/>
              <a:t>also written </a:t>
            </a:r>
            <a:r>
              <a:rPr lang="en-US" altLang="zh-CN" sz="2800" dirty="0"/>
              <a:t>as W = f (X, Y, Z)</a:t>
            </a:r>
          </a:p>
          <a:p>
            <a:pPr>
              <a:lnSpc>
                <a:spcPts val="2961"/>
              </a:lnSpc>
              <a:tabLst>
                <a:tab pos="410291" algn="l"/>
              </a:tabLst>
            </a:pPr>
            <a:r>
              <a:rPr lang="en-US" altLang="zh-CN" sz="2800" dirty="0" smtClean="0"/>
              <a:t>The </a:t>
            </a:r>
            <a:r>
              <a:rPr lang="en-US" altLang="zh-CN" sz="2800" dirty="0"/>
              <a:t>RHS of the equation is called an expression</a:t>
            </a:r>
          </a:p>
          <a:p>
            <a:pPr>
              <a:lnSpc>
                <a:spcPts val="2961"/>
              </a:lnSpc>
              <a:tabLst>
                <a:tab pos="410291" algn="l"/>
              </a:tabLst>
            </a:pPr>
            <a:r>
              <a:rPr lang="en-US" altLang="zh-CN" sz="2800" dirty="0" smtClean="0"/>
              <a:t>The </a:t>
            </a:r>
            <a:r>
              <a:rPr lang="en-US" altLang="zh-CN" sz="2800" dirty="0"/>
              <a:t>symbols X, Y, Z are the literals of the function</a:t>
            </a:r>
          </a:p>
          <a:p>
            <a:pPr>
              <a:lnSpc>
                <a:spcPts val="2961"/>
              </a:lnSpc>
              <a:tabLst>
                <a:tab pos="410291" algn="l"/>
              </a:tabLst>
            </a:pPr>
            <a:r>
              <a:rPr lang="en-US" altLang="zh-CN" sz="2800" dirty="0" smtClean="0"/>
              <a:t>For  </a:t>
            </a:r>
            <a:r>
              <a:rPr lang="en-US" altLang="zh-CN" sz="2800" dirty="0"/>
              <a:t>a  given  Boolean  function,  there  may  be  more  </a:t>
            </a:r>
            <a:r>
              <a:rPr lang="en-US" altLang="zh-CN" sz="2800" dirty="0" smtClean="0"/>
              <a:t>than one </a:t>
            </a:r>
            <a:r>
              <a:rPr lang="en-US" altLang="zh-CN" sz="2800" dirty="0"/>
              <a:t>algebraic expressions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237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Logic Gates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ts val="2961"/>
              </a:lnSpc>
              <a:tabLst>
                <a:tab pos="410291" algn="l"/>
              </a:tabLst>
            </a:pPr>
            <a:r>
              <a:rPr lang="en-US" altLang="zh-CN" sz="2800" dirty="0" smtClean="0"/>
              <a:t>Logic   </a:t>
            </a:r>
            <a:r>
              <a:rPr lang="en-US" altLang="zh-CN" sz="2800" dirty="0"/>
              <a:t>gates   are   electronic   circuits   that   operate   </a:t>
            </a:r>
            <a:r>
              <a:rPr lang="en-US" altLang="zh-CN" sz="2800" dirty="0" smtClean="0"/>
              <a:t>on one </a:t>
            </a:r>
            <a:r>
              <a:rPr lang="en-US" altLang="zh-CN" sz="2800" dirty="0"/>
              <a:t>or more input signals to produce standard </a:t>
            </a:r>
            <a:r>
              <a:rPr lang="en-US" altLang="zh-CN" sz="2800" dirty="0" smtClean="0"/>
              <a:t>output signal</a:t>
            </a:r>
            <a:endParaRPr lang="en-US" altLang="zh-CN" sz="2800" dirty="0"/>
          </a:p>
          <a:p>
            <a:pPr>
              <a:lnSpc>
                <a:spcPts val="2961"/>
              </a:lnSpc>
              <a:tabLst>
                <a:tab pos="410291" algn="l"/>
              </a:tabLst>
            </a:pPr>
            <a:r>
              <a:rPr lang="en-US" altLang="zh-CN" sz="2800" dirty="0" smtClean="0"/>
              <a:t>Are    </a:t>
            </a:r>
            <a:r>
              <a:rPr lang="en-US" altLang="zh-CN" sz="2800" dirty="0"/>
              <a:t>the    building    blocks    of    all    the    </a:t>
            </a:r>
            <a:r>
              <a:rPr lang="en-US" altLang="zh-CN" sz="2800" dirty="0" smtClean="0"/>
              <a:t>circuits  </a:t>
            </a:r>
            <a:r>
              <a:rPr lang="en-US" altLang="zh-CN" sz="2800" dirty="0"/>
              <a:t>in    </a:t>
            </a:r>
            <a:r>
              <a:rPr lang="en-US" altLang="zh-CN" sz="2800" dirty="0" smtClean="0"/>
              <a:t>a computer</a:t>
            </a:r>
            <a:endParaRPr lang="en-US" altLang="zh-CN" sz="2800" dirty="0"/>
          </a:p>
          <a:p>
            <a:pPr>
              <a:lnSpc>
                <a:spcPts val="2961"/>
              </a:lnSpc>
              <a:tabLst>
                <a:tab pos="410291" algn="l"/>
              </a:tabLst>
            </a:pPr>
            <a:r>
              <a:rPr lang="en-US" altLang="zh-CN" sz="2800" dirty="0" smtClean="0"/>
              <a:t>Some  </a:t>
            </a:r>
            <a:r>
              <a:rPr lang="en-US" altLang="zh-CN" sz="2800" dirty="0"/>
              <a:t>of  the  most  basic  and  useful  logic  gates  </a:t>
            </a:r>
            <a:r>
              <a:rPr lang="en-US" altLang="zh-CN" sz="2800" dirty="0" smtClean="0"/>
              <a:t>are AND</a:t>
            </a:r>
            <a:r>
              <a:rPr lang="en-US" altLang="zh-CN" sz="2800" dirty="0"/>
              <a:t>, OR, NOT, NAND and NOR gates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48249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AND Gate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ts val="2961"/>
              </a:lnSpc>
              <a:tabLst>
                <a:tab pos="410291" algn="l"/>
              </a:tabLst>
            </a:pPr>
            <a:r>
              <a:rPr lang="en-US" altLang="zh-CN" sz="2800" dirty="0"/>
              <a:t>Physical   realization   of   logical   multiplication   (</a:t>
            </a:r>
            <a:r>
              <a:rPr lang="en-US" altLang="zh-CN" sz="2800" dirty="0"/>
              <a:t>AND) operation</a:t>
            </a:r>
            <a:endParaRPr lang="en-US" altLang="zh-CN" sz="2800" dirty="0"/>
          </a:p>
          <a:p>
            <a:pPr>
              <a:lnSpc>
                <a:spcPts val="2961"/>
              </a:lnSpc>
              <a:tabLst>
                <a:tab pos="410291" algn="l"/>
              </a:tabLst>
            </a:pPr>
            <a:r>
              <a:rPr lang="en-US" altLang="zh-CN" sz="2800" dirty="0" smtClean="0"/>
              <a:t>Generates   </a:t>
            </a:r>
            <a:r>
              <a:rPr lang="en-US" altLang="zh-CN" sz="2800" dirty="0"/>
              <a:t>an   output   signal   of   1   only   if   all   </a:t>
            </a:r>
            <a:r>
              <a:rPr lang="en-US" altLang="zh-CN" sz="2800" dirty="0"/>
              <a:t>input signals </a:t>
            </a:r>
            <a:r>
              <a:rPr lang="en-US" altLang="zh-CN" sz="2800" dirty="0"/>
              <a:t>are also 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415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429" y="1524000"/>
            <a:ext cx="7376884" cy="4343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46066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 Gate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ts val="2961"/>
              </a:lnSpc>
              <a:tabLst>
                <a:tab pos="410291" algn="l"/>
              </a:tabLst>
            </a:pPr>
            <a:r>
              <a:rPr lang="en-US" altLang="zh-CN" sz="2800" dirty="0"/>
              <a:t>Physical realization of logical addition (OR) operation</a:t>
            </a:r>
          </a:p>
          <a:p>
            <a:pPr>
              <a:lnSpc>
                <a:spcPts val="2961"/>
              </a:lnSpc>
              <a:tabLst>
                <a:tab pos="410291" algn="l"/>
              </a:tabLst>
            </a:pPr>
            <a:r>
              <a:rPr lang="en-US" altLang="zh-CN" sz="2800" dirty="0" smtClean="0"/>
              <a:t>Generates </a:t>
            </a:r>
            <a:r>
              <a:rPr lang="en-US" altLang="zh-CN" sz="2800" dirty="0"/>
              <a:t>an  output  signal  of  1  if  at  least  one of  </a:t>
            </a:r>
            <a:r>
              <a:rPr lang="en-US" altLang="zh-CN" sz="2800" dirty="0" smtClean="0"/>
              <a:t>the input </a:t>
            </a:r>
            <a:r>
              <a:rPr lang="en-US" altLang="zh-CN" sz="2800" dirty="0"/>
              <a:t>signals is also 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608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599" y="1447800"/>
            <a:ext cx="6515877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2616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NOT Gate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ts val="2961"/>
              </a:lnSpc>
              <a:tabLst>
                <a:tab pos="410291" algn="l"/>
              </a:tabLst>
            </a:pPr>
            <a:r>
              <a:rPr lang="en-US" altLang="zh-CN" sz="2800" dirty="0"/>
              <a:t>Physical realization of complementation operation</a:t>
            </a:r>
          </a:p>
          <a:p>
            <a:pPr>
              <a:lnSpc>
                <a:spcPts val="2961"/>
              </a:lnSpc>
              <a:tabLst>
                <a:tab pos="410291" algn="l"/>
              </a:tabLst>
            </a:pPr>
            <a:endParaRPr lang="en-US" altLang="zh-CN" sz="2800" dirty="0"/>
          </a:p>
          <a:p>
            <a:pPr>
              <a:lnSpc>
                <a:spcPts val="2961"/>
              </a:lnSpc>
              <a:tabLst>
                <a:tab pos="410291" algn="l"/>
              </a:tabLst>
            </a:pPr>
            <a:r>
              <a:rPr lang="en-US" altLang="zh-CN" sz="2800" dirty="0" smtClean="0"/>
              <a:t>Generates  </a:t>
            </a:r>
            <a:r>
              <a:rPr lang="en-US" altLang="zh-CN" sz="2800" dirty="0"/>
              <a:t>an  output  signal,  which  is  the  reverse  </a:t>
            </a:r>
            <a:r>
              <a:rPr lang="en-US" altLang="zh-CN" sz="2800" dirty="0" smtClean="0"/>
              <a:t>of the </a:t>
            </a:r>
            <a:r>
              <a:rPr lang="en-US" altLang="zh-CN" sz="2800" dirty="0"/>
              <a:t>input signal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51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905000"/>
            <a:ext cx="5562600" cy="3729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74615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149</TotalTime>
  <Words>406</Words>
  <Application>Microsoft Office PowerPoint</Application>
  <PresentationFormat>On-screen Show (4:3)</PresentationFormat>
  <Paragraphs>45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Civic</vt:lpstr>
      <vt:lpstr>Boolean Algebra &amp; Logic Gates</vt:lpstr>
      <vt:lpstr>Fundamental Concepts of Boolean Algebra</vt:lpstr>
      <vt:lpstr>Operator precedence</vt:lpstr>
      <vt:lpstr>PowerPoint Presentation</vt:lpstr>
      <vt:lpstr>Boolean Functions</vt:lpstr>
      <vt:lpstr>PowerPoint Presentation</vt:lpstr>
      <vt:lpstr>Logic Gates</vt:lpstr>
      <vt:lpstr>AND Gate</vt:lpstr>
      <vt:lpstr>PowerPoint Presentation</vt:lpstr>
      <vt:lpstr>OR Gate</vt:lpstr>
      <vt:lpstr>PowerPoint Presentation</vt:lpstr>
      <vt:lpstr>NOT Gate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Boolean Algebra &amp; Logic Gates</dc:title>
  <dc:creator>UZAIR</dc:creator>
  <cp:lastModifiedBy>UZAIR</cp:lastModifiedBy>
  <cp:revision>5</cp:revision>
  <dcterms:created xsi:type="dcterms:W3CDTF">2014-09-24T16:45:33Z</dcterms:created>
  <dcterms:modified xsi:type="dcterms:W3CDTF">2014-09-24T19:14:50Z</dcterms:modified>
</cp:coreProperties>
</file>