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57" r:id="rId3"/>
    <p:sldId id="258" r:id="rId4"/>
    <p:sldId id="261" r:id="rId5"/>
    <p:sldId id="265" r:id="rId6"/>
    <p:sldId id="285" r:id="rId7"/>
    <p:sldId id="275" r:id="rId8"/>
    <p:sldId id="276" r:id="rId9"/>
    <p:sldId id="277" r:id="rId10"/>
    <p:sldId id="272" r:id="rId11"/>
    <p:sldId id="270" r:id="rId12"/>
    <p:sldId id="273" r:id="rId13"/>
    <p:sldId id="284" r:id="rId14"/>
    <p:sldId id="271" r:id="rId15"/>
    <p:sldId id="259" r:id="rId16"/>
    <p:sldId id="266" r:id="rId17"/>
    <p:sldId id="267" r:id="rId18"/>
    <p:sldId id="260" r:id="rId19"/>
    <p:sldId id="274" r:id="rId20"/>
    <p:sldId id="262" r:id="rId21"/>
    <p:sldId id="263" r:id="rId22"/>
    <p:sldId id="264" r:id="rId23"/>
    <p:sldId id="282" r:id="rId24"/>
    <p:sldId id="283" r:id="rId25"/>
    <p:sldId id="278" r:id="rId26"/>
    <p:sldId id="280" r:id="rId27"/>
    <p:sldId id="279" r:id="rId28"/>
    <p:sldId id="281" r:id="rId29"/>
    <p:sldId id="26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C47B6FA-5A37-4429-A48D-51E2675EA91C}">
          <p14:sldIdLst>
            <p14:sldId id="256"/>
            <p14:sldId id="257"/>
            <p14:sldId id="258"/>
            <p14:sldId id="261"/>
            <p14:sldId id="265"/>
            <p14:sldId id="285"/>
            <p14:sldId id="275"/>
            <p14:sldId id="276"/>
            <p14:sldId id="277"/>
            <p14:sldId id="272"/>
            <p14:sldId id="270"/>
            <p14:sldId id="273"/>
            <p14:sldId id="284"/>
            <p14:sldId id="271"/>
            <p14:sldId id="259"/>
            <p14:sldId id="266"/>
            <p14:sldId id="267"/>
            <p14:sldId id="260"/>
            <p14:sldId id="274"/>
            <p14:sldId id="262"/>
            <p14:sldId id="263"/>
            <p14:sldId id="264"/>
            <p14:sldId id="282"/>
            <p14:sldId id="283"/>
            <p14:sldId id="278"/>
            <p14:sldId id="280"/>
            <p14:sldId id="279"/>
            <p14:sldId id="281"/>
            <p14:sldId id="2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4" autoAdjust="0"/>
    <p:restoredTop sz="86355" autoAdjust="0"/>
  </p:normalViewPr>
  <p:slideViewPr>
    <p:cSldViewPr snapToGrid="0">
      <p:cViewPr varScale="1">
        <p:scale>
          <a:sx n="64" d="100"/>
          <a:sy n="64" d="100"/>
        </p:scale>
        <p:origin x="924" y="72"/>
      </p:cViewPr>
      <p:guideLst/>
    </p:cSldViewPr>
  </p:slideViewPr>
  <p:outlineViewPr>
    <p:cViewPr>
      <p:scale>
        <a:sx n="33" d="100"/>
        <a:sy n="33" d="100"/>
      </p:scale>
      <p:origin x="0" y="-6264"/>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4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86B3B3-17CB-4CC5-A852-5AA5E9F55BD1}" type="doc">
      <dgm:prSet loTypeId="urn:microsoft.com/office/officeart/2005/8/layout/hList3" loCatId="list" qsTypeId="urn:microsoft.com/office/officeart/2005/8/quickstyle/simple2" qsCatId="simple" csTypeId="urn:microsoft.com/office/officeart/2005/8/colors/accent3_1" csCatId="accent3" phldr="1"/>
      <dgm:spPr/>
      <dgm:t>
        <a:bodyPr/>
        <a:lstStyle/>
        <a:p>
          <a:endParaRPr lang="en-US"/>
        </a:p>
      </dgm:t>
    </dgm:pt>
    <dgm:pt modelId="{2C0AFC9A-D62F-4B40-8D3A-68EE6158CB48}">
      <dgm:prSet phldrT="[Text]"/>
      <dgm:spPr/>
      <dgm:t>
        <a:bodyPr/>
        <a:lstStyle/>
        <a:p>
          <a:r>
            <a:rPr lang="en-US" dirty="0" smtClean="0"/>
            <a:t>Types of </a:t>
          </a:r>
          <a:r>
            <a:rPr lang="en-US" dirty="0" err="1" smtClean="0"/>
            <a:t>Blockchain</a:t>
          </a:r>
          <a:endParaRPr lang="en-US" dirty="0"/>
        </a:p>
      </dgm:t>
    </dgm:pt>
    <dgm:pt modelId="{BD7BAF65-7403-43E9-80EF-88C787F0299B}" type="parTrans" cxnId="{C59ADB29-E6B6-4D09-A908-171EAFD2B46C}">
      <dgm:prSet/>
      <dgm:spPr/>
      <dgm:t>
        <a:bodyPr/>
        <a:lstStyle/>
        <a:p>
          <a:endParaRPr lang="en-US"/>
        </a:p>
      </dgm:t>
    </dgm:pt>
    <dgm:pt modelId="{C5E416BE-2F34-4240-9375-D055960C8E9C}" type="sibTrans" cxnId="{C59ADB29-E6B6-4D09-A908-171EAFD2B46C}">
      <dgm:prSet/>
      <dgm:spPr/>
      <dgm:t>
        <a:bodyPr/>
        <a:lstStyle/>
        <a:p>
          <a:endParaRPr lang="en-US"/>
        </a:p>
      </dgm:t>
    </dgm:pt>
    <dgm:pt modelId="{A044B0CC-68E6-43A5-903B-12539F576083}">
      <dgm:prSet phldrT="[Text]"/>
      <dgm:spPr/>
      <dgm:t>
        <a:bodyPr/>
        <a:lstStyle/>
        <a:p>
          <a:r>
            <a:rPr lang="en-US" dirty="0" smtClean="0"/>
            <a:t>Private</a:t>
          </a:r>
          <a:endParaRPr lang="en-US" dirty="0"/>
        </a:p>
      </dgm:t>
    </dgm:pt>
    <dgm:pt modelId="{246BBF47-7BE9-4466-94D4-317D3362EE12}" type="parTrans" cxnId="{012E739C-E2EB-45AE-BB5A-0455A329A0CF}">
      <dgm:prSet/>
      <dgm:spPr/>
      <dgm:t>
        <a:bodyPr/>
        <a:lstStyle/>
        <a:p>
          <a:endParaRPr lang="en-US"/>
        </a:p>
      </dgm:t>
    </dgm:pt>
    <dgm:pt modelId="{D3514739-A1C6-4633-8B5C-AB4DDB0C344B}" type="sibTrans" cxnId="{012E739C-E2EB-45AE-BB5A-0455A329A0CF}">
      <dgm:prSet/>
      <dgm:spPr/>
      <dgm:t>
        <a:bodyPr/>
        <a:lstStyle/>
        <a:p>
          <a:endParaRPr lang="en-US"/>
        </a:p>
      </dgm:t>
    </dgm:pt>
    <dgm:pt modelId="{95CDBD3F-8346-4DFB-9F97-774E353D1A6E}">
      <dgm:prSet phldrT="[Text]"/>
      <dgm:spPr/>
      <dgm:t>
        <a:bodyPr/>
        <a:lstStyle/>
        <a:p>
          <a:r>
            <a:rPr lang="en-US" dirty="0" smtClean="0"/>
            <a:t>Public</a:t>
          </a:r>
          <a:endParaRPr lang="en-US" dirty="0"/>
        </a:p>
      </dgm:t>
    </dgm:pt>
    <dgm:pt modelId="{B636A44A-B2E9-437F-A27E-386422CBE8E6}" type="parTrans" cxnId="{538A1235-8C55-41C6-BE03-0B4218DD82EF}">
      <dgm:prSet/>
      <dgm:spPr/>
      <dgm:t>
        <a:bodyPr/>
        <a:lstStyle/>
        <a:p>
          <a:endParaRPr lang="en-US"/>
        </a:p>
      </dgm:t>
    </dgm:pt>
    <dgm:pt modelId="{B56DF72C-5585-43D1-8A3F-232B9E0E8B91}" type="sibTrans" cxnId="{538A1235-8C55-41C6-BE03-0B4218DD82EF}">
      <dgm:prSet/>
      <dgm:spPr/>
      <dgm:t>
        <a:bodyPr/>
        <a:lstStyle/>
        <a:p>
          <a:endParaRPr lang="en-US"/>
        </a:p>
      </dgm:t>
    </dgm:pt>
    <dgm:pt modelId="{E5BA49E2-CC37-4EB8-8774-141A3777D890}">
      <dgm:prSet phldrT="[Text]"/>
      <dgm:spPr/>
      <dgm:t>
        <a:bodyPr/>
        <a:lstStyle/>
        <a:p>
          <a:r>
            <a:rPr lang="en-US" dirty="0" smtClean="0"/>
            <a:t>Hybrid</a:t>
          </a:r>
          <a:endParaRPr lang="en-US" dirty="0"/>
        </a:p>
      </dgm:t>
    </dgm:pt>
    <dgm:pt modelId="{33117C6E-DA58-4DAD-8FA7-113AFC5E8EEF}" type="parTrans" cxnId="{B114E768-6AB4-4D61-8AF5-176C28347996}">
      <dgm:prSet/>
      <dgm:spPr/>
      <dgm:t>
        <a:bodyPr/>
        <a:lstStyle/>
        <a:p>
          <a:endParaRPr lang="en-US"/>
        </a:p>
      </dgm:t>
    </dgm:pt>
    <dgm:pt modelId="{D9EB8DD8-A7CF-4BB8-A4EE-B4A644EDF601}" type="sibTrans" cxnId="{B114E768-6AB4-4D61-8AF5-176C28347996}">
      <dgm:prSet/>
      <dgm:spPr/>
      <dgm:t>
        <a:bodyPr/>
        <a:lstStyle/>
        <a:p>
          <a:endParaRPr lang="en-US"/>
        </a:p>
      </dgm:t>
    </dgm:pt>
    <dgm:pt modelId="{17D4C893-4CCA-48D8-AD29-54ED7DBCF2E7}" type="pres">
      <dgm:prSet presAssocID="{C286B3B3-17CB-4CC5-A852-5AA5E9F55BD1}" presName="composite" presStyleCnt="0">
        <dgm:presLayoutVars>
          <dgm:chMax val="1"/>
          <dgm:dir/>
          <dgm:resizeHandles val="exact"/>
        </dgm:presLayoutVars>
      </dgm:prSet>
      <dgm:spPr/>
      <dgm:t>
        <a:bodyPr/>
        <a:lstStyle/>
        <a:p>
          <a:endParaRPr lang="en-US"/>
        </a:p>
      </dgm:t>
    </dgm:pt>
    <dgm:pt modelId="{448CCA96-D606-40F7-BC98-D6C5E8AFBA0E}" type="pres">
      <dgm:prSet presAssocID="{2C0AFC9A-D62F-4B40-8D3A-68EE6158CB48}" presName="roof" presStyleLbl="dkBgShp" presStyleIdx="0" presStyleCnt="2"/>
      <dgm:spPr/>
      <dgm:t>
        <a:bodyPr/>
        <a:lstStyle/>
        <a:p>
          <a:endParaRPr lang="en-US"/>
        </a:p>
      </dgm:t>
    </dgm:pt>
    <dgm:pt modelId="{B638B86B-E907-420E-AE6C-394B72EFBBD7}" type="pres">
      <dgm:prSet presAssocID="{2C0AFC9A-D62F-4B40-8D3A-68EE6158CB48}" presName="pillars" presStyleCnt="0"/>
      <dgm:spPr/>
    </dgm:pt>
    <dgm:pt modelId="{06B587B3-6D3A-4CA7-B74B-6BAF91FE02B5}" type="pres">
      <dgm:prSet presAssocID="{2C0AFC9A-D62F-4B40-8D3A-68EE6158CB48}" presName="pillar1" presStyleLbl="node1" presStyleIdx="0" presStyleCnt="3">
        <dgm:presLayoutVars>
          <dgm:bulletEnabled val="1"/>
        </dgm:presLayoutVars>
      </dgm:prSet>
      <dgm:spPr/>
      <dgm:t>
        <a:bodyPr/>
        <a:lstStyle/>
        <a:p>
          <a:endParaRPr lang="en-US"/>
        </a:p>
      </dgm:t>
    </dgm:pt>
    <dgm:pt modelId="{49AC0FC5-A8CD-4030-80B4-F190AB00E245}" type="pres">
      <dgm:prSet presAssocID="{95CDBD3F-8346-4DFB-9F97-774E353D1A6E}" presName="pillarX" presStyleLbl="node1" presStyleIdx="1" presStyleCnt="3">
        <dgm:presLayoutVars>
          <dgm:bulletEnabled val="1"/>
        </dgm:presLayoutVars>
      </dgm:prSet>
      <dgm:spPr/>
      <dgm:t>
        <a:bodyPr/>
        <a:lstStyle/>
        <a:p>
          <a:endParaRPr lang="en-US"/>
        </a:p>
      </dgm:t>
    </dgm:pt>
    <dgm:pt modelId="{266C8573-BDD0-4B12-B76D-A6271FE0D5A2}" type="pres">
      <dgm:prSet presAssocID="{E5BA49E2-CC37-4EB8-8774-141A3777D890}" presName="pillarX" presStyleLbl="node1" presStyleIdx="2" presStyleCnt="3">
        <dgm:presLayoutVars>
          <dgm:bulletEnabled val="1"/>
        </dgm:presLayoutVars>
      </dgm:prSet>
      <dgm:spPr/>
      <dgm:t>
        <a:bodyPr/>
        <a:lstStyle/>
        <a:p>
          <a:endParaRPr lang="en-US"/>
        </a:p>
      </dgm:t>
    </dgm:pt>
    <dgm:pt modelId="{326314C4-3851-4355-A589-127B8FF6AA86}" type="pres">
      <dgm:prSet presAssocID="{2C0AFC9A-D62F-4B40-8D3A-68EE6158CB48}" presName="base" presStyleLbl="dkBgShp" presStyleIdx="1" presStyleCnt="2"/>
      <dgm:spPr/>
    </dgm:pt>
  </dgm:ptLst>
  <dgm:cxnLst>
    <dgm:cxn modelId="{27434CBB-3B26-4797-B556-4431ADF0F8F1}" type="presOf" srcId="{2C0AFC9A-D62F-4B40-8D3A-68EE6158CB48}" destId="{448CCA96-D606-40F7-BC98-D6C5E8AFBA0E}" srcOrd="0" destOrd="0" presId="urn:microsoft.com/office/officeart/2005/8/layout/hList3"/>
    <dgm:cxn modelId="{E3466119-2A52-4FEC-A675-3700FFA59138}" type="presOf" srcId="{A044B0CC-68E6-43A5-903B-12539F576083}" destId="{06B587B3-6D3A-4CA7-B74B-6BAF91FE02B5}" srcOrd="0" destOrd="0" presId="urn:microsoft.com/office/officeart/2005/8/layout/hList3"/>
    <dgm:cxn modelId="{B114E768-6AB4-4D61-8AF5-176C28347996}" srcId="{2C0AFC9A-D62F-4B40-8D3A-68EE6158CB48}" destId="{E5BA49E2-CC37-4EB8-8774-141A3777D890}" srcOrd="2" destOrd="0" parTransId="{33117C6E-DA58-4DAD-8FA7-113AFC5E8EEF}" sibTransId="{D9EB8DD8-A7CF-4BB8-A4EE-B4A644EDF601}"/>
    <dgm:cxn modelId="{C59ADB29-E6B6-4D09-A908-171EAFD2B46C}" srcId="{C286B3B3-17CB-4CC5-A852-5AA5E9F55BD1}" destId="{2C0AFC9A-D62F-4B40-8D3A-68EE6158CB48}" srcOrd="0" destOrd="0" parTransId="{BD7BAF65-7403-43E9-80EF-88C787F0299B}" sibTransId="{C5E416BE-2F34-4240-9375-D055960C8E9C}"/>
    <dgm:cxn modelId="{0B70BAFF-E5C0-4923-80BE-356820A30408}" type="presOf" srcId="{C286B3B3-17CB-4CC5-A852-5AA5E9F55BD1}" destId="{17D4C893-4CCA-48D8-AD29-54ED7DBCF2E7}" srcOrd="0" destOrd="0" presId="urn:microsoft.com/office/officeart/2005/8/layout/hList3"/>
    <dgm:cxn modelId="{012E739C-E2EB-45AE-BB5A-0455A329A0CF}" srcId="{2C0AFC9A-D62F-4B40-8D3A-68EE6158CB48}" destId="{A044B0CC-68E6-43A5-903B-12539F576083}" srcOrd="0" destOrd="0" parTransId="{246BBF47-7BE9-4466-94D4-317D3362EE12}" sibTransId="{D3514739-A1C6-4633-8B5C-AB4DDB0C344B}"/>
    <dgm:cxn modelId="{538A1235-8C55-41C6-BE03-0B4218DD82EF}" srcId="{2C0AFC9A-D62F-4B40-8D3A-68EE6158CB48}" destId="{95CDBD3F-8346-4DFB-9F97-774E353D1A6E}" srcOrd="1" destOrd="0" parTransId="{B636A44A-B2E9-437F-A27E-386422CBE8E6}" sibTransId="{B56DF72C-5585-43D1-8A3F-232B9E0E8B91}"/>
    <dgm:cxn modelId="{85994D86-E695-47EA-8DC4-71BD108C45AB}" type="presOf" srcId="{95CDBD3F-8346-4DFB-9F97-774E353D1A6E}" destId="{49AC0FC5-A8CD-4030-80B4-F190AB00E245}" srcOrd="0" destOrd="0" presId="urn:microsoft.com/office/officeart/2005/8/layout/hList3"/>
    <dgm:cxn modelId="{8BB060E6-66AE-44D4-8613-A7E4BE730585}" type="presOf" srcId="{E5BA49E2-CC37-4EB8-8774-141A3777D890}" destId="{266C8573-BDD0-4B12-B76D-A6271FE0D5A2}" srcOrd="0" destOrd="0" presId="urn:microsoft.com/office/officeart/2005/8/layout/hList3"/>
    <dgm:cxn modelId="{BD867725-32D0-467B-84BC-D5AAAC5639F6}" type="presParOf" srcId="{17D4C893-4CCA-48D8-AD29-54ED7DBCF2E7}" destId="{448CCA96-D606-40F7-BC98-D6C5E8AFBA0E}" srcOrd="0" destOrd="0" presId="urn:microsoft.com/office/officeart/2005/8/layout/hList3"/>
    <dgm:cxn modelId="{1D9537C0-C4DA-48B8-9BDB-3F2D1C04C221}" type="presParOf" srcId="{17D4C893-4CCA-48D8-AD29-54ED7DBCF2E7}" destId="{B638B86B-E907-420E-AE6C-394B72EFBBD7}" srcOrd="1" destOrd="0" presId="urn:microsoft.com/office/officeart/2005/8/layout/hList3"/>
    <dgm:cxn modelId="{8B1F5A66-7E14-49B4-9826-0391E017F1A8}" type="presParOf" srcId="{B638B86B-E907-420E-AE6C-394B72EFBBD7}" destId="{06B587B3-6D3A-4CA7-B74B-6BAF91FE02B5}" srcOrd="0" destOrd="0" presId="urn:microsoft.com/office/officeart/2005/8/layout/hList3"/>
    <dgm:cxn modelId="{1291F356-959B-4EFC-9C01-99E155D0A60C}" type="presParOf" srcId="{B638B86B-E907-420E-AE6C-394B72EFBBD7}" destId="{49AC0FC5-A8CD-4030-80B4-F190AB00E245}" srcOrd="1" destOrd="0" presId="urn:microsoft.com/office/officeart/2005/8/layout/hList3"/>
    <dgm:cxn modelId="{96C0D7D7-E235-4B28-B028-5EA71AB30B35}" type="presParOf" srcId="{B638B86B-E907-420E-AE6C-394B72EFBBD7}" destId="{266C8573-BDD0-4B12-B76D-A6271FE0D5A2}" srcOrd="2" destOrd="0" presId="urn:microsoft.com/office/officeart/2005/8/layout/hList3"/>
    <dgm:cxn modelId="{B6A3ACFC-390D-4851-BBDB-5288B8C7693B}" type="presParOf" srcId="{17D4C893-4CCA-48D8-AD29-54ED7DBCF2E7}" destId="{326314C4-3851-4355-A589-127B8FF6AA86}"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CCA96-D606-40F7-BC98-D6C5E8AFBA0E}">
      <dsp:nvSpPr>
        <dsp:cNvPr id="0" name=""/>
        <dsp:cNvSpPr/>
      </dsp:nvSpPr>
      <dsp:spPr>
        <a:xfrm>
          <a:off x="0" y="0"/>
          <a:ext cx="8747760" cy="1608327"/>
        </a:xfrm>
        <a:prstGeom prst="rect">
          <a:avLst/>
        </a:prstGeom>
        <a:solidFill>
          <a:schemeClr val="accent3">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Types of </a:t>
          </a:r>
          <a:r>
            <a:rPr lang="en-US" sz="6500" kern="1200" dirty="0" err="1" smtClean="0"/>
            <a:t>Blockchain</a:t>
          </a:r>
          <a:endParaRPr lang="en-US" sz="6500" kern="1200" dirty="0"/>
        </a:p>
      </dsp:txBody>
      <dsp:txXfrm>
        <a:off x="0" y="0"/>
        <a:ext cx="8747760" cy="1608327"/>
      </dsp:txXfrm>
    </dsp:sp>
    <dsp:sp modelId="{06B587B3-6D3A-4CA7-B74B-6BAF91FE02B5}">
      <dsp:nvSpPr>
        <dsp:cNvPr id="0" name=""/>
        <dsp:cNvSpPr/>
      </dsp:nvSpPr>
      <dsp:spPr>
        <a:xfrm>
          <a:off x="4271" y="1608327"/>
          <a:ext cx="2913072" cy="3377488"/>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Private</a:t>
          </a:r>
          <a:endParaRPr lang="en-US" sz="6500" kern="1200" dirty="0"/>
        </a:p>
      </dsp:txBody>
      <dsp:txXfrm>
        <a:off x="4271" y="1608327"/>
        <a:ext cx="2913072" cy="3377488"/>
      </dsp:txXfrm>
    </dsp:sp>
    <dsp:sp modelId="{49AC0FC5-A8CD-4030-80B4-F190AB00E245}">
      <dsp:nvSpPr>
        <dsp:cNvPr id="0" name=""/>
        <dsp:cNvSpPr/>
      </dsp:nvSpPr>
      <dsp:spPr>
        <a:xfrm>
          <a:off x="2917343" y="1608327"/>
          <a:ext cx="2913072" cy="3377488"/>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Public</a:t>
          </a:r>
          <a:endParaRPr lang="en-US" sz="6500" kern="1200" dirty="0"/>
        </a:p>
      </dsp:txBody>
      <dsp:txXfrm>
        <a:off x="2917343" y="1608327"/>
        <a:ext cx="2913072" cy="3377488"/>
      </dsp:txXfrm>
    </dsp:sp>
    <dsp:sp modelId="{266C8573-BDD0-4B12-B76D-A6271FE0D5A2}">
      <dsp:nvSpPr>
        <dsp:cNvPr id="0" name=""/>
        <dsp:cNvSpPr/>
      </dsp:nvSpPr>
      <dsp:spPr>
        <a:xfrm>
          <a:off x="5830416" y="1608327"/>
          <a:ext cx="2913072" cy="3377488"/>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Hybrid</a:t>
          </a:r>
          <a:endParaRPr lang="en-US" sz="6500" kern="1200" dirty="0"/>
        </a:p>
      </dsp:txBody>
      <dsp:txXfrm>
        <a:off x="5830416" y="1608327"/>
        <a:ext cx="2913072" cy="3377488"/>
      </dsp:txXfrm>
    </dsp:sp>
    <dsp:sp modelId="{326314C4-3851-4355-A589-127B8FF6AA86}">
      <dsp:nvSpPr>
        <dsp:cNvPr id="0" name=""/>
        <dsp:cNvSpPr/>
      </dsp:nvSpPr>
      <dsp:spPr>
        <a:xfrm>
          <a:off x="0" y="4985816"/>
          <a:ext cx="8747760" cy="375276"/>
        </a:xfrm>
        <a:prstGeom prst="rect">
          <a:avLst/>
        </a:prstGeom>
        <a:solidFill>
          <a:schemeClr val="accent3">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348543-DB83-4D2D-9CB8-AAEAA30FC4ED}"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46AB-42B1-4AA7-866E-5F4CDF6E896B}" type="slidenum">
              <a:rPr lang="en-US" smtClean="0"/>
              <a:t>‹#›</a:t>
            </a:fld>
            <a:endParaRPr lang="en-US"/>
          </a:p>
        </p:txBody>
      </p:sp>
    </p:spTree>
    <p:extLst>
      <p:ext uri="{BB962C8B-B14F-4D97-AF65-F5344CB8AC3E}">
        <p14:creationId xmlns:p14="http://schemas.microsoft.com/office/powerpoint/2010/main" val="188020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Form</a:t>
            </a:r>
            <a:r>
              <a:rPr lang="en-US" baseline="0" dirty="0" smtClean="0"/>
              <a:t> of s</a:t>
            </a:r>
            <a:r>
              <a:rPr lang="en-US" dirty="0" smtClean="0"/>
              <a:t>oftware (software network) means it act like a software but it has also</a:t>
            </a:r>
            <a:r>
              <a:rPr lang="en-US" baseline="0" dirty="0" smtClean="0"/>
              <a:t> a network of hardware system as well</a:t>
            </a:r>
            <a:endParaRPr lang="en-US" dirty="0" smtClean="0"/>
          </a:p>
          <a:p>
            <a:r>
              <a:rPr lang="en-US" dirty="0" smtClean="0"/>
              <a:t>It</a:t>
            </a:r>
            <a:r>
              <a:rPr lang="en-US" baseline="0" dirty="0" smtClean="0"/>
              <a:t> sends copy of each </a:t>
            </a:r>
            <a:r>
              <a:rPr lang="en-US" baseline="0" dirty="0" err="1" smtClean="0"/>
              <a:t>trx</a:t>
            </a:r>
            <a:r>
              <a:rPr lang="en-US" baseline="0" dirty="0" smtClean="0"/>
              <a:t> to each node on the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3</a:t>
            </a:fld>
            <a:endParaRPr lang="en-US"/>
          </a:p>
        </p:txBody>
      </p:sp>
    </p:spTree>
    <p:extLst>
      <p:ext uri="{BB962C8B-B14F-4D97-AF65-F5344CB8AC3E}">
        <p14:creationId xmlns:p14="http://schemas.microsoft.com/office/powerpoint/2010/main" val="2433902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Secure and privacy means it keeps that record in</a:t>
            </a:r>
            <a:r>
              <a:rPr lang="en-US" baseline="0" dirty="0" smtClean="0"/>
              <a:t> form of cryptography to make sure unreadability by humans</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4</a:t>
            </a:fld>
            <a:endParaRPr lang="en-US"/>
          </a:p>
        </p:txBody>
      </p:sp>
    </p:spTree>
    <p:extLst>
      <p:ext uri="{BB962C8B-B14F-4D97-AF65-F5344CB8AC3E}">
        <p14:creationId xmlns:p14="http://schemas.microsoft.com/office/powerpoint/2010/main" val="3877522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AKA storage</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5</a:t>
            </a:fld>
            <a:endParaRPr lang="en-US"/>
          </a:p>
        </p:txBody>
      </p:sp>
    </p:spTree>
    <p:extLst>
      <p:ext uri="{BB962C8B-B14F-4D97-AF65-F5344CB8AC3E}">
        <p14:creationId xmlns:p14="http://schemas.microsoft.com/office/powerpoint/2010/main" val="3910659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AKA storage</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6</a:t>
            </a:fld>
            <a:endParaRPr lang="en-US"/>
          </a:p>
        </p:txBody>
      </p:sp>
    </p:spTree>
    <p:extLst>
      <p:ext uri="{BB962C8B-B14F-4D97-AF65-F5344CB8AC3E}">
        <p14:creationId xmlns:p14="http://schemas.microsoft.com/office/powerpoint/2010/main" val="1475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7</a:t>
            </a:fld>
            <a:endParaRPr lang="en-US"/>
          </a:p>
        </p:txBody>
      </p:sp>
    </p:spTree>
    <p:extLst>
      <p:ext uri="{BB962C8B-B14F-4D97-AF65-F5344CB8AC3E}">
        <p14:creationId xmlns:p14="http://schemas.microsoft.com/office/powerpoint/2010/main" val="536886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51%</a:t>
            </a:r>
            <a:r>
              <a:rPr lang="en-US" baseline="0" dirty="0" smtClean="0"/>
              <a:t> attack is just limited to theory</a:t>
            </a:r>
          </a:p>
          <a:p>
            <a:r>
              <a:rPr lang="en-US" baseline="0" dirty="0" smtClean="0"/>
              <a:t>Double Spending: currently solved by </a:t>
            </a:r>
            <a:r>
              <a:rPr lang="en-US" baseline="0" dirty="0" err="1" smtClean="0"/>
              <a:t>cryptocurrency</a:t>
            </a:r>
            <a:r>
              <a:rPr lang="en-US" baseline="0" dirty="0" smtClean="0"/>
              <a:t> </a:t>
            </a:r>
            <a:r>
              <a:rPr lang="en-US" baseline="0" dirty="0" err="1" smtClean="0"/>
              <a:t>blockchains</a:t>
            </a:r>
            <a:r>
              <a:rPr lang="en-US" baseline="0" dirty="0" smtClean="0"/>
              <a:t> but may be you face in new </a:t>
            </a:r>
            <a:r>
              <a:rPr lang="en-US" baseline="0" dirty="0" err="1" smtClean="0"/>
              <a:t>blockchain</a:t>
            </a:r>
            <a:r>
              <a:rPr lang="en-US" baseline="0" dirty="0" smtClean="0"/>
              <a:t> tech implementation, because </a:t>
            </a:r>
            <a:r>
              <a:rPr lang="en-US" baseline="0" dirty="0" err="1" smtClean="0"/>
              <a:t>trx</a:t>
            </a:r>
            <a:r>
              <a:rPr lang="en-US" baseline="0" dirty="0" smtClean="0"/>
              <a:t> is more big so it take little time to trace it</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8</a:t>
            </a:fld>
            <a:endParaRPr lang="en-US"/>
          </a:p>
        </p:txBody>
      </p:sp>
    </p:spTree>
    <p:extLst>
      <p:ext uri="{BB962C8B-B14F-4D97-AF65-F5344CB8AC3E}">
        <p14:creationId xmlns:p14="http://schemas.microsoft.com/office/powerpoint/2010/main" val="3232665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9</a:t>
            </a:fld>
            <a:endParaRPr lang="en-US"/>
          </a:p>
        </p:txBody>
      </p:sp>
    </p:spTree>
    <p:extLst>
      <p:ext uri="{BB962C8B-B14F-4D97-AF65-F5344CB8AC3E}">
        <p14:creationId xmlns:p14="http://schemas.microsoft.com/office/powerpoint/2010/main" val="3965786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10</a:t>
            </a:fld>
            <a:endParaRPr lang="en-US"/>
          </a:p>
        </p:txBody>
      </p:sp>
    </p:spTree>
    <p:extLst>
      <p:ext uri="{BB962C8B-B14F-4D97-AF65-F5344CB8AC3E}">
        <p14:creationId xmlns:p14="http://schemas.microsoft.com/office/powerpoint/2010/main" val="3144330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CIA Rule (Integrity,</a:t>
            </a:r>
            <a:r>
              <a:rPr lang="en-US" baseline="0" dirty="0" smtClean="0"/>
              <a:t> </a:t>
            </a:r>
            <a:r>
              <a:rPr lang="en-US" baseline="0" dirty="0" err="1" smtClean="0"/>
              <a:t>Confidenciality</a:t>
            </a:r>
            <a:r>
              <a:rPr lang="en-US" baseline="0" dirty="0" smtClean="0"/>
              <a:t>, Accessibility)</a:t>
            </a:r>
          </a:p>
          <a:p>
            <a:r>
              <a:rPr lang="en-US" baseline="0" dirty="0" smtClean="0"/>
              <a:t>Immutability means “not able to erase or replace any recorded data”</a:t>
            </a:r>
          </a:p>
          <a:p>
            <a:r>
              <a:rPr lang="en-US" baseline="0" dirty="0" smtClean="0"/>
              <a:t>Traceability means “allowing easy tracing of changes on the network”</a:t>
            </a:r>
          </a:p>
          <a:p>
            <a:endParaRPr lang="en-US" baseline="0" dirty="0" smtClean="0"/>
          </a:p>
          <a:p>
            <a:r>
              <a:rPr lang="en-US" dirty="0" smtClean="0"/>
              <a:t>https://kindgeek.com/blog/post/what-you-need-to-know-about-blockchain-pros-and-cons</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11</a:t>
            </a:fld>
            <a:endParaRPr lang="en-US"/>
          </a:p>
        </p:txBody>
      </p:sp>
    </p:spTree>
    <p:extLst>
      <p:ext uri="{BB962C8B-B14F-4D97-AF65-F5344CB8AC3E}">
        <p14:creationId xmlns:p14="http://schemas.microsoft.com/office/powerpoint/2010/main" val="1863866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CIA Rule (Integrity,</a:t>
            </a:r>
            <a:r>
              <a:rPr lang="en-US" baseline="0" dirty="0" smtClean="0"/>
              <a:t> </a:t>
            </a:r>
            <a:r>
              <a:rPr lang="en-US" baseline="0" dirty="0" err="1" smtClean="0"/>
              <a:t>Confidenciality</a:t>
            </a:r>
            <a:r>
              <a:rPr lang="en-US" baseline="0" dirty="0" smtClean="0"/>
              <a:t>, Accessibility)</a:t>
            </a:r>
          </a:p>
          <a:p>
            <a:r>
              <a:rPr lang="en-US" baseline="0" dirty="0" smtClean="0"/>
              <a:t>Immutability means “not able to erase or replace any recorded data”</a:t>
            </a:r>
          </a:p>
          <a:p>
            <a:r>
              <a:rPr lang="en-US" baseline="0" dirty="0" smtClean="0"/>
              <a:t>Traceability means “allowing easy tracing of changes on the network”</a:t>
            </a:r>
          </a:p>
          <a:p>
            <a:endParaRPr lang="en-US" baseline="0" dirty="0" smtClean="0"/>
          </a:p>
          <a:p>
            <a:r>
              <a:rPr lang="en-US" dirty="0" smtClean="0"/>
              <a:t>https://kindgeek.com/blog/post/what-you-need-to-know-about-blockchain-pros-and-cons</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12</a:t>
            </a:fld>
            <a:endParaRPr lang="en-US"/>
          </a:p>
        </p:txBody>
      </p:sp>
    </p:spTree>
    <p:extLst>
      <p:ext uri="{BB962C8B-B14F-4D97-AF65-F5344CB8AC3E}">
        <p14:creationId xmlns:p14="http://schemas.microsoft.com/office/powerpoint/2010/main" val="3380904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CIA Rule (Integrity,</a:t>
            </a:r>
            <a:r>
              <a:rPr lang="en-US" baseline="0" dirty="0" smtClean="0"/>
              <a:t> </a:t>
            </a:r>
            <a:r>
              <a:rPr lang="en-US" baseline="0" dirty="0" err="1" smtClean="0"/>
              <a:t>Confidenciality</a:t>
            </a:r>
            <a:r>
              <a:rPr lang="en-US" baseline="0" dirty="0" smtClean="0"/>
              <a:t>, Accessibility)</a:t>
            </a:r>
          </a:p>
          <a:p>
            <a:r>
              <a:rPr lang="en-US" baseline="0" dirty="0" smtClean="0"/>
              <a:t>Immutability means “not able to erase or replace any recorded data”</a:t>
            </a:r>
          </a:p>
          <a:p>
            <a:r>
              <a:rPr lang="en-US" baseline="0" dirty="0" smtClean="0"/>
              <a:t>Traceability means “allowing easy tracing of changes on the network”</a:t>
            </a:r>
          </a:p>
          <a:p>
            <a:endParaRPr lang="en-US" baseline="0" dirty="0" smtClean="0"/>
          </a:p>
          <a:p>
            <a:r>
              <a:rPr lang="en-US" dirty="0" smtClean="0"/>
              <a:t>https://kindgeek.com/blog/post/what-you-need-to-know-about-blockchain-pros-and-cons</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13</a:t>
            </a:fld>
            <a:endParaRPr lang="en-US"/>
          </a:p>
        </p:txBody>
      </p:sp>
    </p:spTree>
    <p:extLst>
      <p:ext uri="{BB962C8B-B14F-4D97-AF65-F5344CB8AC3E}">
        <p14:creationId xmlns:p14="http://schemas.microsoft.com/office/powerpoint/2010/main" val="1545609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compare to traditional</a:t>
            </a:r>
            <a:r>
              <a:rPr lang="en-US" baseline="0" dirty="0" smtClean="0"/>
              <a:t> </a:t>
            </a:r>
            <a:r>
              <a:rPr lang="en-US" baseline="0" dirty="0" err="1" smtClean="0"/>
              <a:t>DBs.</a:t>
            </a:r>
            <a:endParaRPr lang="en-US" baseline="0" dirty="0" smtClean="0"/>
          </a:p>
          <a:p>
            <a:r>
              <a:rPr lang="en-US" dirty="0" smtClean="0"/>
              <a:t>https://kindgeek.com/blog/post/what-you-need-to-know-about-blockchain-pros-and-cons</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14</a:t>
            </a:fld>
            <a:endParaRPr lang="en-US"/>
          </a:p>
        </p:txBody>
      </p:sp>
    </p:spTree>
    <p:extLst>
      <p:ext uri="{BB962C8B-B14F-4D97-AF65-F5344CB8AC3E}">
        <p14:creationId xmlns:p14="http://schemas.microsoft.com/office/powerpoint/2010/main" val="3137886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endParaRPr lang="en-US" dirty="0" smtClean="0"/>
          </a:p>
        </p:txBody>
      </p:sp>
      <p:sp>
        <p:nvSpPr>
          <p:cNvPr id="4" name="Slide Number Placeholder 3"/>
          <p:cNvSpPr>
            <a:spLocks noGrp="1"/>
          </p:cNvSpPr>
          <p:nvPr>
            <p:ph type="sldNum" sz="quarter" idx="10"/>
          </p:nvPr>
        </p:nvSpPr>
        <p:spPr/>
        <p:txBody>
          <a:bodyPr/>
          <a:lstStyle/>
          <a:p>
            <a:fld id="{6DF846AB-42B1-4AA7-866E-5F4CDF6E896B}" type="slidenum">
              <a:rPr lang="en-US" smtClean="0"/>
              <a:t>15</a:t>
            </a:fld>
            <a:endParaRPr lang="en-US"/>
          </a:p>
        </p:txBody>
      </p:sp>
    </p:spTree>
    <p:extLst>
      <p:ext uri="{BB962C8B-B14F-4D97-AF65-F5344CB8AC3E}">
        <p14:creationId xmlns:p14="http://schemas.microsoft.com/office/powerpoint/2010/main" val="4017500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times</a:t>
            </a:r>
            <a:r>
              <a:rPr lang="en-US" baseline="0" dirty="0" smtClean="0"/>
              <a:t> Consortium: Semi Decentralized e.g. </a:t>
            </a:r>
            <a:r>
              <a:rPr lang="en-US" baseline="0" dirty="0" err="1" smtClean="0"/>
              <a:t>hyperledger</a:t>
            </a:r>
            <a:r>
              <a:rPr lang="en-US" baseline="0" dirty="0" smtClean="0"/>
              <a:t> fabric</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16</a:t>
            </a:fld>
            <a:endParaRPr lang="en-US"/>
          </a:p>
        </p:txBody>
      </p:sp>
    </p:spTree>
    <p:extLst>
      <p:ext uri="{BB962C8B-B14F-4D97-AF65-F5344CB8AC3E}">
        <p14:creationId xmlns:p14="http://schemas.microsoft.com/office/powerpoint/2010/main" val="3578296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endParaRPr lang="en-US" dirty="0" smtClean="0"/>
          </a:p>
        </p:txBody>
      </p:sp>
      <p:sp>
        <p:nvSpPr>
          <p:cNvPr id="4" name="Slide Number Placeholder 3"/>
          <p:cNvSpPr>
            <a:spLocks noGrp="1"/>
          </p:cNvSpPr>
          <p:nvPr>
            <p:ph type="sldNum" sz="quarter" idx="10"/>
          </p:nvPr>
        </p:nvSpPr>
        <p:spPr/>
        <p:txBody>
          <a:bodyPr/>
          <a:lstStyle/>
          <a:p>
            <a:fld id="{6DF846AB-42B1-4AA7-866E-5F4CDF6E896B}" type="slidenum">
              <a:rPr lang="en-US" smtClean="0"/>
              <a:t>17</a:t>
            </a:fld>
            <a:endParaRPr lang="en-US"/>
          </a:p>
        </p:txBody>
      </p:sp>
    </p:spTree>
    <p:extLst>
      <p:ext uri="{BB962C8B-B14F-4D97-AF65-F5344CB8AC3E}">
        <p14:creationId xmlns:p14="http://schemas.microsoft.com/office/powerpoint/2010/main" val="1885565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Miner in BC: used to describe the process of adding transections records to the </a:t>
            </a:r>
            <a:r>
              <a:rPr lang="en-US" baseline="0" dirty="0" err="1" smtClean="0"/>
              <a:t>blockchain</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6DF846AB-42B1-4AA7-866E-5F4CDF6E896B}" type="slidenum">
              <a:rPr lang="en-US" smtClean="0"/>
              <a:t>18</a:t>
            </a:fld>
            <a:endParaRPr lang="en-US"/>
          </a:p>
        </p:txBody>
      </p:sp>
    </p:spTree>
    <p:extLst>
      <p:ext uri="{BB962C8B-B14F-4D97-AF65-F5344CB8AC3E}">
        <p14:creationId xmlns:p14="http://schemas.microsoft.com/office/powerpoint/2010/main" val="1279515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Miner in BC: used to describe the process of adding transections records to the </a:t>
            </a:r>
            <a:r>
              <a:rPr lang="en-US" baseline="0" dirty="0" err="1" smtClean="0"/>
              <a:t>blockchain</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6DF846AB-42B1-4AA7-866E-5F4CDF6E896B}" type="slidenum">
              <a:rPr lang="en-US" smtClean="0"/>
              <a:t>19</a:t>
            </a:fld>
            <a:endParaRPr lang="en-US"/>
          </a:p>
        </p:txBody>
      </p:sp>
    </p:spTree>
    <p:extLst>
      <p:ext uri="{BB962C8B-B14F-4D97-AF65-F5344CB8AC3E}">
        <p14:creationId xmlns:p14="http://schemas.microsoft.com/office/powerpoint/2010/main" val="840500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p>
          <a:p>
            <a:r>
              <a:rPr lang="en-US" baseline="0" dirty="0" smtClean="0"/>
              <a:t>USE Cases: Supply Chain, Real Estate </a:t>
            </a:r>
            <a:r>
              <a:rPr lang="en-US" baseline="0" dirty="0" err="1" smtClean="0"/>
              <a:t>etc</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20</a:t>
            </a:fld>
            <a:endParaRPr lang="en-US"/>
          </a:p>
        </p:txBody>
      </p:sp>
    </p:spTree>
    <p:extLst>
      <p:ext uri="{BB962C8B-B14F-4D97-AF65-F5344CB8AC3E}">
        <p14:creationId xmlns:p14="http://schemas.microsoft.com/office/powerpoint/2010/main" val="3043097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Special software</a:t>
            </a:r>
            <a:r>
              <a:rPr lang="en-US" baseline="0" dirty="0" smtClean="0"/>
              <a:t> needs to install in your hardware to join </a:t>
            </a:r>
            <a:r>
              <a:rPr lang="en-US" baseline="0" dirty="0" err="1" smtClean="0"/>
              <a:t>blockchain</a:t>
            </a:r>
            <a:r>
              <a:rPr lang="en-US" baseline="0" dirty="0" smtClean="0"/>
              <a:t> network</a:t>
            </a:r>
          </a:p>
          <a:p>
            <a:r>
              <a:rPr lang="en-US" baseline="0" dirty="0" smtClean="0"/>
              <a:t>USE Cases: Docs Validation, </a:t>
            </a:r>
            <a:r>
              <a:rPr lang="en-US" baseline="0" dirty="0" err="1" smtClean="0"/>
              <a:t>Cryptocurrency</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21</a:t>
            </a:fld>
            <a:endParaRPr lang="en-US"/>
          </a:p>
        </p:txBody>
      </p:sp>
    </p:spTree>
    <p:extLst>
      <p:ext uri="{BB962C8B-B14F-4D97-AF65-F5344CB8AC3E}">
        <p14:creationId xmlns:p14="http://schemas.microsoft.com/office/powerpoint/2010/main" val="764696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Special software</a:t>
            </a:r>
            <a:r>
              <a:rPr lang="en-US" baseline="0" smtClean="0"/>
              <a:t> needs to install in your hardware to join blockchain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22</a:t>
            </a:fld>
            <a:endParaRPr lang="en-US"/>
          </a:p>
        </p:txBody>
      </p:sp>
    </p:spTree>
    <p:extLst>
      <p:ext uri="{BB962C8B-B14F-4D97-AF65-F5344CB8AC3E}">
        <p14:creationId xmlns:p14="http://schemas.microsoft.com/office/powerpoint/2010/main" val="163509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23</a:t>
            </a:fld>
            <a:endParaRPr lang="en-US"/>
          </a:p>
        </p:txBody>
      </p:sp>
    </p:spTree>
    <p:extLst>
      <p:ext uri="{BB962C8B-B14F-4D97-AF65-F5344CB8AC3E}">
        <p14:creationId xmlns:p14="http://schemas.microsoft.com/office/powerpoint/2010/main" val="3837566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24</a:t>
            </a:fld>
            <a:endParaRPr lang="en-US"/>
          </a:p>
        </p:txBody>
      </p:sp>
    </p:spTree>
    <p:extLst>
      <p:ext uri="{BB962C8B-B14F-4D97-AF65-F5344CB8AC3E}">
        <p14:creationId xmlns:p14="http://schemas.microsoft.com/office/powerpoint/2010/main" val="171437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Special software</a:t>
            </a:r>
            <a:r>
              <a:rPr lang="en-US" baseline="0" smtClean="0"/>
              <a:t> needs to install in your hardware to join blockchain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25</a:t>
            </a:fld>
            <a:endParaRPr lang="en-US"/>
          </a:p>
        </p:txBody>
      </p:sp>
    </p:spTree>
    <p:extLst>
      <p:ext uri="{BB962C8B-B14F-4D97-AF65-F5344CB8AC3E}">
        <p14:creationId xmlns:p14="http://schemas.microsoft.com/office/powerpoint/2010/main" val="4179718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Special software</a:t>
            </a:r>
            <a:r>
              <a:rPr lang="en-US" baseline="0" smtClean="0"/>
              <a:t> needs to install in your hardware to join blockchain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26</a:t>
            </a:fld>
            <a:endParaRPr lang="en-US"/>
          </a:p>
        </p:txBody>
      </p:sp>
    </p:spTree>
    <p:extLst>
      <p:ext uri="{BB962C8B-B14F-4D97-AF65-F5344CB8AC3E}">
        <p14:creationId xmlns:p14="http://schemas.microsoft.com/office/powerpoint/2010/main" val="2569369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Special software</a:t>
            </a:r>
            <a:r>
              <a:rPr lang="en-US" baseline="0" smtClean="0"/>
              <a:t> needs to install in your hardware to join blockchain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27</a:t>
            </a:fld>
            <a:endParaRPr lang="en-US"/>
          </a:p>
        </p:txBody>
      </p:sp>
    </p:spTree>
    <p:extLst>
      <p:ext uri="{BB962C8B-B14F-4D97-AF65-F5344CB8AC3E}">
        <p14:creationId xmlns:p14="http://schemas.microsoft.com/office/powerpoint/2010/main" val="2243651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Special software</a:t>
            </a:r>
            <a:r>
              <a:rPr lang="en-US" baseline="0" smtClean="0"/>
              <a:t> needs to install in your hardware to join blockchain network</a:t>
            </a:r>
            <a:endParaRPr lang="en-US" dirty="0"/>
          </a:p>
        </p:txBody>
      </p:sp>
      <p:sp>
        <p:nvSpPr>
          <p:cNvPr id="4" name="Slide Number Placeholder 3"/>
          <p:cNvSpPr>
            <a:spLocks noGrp="1"/>
          </p:cNvSpPr>
          <p:nvPr>
            <p:ph type="sldNum" sz="quarter" idx="10"/>
          </p:nvPr>
        </p:nvSpPr>
        <p:spPr/>
        <p:txBody>
          <a:bodyPr/>
          <a:lstStyle/>
          <a:p>
            <a:fld id="{6DF846AB-42B1-4AA7-866E-5F4CDF6E896B}" type="slidenum">
              <a:rPr lang="en-US" smtClean="0"/>
              <a:t>28</a:t>
            </a:fld>
            <a:endParaRPr lang="en-US"/>
          </a:p>
        </p:txBody>
      </p:sp>
    </p:spTree>
    <p:extLst>
      <p:ext uri="{BB962C8B-B14F-4D97-AF65-F5344CB8AC3E}">
        <p14:creationId xmlns:p14="http://schemas.microsoft.com/office/powerpoint/2010/main" val="265032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F846AB-42B1-4AA7-866E-5F4CDF6E896B}" type="slidenum">
              <a:rPr lang="en-US" smtClean="0"/>
              <a:t>29</a:t>
            </a:fld>
            <a:endParaRPr lang="en-US"/>
          </a:p>
        </p:txBody>
      </p:sp>
    </p:spTree>
    <p:extLst>
      <p:ext uri="{BB962C8B-B14F-4D97-AF65-F5344CB8AC3E}">
        <p14:creationId xmlns:p14="http://schemas.microsoft.com/office/powerpoint/2010/main" val="356922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12/16/2024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12/16/2024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12/16/2024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7172" y="2021082"/>
            <a:ext cx="10058400" cy="2383493"/>
          </a:xfrm>
        </p:spPr>
        <p:txBody>
          <a:bodyPr/>
          <a:lstStyle/>
          <a:p>
            <a:r>
              <a:rPr lang="en-US" dirty="0" err="1" smtClean="0"/>
              <a:t>Blockchain</a:t>
            </a:r>
            <a:endParaRPr lang="en-US" dirty="0"/>
          </a:p>
        </p:txBody>
      </p:sp>
      <p:sp>
        <p:nvSpPr>
          <p:cNvPr id="3" name="Subtitle 2"/>
          <p:cNvSpPr>
            <a:spLocks noGrp="1"/>
          </p:cNvSpPr>
          <p:nvPr>
            <p:ph type="subTitle" idx="1"/>
          </p:nvPr>
        </p:nvSpPr>
        <p:spPr>
          <a:xfrm>
            <a:off x="1203082" y="4597288"/>
            <a:ext cx="10058400" cy="1143000"/>
          </a:xfrm>
        </p:spPr>
        <p:txBody>
          <a:bodyPr>
            <a:noAutofit/>
          </a:bodyPr>
          <a:lstStyle/>
          <a:p>
            <a:r>
              <a:rPr lang="en-US" sz="2800" cap="none" dirty="0" err="1" smtClean="0"/>
              <a:t>Aun</a:t>
            </a:r>
            <a:r>
              <a:rPr lang="en-US" sz="2800" cap="none" dirty="0" smtClean="0"/>
              <a:t>, Bilal</a:t>
            </a:r>
            <a:r>
              <a:rPr lang="en-US" sz="2800" cap="none" dirty="0" smtClean="0"/>
              <a:t>, </a:t>
            </a:r>
            <a:r>
              <a:rPr lang="en-US" sz="2800" cap="none" dirty="0" err="1" smtClean="0"/>
              <a:t>Faik</a:t>
            </a:r>
            <a:r>
              <a:rPr lang="en-US" sz="2800" cap="none" dirty="0" smtClean="0"/>
              <a:t> and </a:t>
            </a:r>
            <a:r>
              <a:rPr lang="en-US" sz="2800" cap="none" dirty="0" err="1" smtClean="0"/>
              <a:t>Sumama</a:t>
            </a:r>
            <a:endParaRPr lang="en-US" sz="2800" cap="none" dirty="0" smtClean="0"/>
          </a:p>
          <a:p>
            <a:r>
              <a:rPr lang="en-US" sz="2800" cap="none" dirty="0" smtClean="0"/>
              <a:t>BS CS – Fall 2024</a:t>
            </a:r>
          </a:p>
          <a:p>
            <a:r>
              <a:rPr lang="en-US" sz="2800" cap="none" dirty="0" smtClean="0"/>
              <a:t>Application of ICT</a:t>
            </a:r>
            <a:endParaRPr lang="en-US" sz="2800" cap="none" dirty="0"/>
          </a:p>
        </p:txBody>
      </p:sp>
    </p:spTree>
    <p:extLst>
      <p:ext uri="{BB962C8B-B14F-4D97-AF65-F5344CB8AC3E}">
        <p14:creationId xmlns:p14="http://schemas.microsoft.com/office/powerpoint/2010/main" val="8583891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Introduction to </a:t>
            </a:r>
            <a:r>
              <a:rPr lang="en-US" sz="2800" dirty="0" err="1" smtClean="0">
                <a:latin typeface="Times New Roman" panose="02020603050405020304" pitchFamily="18" charset="0"/>
                <a:cs typeface="Times New Roman" panose="02020603050405020304" pitchFamily="18" charset="0"/>
              </a:rPr>
              <a:t>Blockchain</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Impact on society</a:t>
            </a: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Advantages</a:t>
            </a: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Disadvantages</a:t>
            </a: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Types of </a:t>
            </a:r>
            <a:r>
              <a:rPr lang="en-US" sz="2800" dirty="0" err="1" smtClean="0">
                <a:latin typeface="Times New Roman" panose="02020603050405020304" pitchFamily="18" charset="0"/>
                <a:cs typeface="Times New Roman" panose="02020603050405020304" pitchFamily="18" charset="0"/>
              </a:rPr>
              <a:t>Blockchain</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QnAs</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0055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a:t>
            </a:r>
            <a:r>
              <a:rPr lang="en-US" dirty="0" err="1" smtClean="0"/>
              <a:t>Blockchain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Software, Open, distributed and permanent ledger</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Verifiable and permanent transactions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Built trust by copying each transactions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Decentralized</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AKA DLT (Distributed Ledger Technology)</a:t>
            </a:r>
          </a:p>
        </p:txBody>
      </p:sp>
    </p:spTree>
    <p:extLst>
      <p:ext uri="{BB962C8B-B14F-4D97-AF65-F5344CB8AC3E}">
        <p14:creationId xmlns:p14="http://schemas.microsoft.com/office/powerpoint/2010/main" val="21945867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a:t>
            </a:r>
            <a:r>
              <a:rPr lang="en-US" dirty="0" err="1" smtClean="0"/>
              <a:t>Blockchain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a:t>
            </a:r>
            <a:r>
              <a:rPr lang="en-US" sz="2800" dirty="0">
                <a:latin typeface="Times New Roman" panose="02020603050405020304" pitchFamily="18" charset="0"/>
                <a:cs typeface="Times New Roman" panose="02020603050405020304" pitchFamily="18" charset="0"/>
              </a:rPr>
              <a:t>Secure and Privacy</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Track real time transactions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 and W only no reverse or D or U option like other DBs (use </a:t>
            </a:r>
            <a:r>
              <a:rPr lang="en-US" sz="2800" dirty="0" smtClean="0">
                <a:latin typeface="Times New Roman" panose="02020603050405020304" pitchFamily="18" charset="0"/>
                <a:cs typeface="Times New Roman" panose="02020603050405020304" pitchFamily="18" charset="0"/>
              </a:rPr>
              <a:t>	CRUD operation</a:t>
            </a:r>
            <a:r>
              <a:rPr lang="en-US" sz="2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No third parties involved</a:t>
            </a:r>
          </a:p>
        </p:txBody>
      </p:sp>
    </p:spTree>
    <p:extLst>
      <p:ext uri="{BB962C8B-B14F-4D97-AF65-F5344CB8AC3E}">
        <p14:creationId xmlns:p14="http://schemas.microsoft.com/office/powerpoint/2010/main" val="35596278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Ledger</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latin typeface="Times New Roman" panose="02020603050405020304" pitchFamily="18" charset="0"/>
                <a:cs typeface="Times New Roman" panose="02020603050405020304" pitchFamily="18" charset="0"/>
              </a:rPr>
              <a:t> A sheet of records AKA storage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Stores all in or out transections</a:t>
            </a:r>
          </a:p>
        </p:txBody>
      </p:sp>
    </p:spTree>
    <p:extLst>
      <p:ext uri="{BB962C8B-B14F-4D97-AF65-F5344CB8AC3E}">
        <p14:creationId xmlns:p14="http://schemas.microsoft.com/office/powerpoint/2010/main" val="1409983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290" y="-118132"/>
            <a:ext cx="10058400" cy="2846341"/>
          </a:xfrm>
        </p:spPr>
        <p:txBody>
          <a:bodyPr>
            <a:normAutofit/>
          </a:bodyPr>
          <a:lstStyle/>
          <a:p>
            <a:r>
              <a:rPr lang="en-US" sz="6000" dirty="0" smtClean="0"/>
              <a:t>Story</a:t>
            </a:r>
            <a:endParaRPr lang="en-US" sz="6000" dirty="0"/>
          </a:p>
        </p:txBody>
      </p:sp>
    </p:spTree>
    <p:extLst>
      <p:ext uri="{BB962C8B-B14F-4D97-AF65-F5344CB8AC3E}">
        <p14:creationId xmlns:p14="http://schemas.microsoft.com/office/powerpoint/2010/main" val="434308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Impact on Society (show job market and opportunities)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a:t>
            </a:r>
            <a:r>
              <a:rPr lang="en-US" sz="2800" dirty="0">
                <a:latin typeface="Times New Roman" panose="02020603050405020304" pitchFamily="18" charset="0"/>
                <a:cs typeface="Times New Roman" panose="02020603050405020304" pitchFamily="18" charset="0"/>
              </a:rPr>
              <a:t>Many will lost their jobs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New opportunities – as a consultant, smart contract </a:t>
            </a:r>
            <a:r>
              <a:rPr lang="en-US" sz="2800" dirty="0" err="1">
                <a:latin typeface="Times New Roman" panose="02020603050405020304" pitchFamily="18" charset="0"/>
                <a:cs typeface="Times New Roman" panose="02020603050405020304" pitchFamily="18" charset="0"/>
              </a:rPr>
              <a:t>dev</a:t>
            </a:r>
            <a:r>
              <a:rPr lang="en-US" sz="2800" dirty="0">
                <a:latin typeface="Times New Roman" panose="02020603050405020304" pitchFamily="18" charset="0"/>
                <a:cs typeface="Times New Roman" panose="02020603050405020304" pitchFamily="18" charset="0"/>
              </a:rPr>
              <a:t>, analyst, 	lawyer, policymaker, programmer, security engineer </a:t>
            </a:r>
            <a:r>
              <a:rPr lang="en-US" sz="2800"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9192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Blockchain</a:t>
            </a:r>
            <a:r>
              <a:rPr lang="en-US" dirty="0" smtClean="0"/>
              <a:t> Technology </a:t>
            </a:r>
            <a:r>
              <a:rPr lang="en-US" dirty="0" err="1" smtClean="0"/>
              <a:t>Challanges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a:t>
            </a:r>
            <a:r>
              <a:rPr lang="en-US" sz="2800" dirty="0">
                <a:latin typeface="Times New Roman" panose="02020603050405020304" pitchFamily="18" charset="0"/>
                <a:cs typeface="Times New Roman" panose="02020603050405020304" pitchFamily="18" charset="0"/>
              </a:rPr>
              <a:t>Scalability (</a:t>
            </a:r>
            <a:r>
              <a:rPr lang="en-US" sz="2800" dirty="0" err="1">
                <a:latin typeface="Times New Roman" panose="02020603050405020304" pitchFamily="18" charset="0"/>
                <a:cs typeface="Times New Roman" panose="02020603050405020304" pitchFamily="18" charset="0"/>
              </a:rPr>
              <a:t>kitna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barha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sakte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hai</a:t>
            </a:r>
            <a:r>
              <a:rPr lang="en-US" sz="2800" dirty="0">
                <a:latin typeface="Times New Roman" panose="02020603050405020304" pitchFamily="18" charset="0"/>
                <a:cs typeface="Times New Roman" panose="02020603050405020304" pitchFamily="18" charset="0"/>
              </a:rPr>
              <a:t> or </a:t>
            </a:r>
            <a:r>
              <a:rPr lang="en-US" sz="2800" dirty="0" err="1">
                <a:latin typeface="Times New Roman" panose="02020603050405020304" pitchFamily="18" charset="0"/>
                <a:cs typeface="Times New Roman" panose="02020603050405020304" pitchFamily="18" charset="0"/>
              </a:rPr>
              <a:t>kitna</a:t>
            </a:r>
            <a:r>
              <a:rPr lang="en-US" sz="2800" dirty="0">
                <a:latin typeface="Times New Roman" panose="02020603050405020304" pitchFamily="18" charset="0"/>
                <a:cs typeface="Times New Roman" panose="02020603050405020304" pitchFamily="18" charset="0"/>
              </a:rPr>
              <a:t> stable </a:t>
            </a:r>
            <a:r>
              <a:rPr lang="en-US" sz="2800" dirty="0" err="1">
                <a:latin typeface="Times New Roman" panose="02020603050405020304" pitchFamily="18" charset="0"/>
                <a:cs typeface="Times New Roman" panose="02020603050405020304" pitchFamily="18" charset="0"/>
              </a:rPr>
              <a:t>kr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sakty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jese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jese</a:t>
            </a:r>
            <a:r>
              <a:rPr lang="en-US" sz="2800" dirty="0">
                <a:latin typeface="Times New Roman" panose="02020603050405020304" pitchFamily="18" charset="0"/>
                <a:cs typeface="Times New Roman" panose="02020603050405020304" pitchFamily="18" charset="0"/>
              </a:rPr>
              <a:t> nodes </a:t>
            </a:r>
            <a:r>
              <a:rPr lang="en-US" sz="2800" dirty="0" err="1">
                <a:latin typeface="Times New Roman" panose="02020603050405020304" pitchFamily="18" charset="0"/>
                <a:cs typeface="Times New Roman" panose="02020603050405020304" pitchFamily="18" charset="0"/>
              </a:rPr>
              <a:t>barhengy</a:t>
            </a:r>
            <a:r>
              <a:rPr lang="en-US" sz="2800" dirty="0">
                <a:latin typeface="Times New Roman" panose="02020603050405020304" pitchFamily="18" charset="0"/>
                <a:cs typeface="Times New Roman" panose="02020603050405020304" pitchFamily="18" charset="0"/>
              </a:rPr>
              <a:t> to transections </a:t>
            </a:r>
            <a:r>
              <a:rPr lang="en-US" sz="2800" dirty="0" err="1">
                <a:latin typeface="Times New Roman" panose="02020603050405020304" pitchFamily="18" charset="0"/>
                <a:cs typeface="Times New Roman" panose="02020603050405020304" pitchFamily="18" charset="0"/>
              </a:rPr>
              <a:t>barhengy</a:t>
            </a:r>
            <a:r>
              <a:rPr lang="en-US" sz="2800" dirty="0">
                <a:latin typeface="Times New Roman" panose="02020603050405020304" pitchFamily="18" charset="0"/>
                <a:cs typeface="Times New Roman" panose="02020603050405020304" pitchFamily="18" charset="0"/>
              </a:rPr>
              <a:t> or load </a:t>
            </a:r>
            <a:r>
              <a:rPr lang="en-US" sz="2800" dirty="0" err="1">
                <a:latin typeface="Times New Roman" panose="02020603050405020304" pitchFamily="18" charset="0"/>
                <a:cs typeface="Times New Roman" panose="02020603050405020304" pitchFamily="18" charset="0"/>
              </a:rPr>
              <a:t>ayega</a:t>
            </a:r>
            <a:r>
              <a:rPr lang="en-US" sz="2800" dirty="0">
                <a:latin typeface="Times New Roman" panose="02020603050405020304" pitchFamily="18" charset="0"/>
                <a:cs typeface="Times New Roman" panose="02020603050405020304" pitchFamily="18" charset="0"/>
              </a:rPr>
              <a:t> or ledger size </a:t>
            </a:r>
            <a:r>
              <a:rPr lang="en-US" sz="2800" dirty="0" err="1">
                <a:latin typeface="Times New Roman" panose="02020603050405020304" pitchFamily="18" charset="0"/>
                <a:cs typeface="Times New Roman" panose="02020603050405020304" pitchFamily="18" charset="0"/>
              </a:rPr>
              <a:t>barhega</a:t>
            </a:r>
            <a:r>
              <a:rPr lang="en-US" sz="2800" dirty="0">
                <a:latin typeface="Times New Roman" panose="02020603050405020304" pitchFamily="18" charset="0"/>
                <a:cs typeface="Times New Roman" panose="02020603050405020304" pitchFamily="18" charset="0"/>
              </a:rPr>
              <a:t> to entry </a:t>
            </a:r>
            <a:r>
              <a:rPr lang="en-US" sz="2800" dirty="0" err="1">
                <a:latin typeface="Times New Roman" panose="02020603050405020304" pitchFamily="18" charset="0"/>
                <a:cs typeface="Times New Roman" panose="02020603050405020304" pitchFamily="18" charset="0"/>
              </a:rPr>
              <a:t>dondhna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mushkil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hoga</a:t>
            </a:r>
            <a:r>
              <a:rPr lang="en-US" sz="2800" dirty="0">
                <a:latin typeface="Times New Roman" panose="02020603050405020304" pitchFamily="18" charset="0"/>
                <a:cs typeface="Times New Roman" panose="02020603050405020304" pitchFamily="18" charset="0"/>
              </a:rPr>
              <a:t> to miner k computer/node </a:t>
            </a:r>
            <a:r>
              <a:rPr lang="en-US" sz="2800" dirty="0" err="1">
                <a:latin typeface="Times New Roman" panose="02020603050405020304" pitchFamily="18" charset="0"/>
                <a:cs typeface="Times New Roman" panose="02020603050405020304" pitchFamily="18" charset="0"/>
              </a:rPr>
              <a:t>mai</a:t>
            </a:r>
            <a:r>
              <a:rPr lang="en-US" sz="2800" dirty="0">
                <a:latin typeface="Times New Roman" panose="02020603050405020304" pitchFamily="18" charset="0"/>
                <a:cs typeface="Times New Roman" panose="02020603050405020304" pitchFamily="18" charset="0"/>
              </a:rPr>
              <a:t> computational issues </a:t>
            </a:r>
            <a:r>
              <a:rPr lang="en-US" sz="2800" dirty="0" err="1">
                <a:latin typeface="Times New Roman" panose="02020603050405020304" pitchFamily="18" charset="0"/>
                <a:cs typeface="Times New Roman" panose="02020603050405020304" pitchFamily="18" charset="0"/>
              </a:rPr>
              <a:t>peda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hoga</a:t>
            </a:r>
            <a:r>
              <a:rPr lang="en-US" sz="2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Processing power and time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51% attack</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Double spending</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Bad smart contract (</a:t>
            </a:r>
          </a:p>
        </p:txBody>
      </p:sp>
    </p:spTree>
    <p:extLst>
      <p:ext uri="{BB962C8B-B14F-4D97-AF65-F5344CB8AC3E}">
        <p14:creationId xmlns:p14="http://schemas.microsoft.com/office/powerpoint/2010/main" val="29161279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Blockchain</a:t>
            </a:r>
            <a:r>
              <a:rPr lang="en-US" dirty="0" smtClean="0"/>
              <a:t> Technology </a:t>
            </a:r>
            <a:r>
              <a:rPr lang="en-US" dirty="0" err="1" smtClean="0"/>
              <a:t>Challanges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a:t>
            </a:r>
            <a:r>
              <a:rPr lang="en-US" sz="2800" dirty="0">
                <a:latin typeface="Times New Roman" panose="02020603050405020304" pitchFamily="18" charset="0"/>
                <a:cs typeface="Times New Roman" panose="02020603050405020304" pitchFamily="18" charset="0"/>
              </a:rPr>
              <a:t>Storage (every node/touch point need to upgrade his/her storage 	size)</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First Mile and Last Mile Problem</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Regulations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Public Perception</a:t>
            </a:r>
          </a:p>
        </p:txBody>
      </p:sp>
    </p:spTree>
    <p:extLst>
      <p:ext uri="{BB962C8B-B14F-4D97-AF65-F5344CB8AC3E}">
        <p14:creationId xmlns:p14="http://schemas.microsoft.com/office/powerpoint/2010/main" val="28297140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4712" y="179882"/>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Do Traditional DB fulfill your need?</a:t>
            </a:r>
            <a:endParaRPr lang="en-US" dirty="0"/>
          </a:p>
        </p:txBody>
      </p:sp>
      <p:sp>
        <p:nvSpPr>
          <p:cNvPr id="5" name="Flowchart: Process 4"/>
          <p:cNvSpPr/>
          <p:nvPr/>
        </p:nvSpPr>
        <p:spPr>
          <a:xfrm>
            <a:off x="434712" y="1741358"/>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Multiple parties update data?</a:t>
            </a:r>
            <a:endParaRPr lang="en-US" dirty="0"/>
          </a:p>
        </p:txBody>
      </p:sp>
      <p:sp>
        <p:nvSpPr>
          <p:cNvPr id="6" name="Flowchart: Process 5"/>
          <p:cNvSpPr/>
          <p:nvPr/>
        </p:nvSpPr>
        <p:spPr>
          <a:xfrm>
            <a:off x="434712" y="3302834"/>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All Parties trust each other?</a:t>
            </a:r>
            <a:endParaRPr lang="en-US" dirty="0"/>
          </a:p>
        </p:txBody>
      </p:sp>
      <p:sp>
        <p:nvSpPr>
          <p:cNvPr id="7" name="Flowchart: Process 6"/>
          <p:cNvSpPr/>
          <p:nvPr/>
        </p:nvSpPr>
        <p:spPr>
          <a:xfrm>
            <a:off x="434712" y="4864310"/>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They trust 3</a:t>
            </a:r>
            <a:r>
              <a:rPr lang="en-US" baseline="30000" dirty="0" smtClean="0"/>
              <a:t>rd</a:t>
            </a:r>
            <a:r>
              <a:rPr lang="en-US" dirty="0" smtClean="0"/>
              <a:t> party?</a:t>
            </a:r>
            <a:endParaRPr lang="en-US" dirty="0"/>
          </a:p>
        </p:txBody>
      </p:sp>
      <p:sp>
        <p:nvSpPr>
          <p:cNvPr id="8" name="Flowchart: Process 7"/>
          <p:cNvSpPr/>
          <p:nvPr/>
        </p:nvSpPr>
        <p:spPr>
          <a:xfrm>
            <a:off x="8456950" y="764499"/>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 Need </a:t>
            </a:r>
            <a:r>
              <a:rPr lang="en-US" dirty="0" err="1" smtClean="0"/>
              <a:t>Blockchain</a:t>
            </a:r>
            <a:endParaRPr lang="en-US" dirty="0"/>
          </a:p>
        </p:txBody>
      </p:sp>
      <p:sp>
        <p:nvSpPr>
          <p:cNvPr id="9" name="Flowchart: Process 8"/>
          <p:cNvSpPr/>
          <p:nvPr/>
        </p:nvSpPr>
        <p:spPr>
          <a:xfrm>
            <a:off x="8519408" y="2673247"/>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 Private </a:t>
            </a:r>
            <a:r>
              <a:rPr lang="en-US" dirty="0" err="1" smtClean="0"/>
              <a:t>Blockchain</a:t>
            </a:r>
            <a:endParaRPr lang="en-US" dirty="0"/>
          </a:p>
        </p:txBody>
      </p:sp>
      <p:sp>
        <p:nvSpPr>
          <p:cNvPr id="10" name="Flowchart: Process 9"/>
          <p:cNvSpPr/>
          <p:nvPr/>
        </p:nvSpPr>
        <p:spPr>
          <a:xfrm>
            <a:off x="8519408" y="4581995"/>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 Public </a:t>
            </a:r>
            <a:r>
              <a:rPr lang="en-US" dirty="0" err="1" smtClean="0"/>
              <a:t>Blockchain</a:t>
            </a:r>
            <a:endParaRPr lang="en-US" dirty="0"/>
          </a:p>
        </p:txBody>
      </p:sp>
      <p:sp>
        <p:nvSpPr>
          <p:cNvPr id="11" name="Flowchart: Process 10"/>
          <p:cNvSpPr/>
          <p:nvPr/>
        </p:nvSpPr>
        <p:spPr>
          <a:xfrm>
            <a:off x="4460821" y="920648"/>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Worried about data altered and need multiple copies of data?</a:t>
            </a:r>
            <a:endParaRPr lang="en-US" dirty="0"/>
          </a:p>
        </p:txBody>
      </p:sp>
      <p:sp>
        <p:nvSpPr>
          <p:cNvPr id="12" name="Flowchart: Process 11"/>
          <p:cNvSpPr/>
          <p:nvPr/>
        </p:nvSpPr>
        <p:spPr>
          <a:xfrm>
            <a:off x="4447080" y="2640770"/>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Dealing in private data?</a:t>
            </a:r>
            <a:endParaRPr lang="en-US" dirty="0"/>
          </a:p>
        </p:txBody>
      </p:sp>
      <p:sp>
        <p:nvSpPr>
          <p:cNvPr id="13" name="Flowchart: Process 12"/>
          <p:cNvSpPr/>
          <p:nvPr/>
        </p:nvSpPr>
        <p:spPr>
          <a:xfrm>
            <a:off x="4492050" y="4312175"/>
            <a:ext cx="3267856" cy="107929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Need </a:t>
            </a:r>
            <a:r>
              <a:rPr lang="en-US" dirty="0" err="1" smtClean="0"/>
              <a:t>ny</a:t>
            </a:r>
            <a:r>
              <a:rPr lang="en-US" dirty="0" smtClean="0"/>
              <a:t> control on who make changes to BC S/W?</a:t>
            </a:r>
            <a:endParaRPr lang="en-US" dirty="0"/>
          </a:p>
        </p:txBody>
      </p:sp>
    </p:spTree>
    <p:extLst>
      <p:ext uri="{BB962C8B-B14F-4D97-AF65-F5344CB8AC3E}">
        <p14:creationId xmlns:p14="http://schemas.microsoft.com/office/powerpoint/2010/main" val="41606290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800" dirty="0" smtClean="0"/>
              <a:t> Decentralized</a:t>
            </a:r>
          </a:p>
          <a:p>
            <a:pPr>
              <a:buFont typeface="Wingdings" panose="05000000000000000000" pitchFamily="2" charset="2"/>
              <a:buChar char="v"/>
            </a:pPr>
            <a:r>
              <a:rPr lang="en-US" sz="2800" dirty="0"/>
              <a:t> </a:t>
            </a:r>
            <a:r>
              <a:rPr lang="en-US" sz="2800" dirty="0" smtClean="0"/>
              <a:t>Immutability</a:t>
            </a:r>
          </a:p>
          <a:p>
            <a:pPr>
              <a:buFont typeface="Wingdings" panose="05000000000000000000" pitchFamily="2" charset="2"/>
              <a:buChar char="v"/>
            </a:pPr>
            <a:r>
              <a:rPr lang="en-US" sz="2800" dirty="0"/>
              <a:t> </a:t>
            </a:r>
            <a:r>
              <a:rPr lang="en-US" sz="2800" dirty="0" smtClean="0"/>
              <a:t>Traceability</a:t>
            </a:r>
          </a:p>
          <a:p>
            <a:pPr>
              <a:buFont typeface="Wingdings" panose="05000000000000000000" pitchFamily="2" charset="2"/>
              <a:buChar char="v"/>
            </a:pPr>
            <a:r>
              <a:rPr lang="en-US" sz="2800" dirty="0"/>
              <a:t> </a:t>
            </a:r>
            <a:r>
              <a:rPr lang="en-US" sz="2800" dirty="0" smtClean="0"/>
              <a:t>Permanent</a:t>
            </a:r>
          </a:p>
          <a:p>
            <a:pPr>
              <a:buFont typeface="Wingdings" panose="05000000000000000000" pitchFamily="2" charset="2"/>
              <a:buChar char="v"/>
            </a:pPr>
            <a:r>
              <a:rPr lang="en-US" sz="2800" dirty="0"/>
              <a:t> </a:t>
            </a:r>
            <a:r>
              <a:rPr lang="en-US" sz="2800" dirty="0" smtClean="0"/>
              <a:t>Transparency and Security</a:t>
            </a:r>
          </a:p>
          <a:p>
            <a:pPr>
              <a:buFont typeface="Wingdings" panose="05000000000000000000" pitchFamily="2" charset="2"/>
              <a:buChar char="v"/>
            </a:pPr>
            <a:r>
              <a:rPr lang="en-US" sz="2800" dirty="0"/>
              <a:t> </a:t>
            </a:r>
            <a:r>
              <a:rPr lang="en-US" sz="2800" dirty="0" smtClean="0"/>
              <a:t>No altered </a:t>
            </a:r>
            <a:r>
              <a:rPr lang="en-US" sz="2800" dirty="0" err="1" smtClean="0"/>
              <a:t>etc</a:t>
            </a:r>
            <a:endParaRPr lang="en-US" sz="2800" dirty="0" smtClean="0"/>
          </a:p>
        </p:txBody>
      </p:sp>
    </p:spTree>
    <p:extLst>
      <p:ext uri="{BB962C8B-B14F-4D97-AF65-F5344CB8AC3E}">
        <p14:creationId xmlns:p14="http://schemas.microsoft.com/office/powerpoint/2010/main" val="40489129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800" dirty="0" smtClean="0"/>
              <a:t> Efficiency and Speed</a:t>
            </a:r>
          </a:p>
          <a:p>
            <a:pPr>
              <a:buFont typeface="Wingdings" panose="05000000000000000000" pitchFamily="2" charset="2"/>
              <a:buChar char="v"/>
            </a:pPr>
            <a:r>
              <a:rPr lang="en-US" sz="2800" dirty="0"/>
              <a:t> </a:t>
            </a:r>
            <a:r>
              <a:rPr lang="en-US" sz="2800" dirty="0" smtClean="0"/>
              <a:t>Data Integrity</a:t>
            </a:r>
          </a:p>
          <a:p>
            <a:pPr>
              <a:buFont typeface="Wingdings" panose="05000000000000000000" pitchFamily="2" charset="2"/>
              <a:buChar char="v"/>
            </a:pPr>
            <a:r>
              <a:rPr lang="en-US" sz="2800" dirty="0"/>
              <a:t> </a:t>
            </a:r>
            <a:r>
              <a:rPr lang="en-US" sz="2800" dirty="0" smtClean="0"/>
              <a:t>innovation</a:t>
            </a:r>
          </a:p>
          <a:p>
            <a:pPr>
              <a:buFont typeface="Wingdings" panose="05000000000000000000" pitchFamily="2" charset="2"/>
              <a:buChar char="v"/>
            </a:pPr>
            <a:r>
              <a:rPr lang="en-US" sz="2800" dirty="0" smtClean="0"/>
              <a:t> Cost reduction</a:t>
            </a:r>
          </a:p>
          <a:p>
            <a:pPr>
              <a:buFont typeface="Wingdings" panose="05000000000000000000" pitchFamily="2" charset="2"/>
              <a:buChar char="v"/>
            </a:pPr>
            <a:r>
              <a:rPr lang="en-US" sz="2800" dirty="0"/>
              <a:t> </a:t>
            </a:r>
            <a:r>
              <a:rPr lang="en-US" sz="2800" dirty="0" smtClean="0"/>
              <a:t>Secure (ID, Money </a:t>
            </a:r>
            <a:r>
              <a:rPr lang="en-US" sz="2800" dirty="0" err="1" smtClean="0"/>
              <a:t>etc</a:t>
            </a:r>
            <a:r>
              <a:rPr lang="en-US" sz="2800" dirty="0" smtClean="0"/>
              <a:t>)</a:t>
            </a:r>
          </a:p>
          <a:p>
            <a:pPr>
              <a:buFont typeface="Wingdings" panose="05000000000000000000" pitchFamily="2" charset="2"/>
              <a:buChar char="v"/>
            </a:pPr>
            <a:r>
              <a:rPr lang="en-US" sz="2800" dirty="0"/>
              <a:t> </a:t>
            </a:r>
            <a:r>
              <a:rPr lang="en-US" sz="2800" dirty="0" smtClean="0"/>
              <a:t>No hack no crack </a:t>
            </a:r>
            <a:r>
              <a:rPr lang="en-US" sz="2800" dirty="0" err="1" smtClean="0"/>
              <a:t>etc</a:t>
            </a:r>
            <a:endParaRPr lang="en-US" sz="2800" dirty="0" smtClean="0"/>
          </a:p>
        </p:txBody>
      </p:sp>
    </p:spTree>
    <p:extLst>
      <p:ext uri="{BB962C8B-B14F-4D97-AF65-F5344CB8AC3E}">
        <p14:creationId xmlns:p14="http://schemas.microsoft.com/office/powerpoint/2010/main" val="3313882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800" dirty="0" smtClean="0"/>
              <a:t> </a:t>
            </a:r>
            <a:r>
              <a:rPr lang="en-US" sz="2800" dirty="0" smtClean="0"/>
              <a:t>Verifiable</a:t>
            </a:r>
          </a:p>
          <a:p>
            <a:pPr>
              <a:buFont typeface="Wingdings" panose="05000000000000000000" pitchFamily="2" charset="2"/>
              <a:buChar char="v"/>
            </a:pPr>
            <a:r>
              <a:rPr lang="en-US" sz="2800" dirty="0"/>
              <a:t> </a:t>
            </a:r>
            <a:r>
              <a:rPr lang="en-US" sz="2800" dirty="0" smtClean="0"/>
              <a:t>Trustable</a:t>
            </a:r>
          </a:p>
          <a:p>
            <a:pPr>
              <a:buFont typeface="Wingdings" panose="05000000000000000000" pitchFamily="2" charset="2"/>
              <a:buChar char="v"/>
            </a:pPr>
            <a:endParaRPr lang="en-US" sz="2800" dirty="0" smtClean="0"/>
          </a:p>
        </p:txBody>
      </p:sp>
    </p:spTree>
    <p:extLst>
      <p:ext uri="{BB962C8B-B14F-4D97-AF65-F5344CB8AC3E}">
        <p14:creationId xmlns:p14="http://schemas.microsoft.com/office/powerpoint/2010/main" val="2269038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Slow in speed  </a:t>
            </a:r>
          </a:p>
          <a:p>
            <a:pPr>
              <a:buFont typeface="Wingdings" panose="05000000000000000000" pitchFamily="2" charset="2"/>
              <a:buChar char="v"/>
            </a:pPr>
            <a:r>
              <a:rPr lang="en-US" sz="2800" dirty="0" smtClean="0"/>
              <a:t> Scalability issues</a:t>
            </a:r>
          </a:p>
          <a:p>
            <a:pPr>
              <a:buFont typeface="Wingdings" panose="05000000000000000000" pitchFamily="2" charset="2"/>
              <a:buChar char="v"/>
            </a:pPr>
            <a:r>
              <a:rPr lang="en-US" sz="2800" dirty="0"/>
              <a:t> </a:t>
            </a:r>
            <a:r>
              <a:rPr lang="en-US" sz="2800" dirty="0" smtClean="0"/>
              <a:t>High implementation cost (some times it is disadvantage)</a:t>
            </a:r>
          </a:p>
          <a:p>
            <a:pPr>
              <a:buFont typeface="Wingdings" panose="05000000000000000000" pitchFamily="2" charset="2"/>
              <a:buChar char="v"/>
            </a:pPr>
            <a:r>
              <a:rPr lang="en-US" sz="2800" dirty="0"/>
              <a:t> </a:t>
            </a:r>
            <a:r>
              <a:rPr lang="en-US" sz="2800" dirty="0" smtClean="0"/>
              <a:t>More node joins then speed will slow down more</a:t>
            </a:r>
          </a:p>
          <a:p>
            <a:pPr>
              <a:buFont typeface="Wingdings" panose="05000000000000000000" pitchFamily="2" charset="2"/>
              <a:buChar char="v"/>
            </a:pPr>
            <a:r>
              <a:rPr lang="en-US" sz="2800" dirty="0"/>
              <a:t> </a:t>
            </a:r>
            <a:r>
              <a:rPr lang="en-US" sz="2800" dirty="0" smtClean="0"/>
              <a:t>Power Consumption</a:t>
            </a:r>
          </a:p>
          <a:p>
            <a:pPr>
              <a:buFont typeface="Wingdings" panose="05000000000000000000" pitchFamily="2" charset="2"/>
              <a:buChar char="v"/>
            </a:pPr>
            <a:r>
              <a:rPr lang="en-US" sz="2800" dirty="0"/>
              <a:t> </a:t>
            </a:r>
            <a:r>
              <a:rPr lang="en-US" sz="2800" dirty="0" smtClean="0"/>
              <a:t>Regulations issues and Legal Formalities</a:t>
            </a:r>
          </a:p>
        </p:txBody>
      </p:sp>
    </p:spTree>
    <p:extLst>
      <p:ext uri="{BB962C8B-B14F-4D97-AF65-F5344CB8AC3E}">
        <p14:creationId xmlns:p14="http://schemas.microsoft.com/office/powerpoint/2010/main" val="42691386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6240" y="287338"/>
            <a:ext cx="11795760" cy="3309302"/>
          </a:xfrm>
        </p:spPr>
        <p:txBody>
          <a:bodyPr>
            <a:normAutofit/>
          </a:bodyPr>
          <a:lstStyle/>
          <a:p>
            <a:r>
              <a:rPr lang="en-US" sz="7200" dirty="0" smtClean="0"/>
              <a:t>Types of </a:t>
            </a:r>
            <a:r>
              <a:rPr lang="en-US" sz="7200" dirty="0" err="1" smtClean="0"/>
              <a:t>Blockchain</a:t>
            </a:r>
            <a:endParaRPr lang="en-US" sz="7200" dirty="0"/>
          </a:p>
        </p:txBody>
      </p:sp>
    </p:spTree>
    <p:extLst>
      <p:ext uri="{BB962C8B-B14F-4D97-AF65-F5344CB8AC3E}">
        <p14:creationId xmlns:p14="http://schemas.microsoft.com/office/powerpoint/2010/main" val="22634024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819518894"/>
              </p:ext>
            </p:extLst>
          </p:nvPr>
        </p:nvGraphicFramePr>
        <p:xfrm>
          <a:off x="1691640" y="777240"/>
          <a:ext cx="8747760" cy="53610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089596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2500"/>
                                  </p:stCondLst>
                                  <p:childTnLst>
                                    <p:set>
                                      <p:cBhvr>
                                        <p:cTn id="6" dur="1" fill="hold">
                                          <p:stCondLst>
                                            <p:cond delay="0"/>
                                          </p:stCondLst>
                                        </p:cTn>
                                        <p:tgtEl>
                                          <p:spTgt spid="4">
                                            <p:graphicEl>
                                              <a:dgm id="{326314C4-3851-4355-A589-127B8FF6AA86}"/>
                                            </p:graphicEl>
                                          </p:spTgt>
                                        </p:tgtEl>
                                        <p:attrNameLst>
                                          <p:attrName>style.visibility</p:attrName>
                                        </p:attrNameLst>
                                      </p:cBhvr>
                                      <p:to>
                                        <p:strVal val="visible"/>
                                      </p:to>
                                    </p:set>
                                    <p:anim calcmode="lin" valueType="num">
                                      <p:cBhvr additive="base">
                                        <p:cTn id="7" dur="500" fill="hold"/>
                                        <p:tgtEl>
                                          <p:spTgt spid="4">
                                            <p:graphicEl>
                                              <a:dgm id="{326314C4-3851-4355-A589-127B8FF6AA86}"/>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graphicEl>
                                              <a:dgm id="{326314C4-3851-4355-A589-127B8FF6AA86}"/>
                                            </p:graphicEl>
                                          </p:spTgt>
                                        </p:tgtEl>
                                        <p:attrNameLst>
                                          <p:attrName>ppt_y</p:attrName>
                                        </p:attrNameLst>
                                      </p:cBhvr>
                                      <p:tavLst>
                                        <p:tav tm="0">
                                          <p:val>
                                            <p:strVal val="1+#ppt_h/2"/>
                                          </p:val>
                                        </p:tav>
                                        <p:tav tm="100000">
                                          <p:val>
                                            <p:strVal val="#ppt_y"/>
                                          </p:val>
                                        </p:tav>
                                      </p:tavLst>
                                    </p:anim>
                                  </p:childTnLst>
                                </p:cTn>
                              </p:par>
                            </p:childTnLst>
                          </p:cTn>
                        </p:par>
                        <p:par>
                          <p:cTn id="9" fill="hold">
                            <p:stCondLst>
                              <p:cond delay="3000"/>
                            </p:stCondLst>
                            <p:childTnLst>
                              <p:par>
                                <p:cTn id="10" presetID="2" presetClass="entr" presetSubtype="6" fill="hold" grpId="0" nodeType="afterEffect">
                                  <p:stCondLst>
                                    <p:cond delay="2500"/>
                                  </p:stCondLst>
                                  <p:childTnLst>
                                    <p:set>
                                      <p:cBhvr>
                                        <p:cTn id="11" dur="1" fill="hold">
                                          <p:stCondLst>
                                            <p:cond delay="0"/>
                                          </p:stCondLst>
                                        </p:cTn>
                                        <p:tgtEl>
                                          <p:spTgt spid="4">
                                            <p:graphicEl>
                                              <a:dgm id="{448CCA96-D606-40F7-BC98-D6C5E8AFBA0E}"/>
                                            </p:graphicEl>
                                          </p:spTgt>
                                        </p:tgtEl>
                                        <p:attrNameLst>
                                          <p:attrName>style.visibility</p:attrName>
                                        </p:attrNameLst>
                                      </p:cBhvr>
                                      <p:to>
                                        <p:strVal val="visible"/>
                                      </p:to>
                                    </p:set>
                                    <p:anim calcmode="lin" valueType="num">
                                      <p:cBhvr additive="base">
                                        <p:cTn id="12" dur="500" fill="hold"/>
                                        <p:tgtEl>
                                          <p:spTgt spid="4">
                                            <p:graphicEl>
                                              <a:dgm id="{448CCA96-D606-40F7-BC98-D6C5E8AFBA0E}"/>
                                            </p:graphic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graphicEl>
                                              <a:dgm id="{448CCA96-D606-40F7-BC98-D6C5E8AFBA0E}"/>
                                            </p:graphicEl>
                                          </p:spTgt>
                                        </p:tgtEl>
                                        <p:attrNameLst>
                                          <p:attrName>ppt_y</p:attrName>
                                        </p:attrNameLst>
                                      </p:cBhvr>
                                      <p:tavLst>
                                        <p:tav tm="0">
                                          <p:val>
                                            <p:strVal val="1+#ppt_h/2"/>
                                          </p:val>
                                        </p:tav>
                                        <p:tav tm="100000">
                                          <p:val>
                                            <p:strVal val="#ppt_y"/>
                                          </p:val>
                                        </p:tav>
                                      </p:tavLst>
                                    </p:anim>
                                  </p:childTnLst>
                                </p:cTn>
                              </p:par>
                            </p:childTnLst>
                          </p:cTn>
                        </p:par>
                        <p:par>
                          <p:cTn id="14" fill="hold">
                            <p:stCondLst>
                              <p:cond delay="6000"/>
                            </p:stCondLst>
                            <p:childTnLst>
                              <p:par>
                                <p:cTn id="15" presetID="2" presetClass="entr" presetSubtype="6" fill="hold" grpId="0" nodeType="afterEffect">
                                  <p:stCondLst>
                                    <p:cond delay="2500"/>
                                  </p:stCondLst>
                                  <p:childTnLst>
                                    <p:set>
                                      <p:cBhvr>
                                        <p:cTn id="16" dur="1" fill="hold">
                                          <p:stCondLst>
                                            <p:cond delay="0"/>
                                          </p:stCondLst>
                                        </p:cTn>
                                        <p:tgtEl>
                                          <p:spTgt spid="4">
                                            <p:graphicEl>
                                              <a:dgm id="{06B587B3-6D3A-4CA7-B74B-6BAF91FE02B5}"/>
                                            </p:graphicEl>
                                          </p:spTgt>
                                        </p:tgtEl>
                                        <p:attrNameLst>
                                          <p:attrName>style.visibility</p:attrName>
                                        </p:attrNameLst>
                                      </p:cBhvr>
                                      <p:to>
                                        <p:strVal val="visible"/>
                                      </p:to>
                                    </p:set>
                                    <p:anim calcmode="lin" valueType="num">
                                      <p:cBhvr additive="base">
                                        <p:cTn id="17" dur="500" fill="hold"/>
                                        <p:tgtEl>
                                          <p:spTgt spid="4">
                                            <p:graphicEl>
                                              <a:dgm id="{06B587B3-6D3A-4CA7-B74B-6BAF91FE02B5}"/>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graphicEl>
                                              <a:dgm id="{06B587B3-6D3A-4CA7-B74B-6BAF91FE02B5}"/>
                                            </p:graphicEl>
                                          </p:spTgt>
                                        </p:tgtEl>
                                        <p:attrNameLst>
                                          <p:attrName>ppt_y</p:attrName>
                                        </p:attrNameLst>
                                      </p:cBhvr>
                                      <p:tavLst>
                                        <p:tav tm="0">
                                          <p:val>
                                            <p:strVal val="1+#ppt_h/2"/>
                                          </p:val>
                                        </p:tav>
                                        <p:tav tm="100000">
                                          <p:val>
                                            <p:strVal val="#ppt_y"/>
                                          </p:val>
                                        </p:tav>
                                      </p:tavLst>
                                    </p:anim>
                                  </p:childTnLst>
                                </p:cTn>
                              </p:par>
                            </p:childTnLst>
                          </p:cTn>
                        </p:par>
                        <p:par>
                          <p:cTn id="19" fill="hold">
                            <p:stCondLst>
                              <p:cond delay="9000"/>
                            </p:stCondLst>
                            <p:childTnLst>
                              <p:par>
                                <p:cTn id="20" presetID="2" presetClass="entr" presetSubtype="6" fill="hold" grpId="0" nodeType="afterEffect">
                                  <p:stCondLst>
                                    <p:cond delay="2500"/>
                                  </p:stCondLst>
                                  <p:childTnLst>
                                    <p:set>
                                      <p:cBhvr>
                                        <p:cTn id="21" dur="1" fill="hold">
                                          <p:stCondLst>
                                            <p:cond delay="0"/>
                                          </p:stCondLst>
                                        </p:cTn>
                                        <p:tgtEl>
                                          <p:spTgt spid="4">
                                            <p:graphicEl>
                                              <a:dgm id="{49AC0FC5-A8CD-4030-80B4-F190AB00E245}"/>
                                            </p:graphicEl>
                                          </p:spTgt>
                                        </p:tgtEl>
                                        <p:attrNameLst>
                                          <p:attrName>style.visibility</p:attrName>
                                        </p:attrNameLst>
                                      </p:cBhvr>
                                      <p:to>
                                        <p:strVal val="visible"/>
                                      </p:to>
                                    </p:set>
                                    <p:anim calcmode="lin" valueType="num">
                                      <p:cBhvr additive="base">
                                        <p:cTn id="22" dur="500" fill="hold"/>
                                        <p:tgtEl>
                                          <p:spTgt spid="4">
                                            <p:graphicEl>
                                              <a:dgm id="{49AC0FC5-A8CD-4030-80B4-F190AB00E245}"/>
                                            </p:graphic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graphicEl>
                                              <a:dgm id="{49AC0FC5-A8CD-4030-80B4-F190AB00E245}"/>
                                            </p:graphicEl>
                                          </p:spTgt>
                                        </p:tgtEl>
                                        <p:attrNameLst>
                                          <p:attrName>ppt_y</p:attrName>
                                        </p:attrNameLst>
                                      </p:cBhvr>
                                      <p:tavLst>
                                        <p:tav tm="0">
                                          <p:val>
                                            <p:strVal val="1+#ppt_h/2"/>
                                          </p:val>
                                        </p:tav>
                                        <p:tav tm="100000">
                                          <p:val>
                                            <p:strVal val="#ppt_y"/>
                                          </p:val>
                                        </p:tav>
                                      </p:tavLst>
                                    </p:anim>
                                  </p:childTnLst>
                                </p:cTn>
                              </p:par>
                            </p:childTnLst>
                          </p:cTn>
                        </p:par>
                        <p:par>
                          <p:cTn id="24" fill="hold">
                            <p:stCondLst>
                              <p:cond delay="12000"/>
                            </p:stCondLst>
                            <p:childTnLst>
                              <p:par>
                                <p:cTn id="25" presetID="2" presetClass="entr" presetSubtype="6" fill="hold" grpId="0" nodeType="afterEffect">
                                  <p:stCondLst>
                                    <p:cond delay="2500"/>
                                  </p:stCondLst>
                                  <p:childTnLst>
                                    <p:set>
                                      <p:cBhvr>
                                        <p:cTn id="26" dur="1" fill="hold">
                                          <p:stCondLst>
                                            <p:cond delay="0"/>
                                          </p:stCondLst>
                                        </p:cTn>
                                        <p:tgtEl>
                                          <p:spTgt spid="4">
                                            <p:graphicEl>
                                              <a:dgm id="{266C8573-BDD0-4B12-B76D-A6271FE0D5A2}"/>
                                            </p:graphicEl>
                                          </p:spTgt>
                                        </p:tgtEl>
                                        <p:attrNameLst>
                                          <p:attrName>style.visibility</p:attrName>
                                        </p:attrNameLst>
                                      </p:cBhvr>
                                      <p:to>
                                        <p:strVal val="visible"/>
                                      </p:to>
                                    </p:set>
                                    <p:anim calcmode="lin" valueType="num">
                                      <p:cBhvr additive="base">
                                        <p:cTn id="27" dur="500" fill="hold"/>
                                        <p:tgtEl>
                                          <p:spTgt spid="4">
                                            <p:graphicEl>
                                              <a:dgm id="{266C8573-BDD0-4B12-B76D-A6271FE0D5A2}"/>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
                                            <p:graphicEl>
                                              <a:dgm id="{266C8573-BDD0-4B12-B76D-A6271FE0D5A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
            </a:r>
            <a:r>
              <a:rPr lang="en-US" dirty="0" err="1" smtClean="0"/>
              <a:t>Blockchain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Three types </a:t>
            </a:r>
            <a:r>
              <a:rPr lang="en-US" sz="2800" dirty="0" smtClean="0"/>
              <a:t>mainly</a:t>
            </a:r>
            <a:endParaRPr lang="en-US" sz="2800" dirty="0" smtClean="0"/>
          </a:p>
          <a:p>
            <a:pPr>
              <a:buFont typeface="Wingdings" panose="05000000000000000000" pitchFamily="2" charset="2"/>
              <a:buChar char="v"/>
            </a:pPr>
            <a:r>
              <a:rPr lang="en-US" sz="2800" dirty="0"/>
              <a:t> </a:t>
            </a:r>
            <a:r>
              <a:rPr lang="en-US" sz="2800" dirty="0" smtClean="0"/>
              <a:t>Anyone can join any </a:t>
            </a:r>
            <a:r>
              <a:rPr lang="en-US" sz="2800" dirty="0" err="1" smtClean="0"/>
              <a:t>blockchain</a:t>
            </a:r>
            <a:r>
              <a:rPr lang="en-US" sz="2800" dirty="0" smtClean="0"/>
              <a:t> network</a:t>
            </a:r>
          </a:p>
          <a:p>
            <a:pPr>
              <a:buFont typeface="Wingdings" panose="05000000000000000000" pitchFamily="2" charset="2"/>
              <a:buChar char="v"/>
            </a:pPr>
            <a:r>
              <a:rPr lang="en-US" sz="2800" dirty="0" smtClean="0"/>
              <a:t> You need only a Node</a:t>
            </a:r>
          </a:p>
        </p:txBody>
      </p:sp>
    </p:spTree>
    <p:extLst>
      <p:ext uri="{BB962C8B-B14F-4D97-AF65-F5344CB8AC3E}">
        <p14:creationId xmlns:p14="http://schemas.microsoft.com/office/powerpoint/2010/main" val="7109922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Node/s?</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800" dirty="0" smtClean="0"/>
              <a:t> Computer/System</a:t>
            </a:r>
          </a:p>
          <a:p>
            <a:pPr>
              <a:buFont typeface="Wingdings" panose="05000000000000000000" pitchFamily="2" charset="2"/>
              <a:buChar char="v"/>
            </a:pPr>
            <a:r>
              <a:rPr lang="en-US" sz="2800" dirty="0"/>
              <a:t> </a:t>
            </a:r>
            <a:r>
              <a:rPr lang="en-US" sz="2800" dirty="0" smtClean="0"/>
              <a:t>Joined any computer</a:t>
            </a:r>
          </a:p>
          <a:p>
            <a:pPr>
              <a:buFont typeface="Wingdings" panose="05000000000000000000" pitchFamily="2" charset="2"/>
              <a:buChar char="v"/>
            </a:pPr>
            <a:r>
              <a:rPr lang="en-US" sz="2800" dirty="0"/>
              <a:t> </a:t>
            </a:r>
            <a:r>
              <a:rPr lang="en-US" sz="2800" dirty="0" smtClean="0"/>
              <a:t>every transection has to be recorded and distributed to a series of  	connected devices.</a:t>
            </a:r>
          </a:p>
          <a:p>
            <a:pPr>
              <a:buFont typeface="Wingdings" panose="05000000000000000000" pitchFamily="2" charset="2"/>
              <a:buChar char="v"/>
            </a:pPr>
            <a:r>
              <a:rPr lang="en-US" sz="2800" dirty="0"/>
              <a:t> </a:t>
            </a:r>
            <a:r>
              <a:rPr lang="en-US" sz="2800" dirty="0" smtClean="0"/>
              <a:t>can be any role over the network</a:t>
            </a:r>
          </a:p>
          <a:p>
            <a:pPr>
              <a:buFont typeface="Wingdings" panose="05000000000000000000" pitchFamily="2" charset="2"/>
              <a:buChar char="v"/>
            </a:pPr>
            <a:r>
              <a:rPr lang="en-US" sz="2800" dirty="0"/>
              <a:t> </a:t>
            </a:r>
            <a:r>
              <a:rPr lang="en-US" sz="2800" dirty="0" smtClean="0"/>
              <a:t>It verify each transection</a:t>
            </a:r>
          </a:p>
        </p:txBody>
      </p:sp>
    </p:spTree>
    <p:extLst>
      <p:ext uri="{BB962C8B-B14F-4D97-AF65-F5344CB8AC3E}">
        <p14:creationId xmlns:p14="http://schemas.microsoft.com/office/powerpoint/2010/main" val="34882568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Node/s?</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800" dirty="0" smtClean="0"/>
              <a:t> Data will be stored in encryption type</a:t>
            </a:r>
          </a:p>
          <a:p>
            <a:pPr>
              <a:buFont typeface="Wingdings" panose="05000000000000000000" pitchFamily="2" charset="2"/>
              <a:buChar char="v"/>
            </a:pPr>
            <a:r>
              <a:rPr lang="en-US" sz="2800" dirty="0" smtClean="0"/>
              <a:t> Every node have the same info and can communicate with each 	other</a:t>
            </a:r>
          </a:p>
          <a:p>
            <a:pPr>
              <a:buFont typeface="Wingdings" panose="05000000000000000000" pitchFamily="2" charset="2"/>
              <a:buChar char="v"/>
            </a:pPr>
            <a:r>
              <a:rPr lang="en-US" sz="2800" dirty="0" smtClean="0"/>
              <a:t> Half/Lite node</a:t>
            </a:r>
          </a:p>
          <a:p>
            <a:pPr>
              <a:buFont typeface="Wingdings" panose="05000000000000000000" pitchFamily="2" charset="2"/>
              <a:buChar char="v"/>
            </a:pPr>
            <a:r>
              <a:rPr lang="en-US" sz="2800" dirty="0"/>
              <a:t> </a:t>
            </a:r>
            <a:r>
              <a:rPr lang="en-US" sz="2800" dirty="0" smtClean="0"/>
              <a:t>Full node</a:t>
            </a:r>
          </a:p>
          <a:p>
            <a:pPr>
              <a:buFont typeface="Wingdings" panose="05000000000000000000" pitchFamily="2" charset="2"/>
              <a:buChar char="v"/>
            </a:pPr>
            <a:r>
              <a:rPr lang="en-US" sz="2800" dirty="0"/>
              <a:t> </a:t>
            </a:r>
            <a:r>
              <a:rPr lang="en-US" sz="2800" dirty="0" smtClean="0"/>
              <a:t>Miner Node</a:t>
            </a:r>
          </a:p>
        </p:txBody>
      </p:sp>
    </p:spTree>
    <p:extLst>
      <p:ext uri="{BB962C8B-B14F-4D97-AF65-F5344CB8AC3E}">
        <p14:creationId xmlns:p14="http://schemas.microsoft.com/office/powerpoint/2010/main" val="10615304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a:t>
            </a:r>
            <a:r>
              <a:rPr lang="en-US" dirty="0" err="1" smtClean="0"/>
              <a:t>Blockchain</a:t>
            </a:r>
            <a:r>
              <a:rPr lang="en-US" dirty="0" smtClean="0"/>
              <a:t> Network</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Only for organization</a:t>
            </a:r>
          </a:p>
          <a:p>
            <a:pPr>
              <a:buFont typeface="Wingdings" panose="05000000000000000000" pitchFamily="2" charset="2"/>
              <a:buChar char="v"/>
            </a:pPr>
            <a:r>
              <a:rPr lang="en-US" sz="2800" dirty="0"/>
              <a:t> </a:t>
            </a:r>
            <a:r>
              <a:rPr lang="en-US" sz="2800" dirty="0" smtClean="0"/>
              <a:t>Authorized persons can join only</a:t>
            </a:r>
          </a:p>
        </p:txBody>
      </p:sp>
    </p:spTree>
    <p:extLst>
      <p:ext uri="{BB962C8B-B14F-4D97-AF65-F5344CB8AC3E}">
        <p14:creationId xmlns:p14="http://schemas.microsoft.com/office/powerpoint/2010/main" val="32907201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a:t>
            </a:r>
            <a:r>
              <a:rPr lang="en-US" dirty="0" err="1" smtClean="0"/>
              <a:t>Blockchain</a:t>
            </a:r>
            <a:r>
              <a:rPr lang="en-US" dirty="0" smtClean="0"/>
              <a:t> Network</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Open publically</a:t>
            </a:r>
          </a:p>
          <a:p>
            <a:pPr>
              <a:buFont typeface="Wingdings" panose="05000000000000000000" pitchFamily="2" charset="2"/>
              <a:buChar char="v"/>
            </a:pPr>
            <a:r>
              <a:rPr lang="en-US" sz="2800" dirty="0"/>
              <a:t> </a:t>
            </a:r>
            <a:r>
              <a:rPr lang="en-US" sz="2800" dirty="0" smtClean="0"/>
              <a:t>Anyone can join from anywhere</a:t>
            </a:r>
          </a:p>
          <a:p>
            <a:pPr>
              <a:buFont typeface="Wingdings" panose="05000000000000000000" pitchFamily="2" charset="2"/>
              <a:buChar char="v"/>
            </a:pPr>
            <a:r>
              <a:rPr lang="en-US" sz="2800" dirty="0"/>
              <a:t> </a:t>
            </a:r>
            <a:r>
              <a:rPr lang="en-US" sz="2800" dirty="0" smtClean="0"/>
              <a:t>No restrictions</a:t>
            </a:r>
          </a:p>
        </p:txBody>
      </p:sp>
    </p:spTree>
    <p:extLst>
      <p:ext uri="{BB962C8B-B14F-4D97-AF65-F5344CB8AC3E}">
        <p14:creationId xmlns:p14="http://schemas.microsoft.com/office/powerpoint/2010/main" val="6122232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a:t>
            </a:r>
            <a:r>
              <a:rPr lang="en-US" dirty="0" err="1" smtClean="0"/>
              <a:t>Blockchain</a:t>
            </a:r>
            <a:r>
              <a:rPr lang="en-US" dirty="0" smtClean="0"/>
              <a:t> Network</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Combination of Private and Public </a:t>
            </a:r>
            <a:r>
              <a:rPr lang="en-US" sz="2800" dirty="0" err="1" smtClean="0"/>
              <a:t>Blockchain</a:t>
            </a:r>
            <a:r>
              <a:rPr lang="en-US" sz="2800" dirty="0" smtClean="0"/>
              <a:t> </a:t>
            </a:r>
          </a:p>
          <a:p>
            <a:pPr>
              <a:buFont typeface="Wingdings" panose="05000000000000000000" pitchFamily="2" charset="2"/>
              <a:buChar char="v"/>
            </a:pPr>
            <a:r>
              <a:rPr lang="en-US" sz="2800" dirty="0" smtClean="0"/>
              <a:t> Anyone can join</a:t>
            </a:r>
          </a:p>
          <a:p>
            <a:pPr>
              <a:buFont typeface="Wingdings" panose="05000000000000000000" pitchFamily="2" charset="2"/>
              <a:buChar char="v"/>
            </a:pPr>
            <a:r>
              <a:rPr lang="en-US" sz="2800" dirty="0"/>
              <a:t> </a:t>
            </a:r>
            <a:r>
              <a:rPr lang="en-US" sz="2800" dirty="0" smtClean="0"/>
              <a:t>Limited access for public</a:t>
            </a:r>
          </a:p>
          <a:p>
            <a:pPr>
              <a:buFont typeface="Wingdings" panose="05000000000000000000" pitchFamily="2" charset="2"/>
              <a:buChar char="v"/>
            </a:pPr>
            <a:r>
              <a:rPr lang="en-US" sz="2800" dirty="0"/>
              <a:t> </a:t>
            </a:r>
            <a:r>
              <a:rPr lang="en-US" sz="2800" dirty="0" smtClean="0"/>
              <a:t>Full access with admin or organization only</a:t>
            </a:r>
          </a:p>
        </p:txBody>
      </p:sp>
    </p:spTree>
    <p:extLst>
      <p:ext uri="{BB962C8B-B14F-4D97-AF65-F5344CB8AC3E}">
        <p14:creationId xmlns:p14="http://schemas.microsoft.com/office/powerpoint/2010/main" val="18119413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4663" y="347298"/>
            <a:ext cx="10058400" cy="1449387"/>
          </a:xfrm>
        </p:spPr>
        <p:txBody>
          <a:bodyPr/>
          <a:lstStyle/>
          <a:p>
            <a:r>
              <a:rPr lang="en-US" dirty="0" smtClean="0"/>
              <a:t>Demo</a:t>
            </a:r>
            <a:endParaRPr lang="en-US" dirty="0"/>
          </a:p>
        </p:txBody>
      </p:sp>
      <p:sp>
        <p:nvSpPr>
          <p:cNvPr id="4" name="Title 1"/>
          <p:cNvSpPr txBox="1">
            <a:spLocks/>
          </p:cNvSpPr>
          <p:nvPr/>
        </p:nvSpPr>
        <p:spPr>
          <a:xfrm>
            <a:off x="514663" y="1309167"/>
            <a:ext cx="10058400" cy="461194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685800" indent="-685800">
              <a:buClr>
                <a:schemeClr val="accent1"/>
              </a:buClr>
              <a:buFont typeface="Wingdings" panose="05000000000000000000" pitchFamily="2" charset="2"/>
              <a:buChar char="v"/>
            </a:pPr>
            <a:r>
              <a:rPr lang="en-US" dirty="0" smtClean="0"/>
              <a:t>How Hash function works/gen?</a:t>
            </a:r>
          </a:p>
          <a:p>
            <a:pPr marL="685800" indent="-685800">
              <a:buClr>
                <a:schemeClr val="accent1"/>
              </a:buClr>
              <a:buFont typeface="Wingdings" panose="05000000000000000000" pitchFamily="2" charset="2"/>
              <a:buChar char="v"/>
            </a:pPr>
            <a:r>
              <a:rPr lang="en-US" dirty="0" smtClean="0"/>
              <a:t>How Blocks are formed?</a:t>
            </a:r>
          </a:p>
          <a:p>
            <a:pPr marL="685800" indent="-685800">
              <a:buClr>
                <a:schemeClr val="accent1"/>
              </a:buClr>
              <a:buFont typeface="Wingdings" panose="05000000000000000000" pitchFamily="2" charset="2"/>
              <a:buChar char="v"/>
            </a:pPr>
            <a:r>
              <a:rPr lang="en-US" dirty="0" smtClean="0"/>
              <a:t>How Blocks connected each other?</a:t>
            </a:r>
          </a:p>
        </p:txBody>
      </p:sp>
      <p:sp>
        <p:nvSpPr>
          <p:cNvPr id="5" name="Title 1"/>
          <p:cNvSpPr txBox="1">
            <a:spLocks/>
          </p:cNvSpPr>
          <p:nvPr/>
        </p:nvSpPr>
        <p:spPr>
          <a:xfrm>
            <a:off x="514663" y="2033860"/>
            <a:ext cx="10058400" cy="144938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dirty="0"/>
          </a:p>
        </p:txBody>
      </p:sp>
    </p:spTree>
    <p:extLst>
      <p:ext uri="{BB962C8B-B14F-4D97-AF65-F5344CB8AC3E}">
        <p14:creationId xmlns:p14="http://schemas.microsoft.com/office/powerpoint/2010/main" val="27735475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4663" y="347298"/>
            <a:ext cx="10058400" cy="1449387"/>
          </a:xfrm>
        </p:spPr>
        <p:txBody>
          <a:bodyPr/>
          <a:lstStyle/>
          <a:p>
            <a:r>
              <a:rPr lang="en-US" dirty="0" smtClean="0"/>
              <a:t>Demo</a:t>
            </a:r>
            <a:endParaRPr lang="en-US" dirty="0"/>
          </a:p>
        </p:txBody>
      </p:sp>
      <p:sp>
        <p:nvSpPr>
          <p:cNvPr id="4" name="Title 1"/>
          <p:cNvSpPr txBox="1">
            <a:spLocks/>
          </p:cNvSpPr>
          <p:nvPr/>
        </p:nvSpPr>
        <p:spPr>
          <a:xfrm>
            <a:off x="514663" y="1309167"/>
            <a:ext cx="10058400" cy="461194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685800" indent="-685800">
              <a:buClr>
                <a:schemeClr val="accent1"/>
              </a:buClr>
              <a:buFont typeface="Wingdings" panose="05000000000000000000" pitchFamily="2" charset="2"/>
              <a:buChar char="v"/>
            </a:pPr>
            <a:r>
              <a:rPr lang="en-US" dirty="0" smtClean="0"/>
              <a:t>How data are stored on </a:t>
            </a:r>
            <a:r>
              <a:rPr lang="en-US" dirty="0" err="1" smtClean="0"/>
              <a:t>blockchain</a:t>
            </a:r>
            <a:r>
              <a:rPr lang="en-US" dirty="0" smtClean="0"/>
              <a:t>?</a:t>
            </a:r>
          </a:p>
          <a:p>
            <a:pPr marL="685800" indent="-685800">
              <a:buClr>
                <a:schemeClr val="accent1"/>
              </a:buClr>
              <a:buFont typeface="Wingdings" panose="05000000000000000000" pitchFamily="2" charset="2"/>
              <a:buChar char="v"/>
            </a:pPr>
            <a:r>
              <a:rPr lang="en-US" dirty="0" smtClean="0"/>
              <a:t>How blocks are mined and store data?</a:t>
            </a:r>
          </a:p>
        </p:txBody>
      </p:sp>
      <p:sp>
        <p:nvSpPr>
          <p:cNvPr id="5" name="Title 1"/>
          <p:cNvSpPr txBox="1">
            <a:spLocks/>
          </p:cNvSpPr>
          <p:nvPr/>
        </p:nvSpPr>
        <p:spPr>
          <a:xfrm>
            <a:off x="514663" y="2033860"/>
            <a:ext cx="10058400" cy="144938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dirty="0"/>
          </a:p>
        </p:txBody>
      </p:sp>
    </p:spTree>
    <p:extLst>
      <p:ext uri="{BB962C8B-B14F-4D97-AF65-F5344CB8AC3E}">
        <p14:creationId xmlns:p14="http://schemas.microsoft.com/office/powerpoint/2010/main" val="37684753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Other </a:t>
            </a:r>
            <a:r>
              <a:rPr lang="en-US" sz="2800" dirty="0"/>
              <a:t>than these few examples, the revolutionary technology of </a:t>
            </a:r>
            <a:r>
              <a:rPr lang="en-US" sz="2800" dirty="0" err="1"/>
              <a:t>Blockchain</a:t>
            </a:r>
            <a:r>
              <a:rPr lang="en-US" sz="2800" dirty="0"/>
              <a:t> holds a high potential of applications in many different industries and sectors</a:t>
            </a:r>
            <a:r>
              <a:rPr lang="en-US" sz="2800" dirty="0" smtClean="0"/>
              <a:t>.</a:t>
            </a:r>
            <a:endParaRPr lang="en-US" sz="2800" dirty="0"/>
          </a:p>
        </p:txBody>
      </p:sp>
    </p:spTree>
    <p:extLst>
      <p:ext uri="{BB962C8B-B14F-4D97-AF65-F5344CB8AC3E}">
        <p14:creationId xmlns:p14="http://schemas.microsoft.com/office/powerpoint/2010/main" val="38708183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While </a:t>
            </a:r>
            <a:r>
              <a:rPr lang="en-US" sz="2800" dirty="0"/>
              <a:t>some industries have already started adopting </a:t>
            </a:r>
            <a:r>
              <a:rPr lang="en-US" sz="2800" dirty="0" err="1"/>
              <a:t>blockchain</a:t>
            </a:r>
            <a:r>
              <a:rPr lang="en-US" sz="2800" dirty="0"/>
              <a:t> in their businesses, many are still exploring the best possible ways to start with</a:t>
            </a:r>
            <a:r>
              <a:rPr lang="en-US" sz="2800" dirty="0" smtClean="0"/>
              <a:t>.</a:t>
            </a:r>
            <a:endParaRPr lang="en-US" sz="2800" dirty="0"/>
          </a:p>
        </p:txBody>
      </p:sp>
    </p:spTree>
    <p:extLst>
      <p:ext uri="{BB962C8B-B14F-4D97-AF65-F5344CB8AC3E}">
        <p14:creationId xmlns:p14="http://schemas.microsoft.com/office/powerpoint/2010/main" val="41340339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a:t>
            </a:r>
            <a:r>
              <a:rPr lang="en-US" sz="2800" dirty="0" err="1" smtClean="0"/>
              <a:t>Blockchain</a:t>
            </a:r>
            <a:r>
              <a:rPr lang="en-US" sz="2800" dirty="0" smtClean="0"/>
              <a:t> </a:t>
            </a:r>
            <a:r>
              <a:rPr lang="en-US" sz="2800" dirty="0"/>
              <a:t>is a new name in the world of technologies but it is definitely the one to last. Even in the early stages, the technology has gained huge popularity starting with their very first application of </a:t>
            </a:r>
            <a:r>
              <a:rPr lang="en-US" sz="2800" dirty="0" err="1"/>
              <a:t>cryptocurrencies</a:t>
            </a:r>
            <a:r>
              <a:rPr lang="en-US" sz="2800" dirty="0" smtClean="0"/>
              <a:t>. </a:t>
            </a:r>
            <a:endParaRPr lang="en-US" sz="2800" dirty="0" smtClean="0"/>
          </a:p>
        </p:txBody>
      </p:sp>
    </p:spTree>
    <p:extLst>
      <p:ext uri="{BB962C8B-B14F-4D97-AF65-F5344CB8AC3E}">
        <p14:creationId xmlns:p14="http://schemas.microsoft.com/office/powerpoint/2010/main" val="17063366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dirty="0" smtClean="0"/>
              <a:t> More </a:t>
            </a:r>
            <a:r>
              <a:rPr lang="en-US" sz="2800" dirty="0"/>
              <a:t>areas of applications are being discovered and tested with each passing day. Once the technology is adopted and accepted on a global level, it’ll transform the way we live today</a:t>
            </a:r>
            <a:endParaRPr lang="en-US" sz="2800" dirty="0" smtClean="0"/>
          </a:p>
        </p:txBody>
      </p:sp>
    </p:spTree>
    <p:extLst>
      <p:ext uri="{BB962C8B-B14F-4D97-AF65-F5344CB8AC3E}">
        <p14:creationId xmlns:p14="http://schemas.microsoft.com/office/powerpoint/2010/main" val="8431858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Credit (it is just a demo and can be changed as per each person contribution </a:t>
            </a:r>
            <a:r>
              <a:rPr lang="en-US" dirty="0" err="1" smtClean="0"/>
              <a:t>etc</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Animation by </a:t>
            </a:r>
            <a:r>
              <a:rPr lang="en-US" dirty="0" err="1" smtClean="0"/>
              <a:t>Sumama</a:t>
            </a:r>
            <a:endParaRPr lang="en-US" dirty="0" smtClean="0"/>
          </a:p>
          <a:p>
            <a:r>
              <a:rPr lang="en-US" dirty="0" smtClean="0"/>
              <a:t>Content organized by </a:t>
            </a:r>
            <a:r>
              <a:rPr lang="en-US" dirty="0" err="1" smtClean="0"/>
              <a:t>Sumama</a:t>
            </a:r>
            <a:endParaRPr lang="en-US" dirty="0" smtClean="0"/>
          </a:p>
          <a:p>
            <a:r>
              <a:rPr lang="en-US" dirty="0" smtClean="0"/>
              <a:t>Content gathered by </a:t>
            </a:r>
          </a:p>
          <a:p>
            <a:pPr lvl="1"/>
            <a:r>
              <a:rPr lang="en-US" dirty="0" err="1" smtClean="0"/>
              <a:t>Sumama</a:t>
            </a:r>
            <a:endParaRPr lang="en-US" dirty="0" smtClean="0"/>
          </a:p>
          <a:p>
            <a:pPr lvl="1"/>
            <a:r>
              <a:rPr lang="en-US" dirty="0" smtClean="0"/>
              <a:t>Bilal</a:t>
            </a:r>
          </a:p>
          <a:p>
            <a:pPr lvl="1"/>
            <a:r>
              <a:rPr lang="en-US" dirty="0" err="1" smtClean="0"/>
              <a:t>Faik</a:t>
            </a:r>
            <a:endParaRPr lang="en-US" dirty="0"/>
          </a:p>
          <a:p>
            <a:pPr marL="201168" lvl="1" indent="0">
              <a:buNone/>
            </a:pPr>
            <a:r>
              <a:rPr lang="en-US" dirty="0" smtClean="0"/>
              <a:t>Images and Stats</a:t>
            </a:r>
            <a:endParaRPr lang="en-US" dirty="0"/>
          </a:p>
          <a:p>
            <a:pPr marL="201168" lvl="1" indent="0">
              <a:buNone/>
            </a:pPr>
            <a:r>
              <a:rPr lang="en-US" dirty="0" smtClean="0"/>
              <a:t> </a:t>
            </a:r>
            <a:r>
              <a:rPr lang="en-US" dirty="0" err="1" smtClean="0"/>
              <a:t>abc</a:t>
            </a:r>
            <a:endParaRPr lang="en-US" dirty="0"/>
          </a:p>
          <a:p>
            <a:pPr marL="201168" lvl="1" indent="0">
              <a:buNone/>
            </a:pPr>
            <a:r>
              <a:rPr lang="en-US" dirty="0" smtClean="0"/>
              <a:t> </a:t>
            </a:r>
            <a:r>
              <a:rPr lang="en-US" dirty="0" err="1" smtClean="0"/>
              <a:t>etc</a:t>
            </a:r>
            <a:endParaRPr lang="en-US" dirty="0"/>
          </a:p>
          <a:p>
            <a:pPr marL="201168" lvl="1" indent="0">
              <a:buNone/>
            </a:pPr>
            <a:r>
              <a:rPr lang="en-US" dirty="0" smtClean="0"/>
              <a:t>Resources: Introduction to </a:t>
            </a:r>
            <a:r>
              <a:rPr lang="en-US" dirty="0" err="1" smtClean="0"/>
              <a:t>Blockchain</a:t>
            </a:r>
            <a:r>
              <a:rPr lang="en-US" dirty="0" smtClean="0"/>
              <a:t> By </a:t>
            </a:r>
            <a:r>
              <a:rPr lang="en-US" dirty="0" err="1" smtClean="0"/>
              <a:t>Sumama</a:t>
            </a:r>
            <a:r>
              <a:rPr lang="en-US" dirty="0" smtClean="0"/>
              <a:t> (Short Book, available online and with team members only – use QR code here to get this book</a:t>
            </a:r>
            <a:r>
              <a:rPr lang="en-US" dirty="0" smtClean="0"/>
              <a:t>)</a:t>
            </a:r>
          </a:p>
          <a:p>
            <a:pPr marL="201168" lvl="1" indent="0">
              <a:buNone/>
            </a:pPr>
            <a:r>
              <a:rPr lang="en-US" dirty="0" smtClean="0"/>
              <a:t>Sponsored by: XYZ – (talk and do it ask for payment)</a:t>
            </a:r>
            <a:endParaRPr lang="en-US" dirty="0" smtClean="0"/>
          </a:p>
        </p:txBody>
      </p:sp>
    </p:spTree>
    <p:extLst>
      <p:ext uri="{BB962C8B-B14F-4D97-AF65-F5344CB8AC3E}">
        <p14:creationId xmlns:p14="http://schemas.microsoft.com/office/powerpoint/2010/main" val="3704031870"/>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6201</TotalTime>
  <Words>1179</Words>
  <Application>Microsoft Office PowerPoint</Application>
  <PresentationFormat>Widescreen</PresentationFormat>
  <Paragraphs>203</Paragraphs>
  <Slides>29</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Calibri</vt:lpstr>
      <vt:lpstr>Calibri Light</vt:lpstr>
      <vt:lpstr>Times New Roman</vt:lpstr>
      <vt:lpstr>Wingdings</vt:lpstr>
      <vt:lpstr>Retrospect</vt:lpstr>
      <vt:lpstr>Blockchain</vt:lpstr>
      <vt:lpstr>Outlines</vt:lpstr>
      <vt:lpstr>Introduction to Blockchain</vt:lpstr>
      <vt:lpstr>Introduction to Blockchain</vt:lpstr>
      <vt:lpstr>Ledger</vt:lpstr>
      <vt:lpstr>Story</vt:lpstr>
      <vt:lpstr>Impact on Society (show job market and opportunities)</vt:lpstr>
      <vt:lpstr>Blockchain Technology Challanges</vt:lpstr>
      <vt:lpstr>Blockchain Technology Challanges</vt:lpstr>
      <vt:lpstr>PowerPoint Presentation</vt:lpstr>
      <vt:lpstr>Advantages</vt:lpstr>
      <vt:lpstr>Advantages</vt:lpstr>
      <vt:lpstr>Advantages</vt:lpstr>
      <vt:lpstr>Disadvantages</vt:lpstr>
      <vt:lpstr>Types of Blockchain</vt:lpstr>
      <vt:lpstr>PowerPoint Presentation</vt:lpstr>
      <vt:lpstr>Types of Blockchain</vt:lpstr>
      <vt:lpstr>What is Node/s?</vt:lpstr>
      <vt:lpstr>What is Node/s?</vt:lpstr>
      <vt:lpstr>Private Blockchain Network</vt:lpstr>
      <vt:lpstr>Public Blockchain Network</vt:lpstr>
      <vt:lpstr>Hybrid Blockchain Network</vt:lpstr>
      <vt:lpstr>Demo</vt:lpstr>
      <vt:lpstr>Demo</vt:lpstr>
      <vt:lpstr>Conclusion</vt:lpstr>
      <vt:lpstr>Conclusion</vt:lpstr>
      <vt:lpstr>Conclusion</vt:lpstr>
      <vt:lpstr>Conclusion</vt:lpstr>
      <vt:lpstr>Credit (it is just a demo and can be changed as per each person contribution etc)</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dc:title>
  <dc:creator>Sumama Rahim</dc:creator>
  <cp:keywords>Blockchain</cp:keywords>
  <cp:lastModifiedBy>Adeel</cp:lastModifiedBy>
  <cp:revision>118</cp:revision>
  <dcterms:created xsi:type="dcterms:W3CDTF">2024-12-03T16:31:55Z</dcterms:created>
  <dcterms:modified xsi:type="dcterms:W3CDTF">2024-12-15T19:48:12Z</dcterms:modified>
</cp:coreProperties>
</file>