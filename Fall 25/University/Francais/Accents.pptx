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83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46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25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8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54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67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71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4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5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13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2742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1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0789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17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64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86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E79B3-B1F3-4D38-ACAD-859F76E5237A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9ED8763-1F88-4FA0-BBFB-6515A791B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94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515CB-FE80-4DB4-8C64-B4E650DC8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2484783"/>
            <a:ext cx="8915399" cy="1232452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Accents</a:t>
            </a:r>
          </a:p>
        </p:txBody>
      </p:sp>
    </p:spTree>
    <p:extLst>
      <p:ext uri="{BB962C8B-B14F-4D97-AF65-F5344CB8AC3E}">
        <p14:creationId xmlns:p14="http://schemas.microsoft.com/office/powerpoint/2010/main" val="285562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92E9-73CC-458C-83D3-56A7B240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743380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/>
              <a:t>L’accent</a:t>
            </a:r>
            <a:r>
              <a:rPr lang="en-US" sz="4400" b="1" dirty="0"/>
              <a:t> – Les accents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7EC87-D5A1-4611-AFEA-37CA8DF74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6654179" cy="3777622"/>
          </a:xfrm>
        </p:spPr>
        <p:txBody>
          <a:bodyPr>
            <a:normAutofit/>
          </a:bodyPr>
          <a:lstStyle/>
          <a:p>
            <a:pPr algn="just"/>
            <a:r>
              <a:rPr lang="fr-FR" sz="4000" b="1" dirty="0" err="1"/>
              <a:t>Symbols</a:t>
            </a:r>
            <a:r>
              <a:rPr lang="fr-FR" sz="4000" b="1" dirty="0"/>
              <a:t> </a:t>
            </a:r>
            <a:r>
              <a:rPr lang="fr-FR" sz="4000" b="1" dirty="0" err="1"/>
              <a:t>that</a:t>
            </a:r>
            <a:r>
              <a:rPr lang="fr-FR" sz="4000" b="1" dirty="0"/>
              <a:t> </a:t>
            </a:r>
            <a:r>
              <a:rPr lang="fr-FR" sz="4000" b="1" dirty="0" err="1"/>
              <a:t>we</a:t>
            </a:r>
            <a:r>
              <a:rPr lang="fr-FR" sz="4000" b="1" dirty="0"/>
              <a:t> use to </a:t>
            </a:r>
            <a:r>
              <a:rPr lang="fr-FR" sz="4000" b="1" dirty="0" err="1"/>
              <a:t>write</a:t>
            </a:r>
            <a:r>
              <a:rPr lang="fr-FR" sz="4000" b="1" dirty="0"/>
              <a:t> on certain </a:t>
            </a:r>
            <a:r>
              <a:rPr lang="fr-FR" sz="4000" b="1" dirty="0" err="1"/>
              <a:t>vowels</a:t>
            </a:r>
            <a:r>
              <a:rPr lang="fr-FR" sz="4000" b="1" dirty="0"/>
              <a:t> or consonants</a:t>
            </a:r>
          </a:p>
          <a:p>
            <a:r>
              <a:rPr lang="fr-FR" sz="4400" b="1" dirty="0">
                <a:solidFill>
                  <a:srgbClr val="7030A0"/>
                </a:solidFill>
              </a:rPr>
              <a:t>é, ù, â, ä</a:t>
            </a:r>
            <a:endParaRPr lang="en-US" sz="4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172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92E9-73CC-458C-83D3-56A7B240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5421" y="66386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5 Accents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7EC87-D5A1-4611-AFEA-37CA8DF74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7956205" cy="3777622"/>
          </a:xfrm>
        </p:spPr>
        <p:txBody>
          <a:bodyPr>
            <a:normAutofit/>
          </a:bodyPr>
          <a:lstStyle/>
          <a:p>
            <a:r>
              <a:rPr lang="en-US" sz="4000" b="1" dirty="0"/>
              <a:t>Accent </a:t>
            </a:r>
            <a:r>
              <a:rPr lang="en-US" sz="4000" b="1" dirty="0" err="1"/>
              <a:t>aigu</a:t>
            </a:r>
            <a:endParaRPr lang="en-US" sz="4000" b="1" dirty="0"/>
          </a:p>
          <a:p>
            <a:r>
              <a:rPr lang="en-US" sz="4000" b="1" dirty="0"/>
              <a:t>Accent grave</a:t>
            </a:r>
          </a:p>
          <a:p>
            <a:r>
              <a:rPr lang="en-US" sz="4000" b="1" dirty="0"/>
              <a:t>Accent </a:t>
            </a:r>
            <a:r>
              <a:rPr lang="en-US" sz="4000" b="1" dirty="0" err="1"/>
              <a:t>circonflexe</a:t>
            </a:r>
            <a:endParaRPr lang="en-US" sz="4000" b="1" dirty="0"/>
          </a:p>
          <a:p>
            <a:r>
              <a:rPr lang="en-US" sz="4000" b="1" dirty="0"/>
              <a:t>Le tr</a:t>
            </a:r>
            <a:r>
              <a:rPr lang="fr-FR" sz="4000" b="1" dirty="0" err="1"/>
              <a:t>éma</a:t>
            </a:r>
            <a:endParaRPr lang="fr-FR" sz="4000" b="1" dirty="0"/>
          </a:p>
          <a:p>
            <a:r>
              <a:rPr lang="fr-FR" sz="4000" b="1" dirty="0"/>
              <a:t>La cédille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548671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92E9-73CC-458C-83D3-56A7B240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5421" y="66386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1. Accent </a:t>
            </a:r>
            <a:r>
              <a:rPr lang="en-US" sz="4400" b="1" dirty="0" err="1"/>
              <a:t>aigu</a:t>
            </a:r>
            <a:endParaRPr lang="en-US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7EC87-D5A1-4611-AFEA-37CA8DF74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7956205" cy="3777622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C00000"/>
                </a:solidFill>
              </a:rPr>
              <a:t>é</a:t>
            </a:r>
            <a:endParaRPr lang="en-US" sz="4000" b="1" dirty="0">
              <a:solidFill>
                <a:srgbClr val="C00000"/>
              </a:solidFill>
            </a:endParaRPr>
          </a:p>
          <a:p>
            <a:r>
              <a:rPr lang="fr-FR" sz="4000" b="1" dirty="0"/>
              <a:t>c</a:t>
            </a:r>
            <a:r>
              <a:rPr lang="en-US" sz="4000" b="1" dirty="0" err="1"/>
              <a:t>af</a:t>
            </a:r>
            <a:r>
              <a:rPr lang="en-US" sz="4000" b="1" dirty="0" err="1">
                <a:solidFill>
                  <a:srgbClr val="C00000"/>
                </a:solidFill>
              </a:rPr>
              <a:t>é</a:t>
            </a:r>
            <a:r>
              <a:rPr lang="en-US" sz="4000" b="1" dirty="0"/>
              <a:t>, </a:t>
            </a:r>
            <a:r>
              <a:rPr lang="en-US" sz="4000" b="1" dirty="0" err="1"/>
              <a:t>b</a:t>
            </a:r>
            <a:r>
              <a:rPr lang="en-US" sz="4000" b="1" dirty="0" err="1">
                <a:solidFill>
                  <a:srgbClr val="C00000"/>
                </a:solidFill>
              </a:rPr>
              <a:t>é</a:t>
            </a:r>
            <a:r>
              <a:rPr lang="en-US" sz="4000" b="1" dirty="0" err="1"/>
              <a:t>b</a:t>
            </a:r>
            <a:r>
              <a:rPr lang="en-US" sz="4000" b="1" dirty="0" err="1">
                <a:solidFill>
                  <a:srgbClr val="C00000"/>
                </a:solidFill>
              </a:rPr>
              <a:t>é</a:t>
            </a:r>
            <a:endParaRPr lang="en-US" sz="4000" b="1" dirty="0">
              <a:solidFill>
                <a:srgbClr val="C00000"/>
              </a:solidFill>
            </a:endParaRPr>
          </a:p>
          <a:p>
            <a:r>
              <a:rPr lang="fr-FR" sz="4000" b="1" dirty="0">
                <a:solidFill>
                  <a:schemeClr val="tx1"/>
                </a:solidFill>
              </a:rPr>
              <a:t>m</a:t>
            </a:r>
            <a:r>
              <a:rPr lang="en-US" sz="4000" b="1" dirty="0" err="1">
                <a:solidFill>
                  <a:srgbClr val="C00000"/>
                </a:solidFill>
              </a:rPr>
              <a:t>é</a:t>
            </a:r>
            <a:r>
              <a:rPr lang="en-US" sz="4000" b="1" dirty="0" err="1">
                <a:solidFill>
                  <a:schemeClr val="tx1"/>
                </a:solidFill>
              </a:rPr>
              <a:t>l</a:t>
            </a:r>
            <a:r>
              <a:rPr lang="en-US" sz="4000" b="1" dirty="0" err="1">
                <a:solidFill>
                  <a:srgbClr val="C00000"/>
                </a:solidFill>
              </a:rPr>
              <a:t>é</a:t>
            </a:r>
            <a:r>
              <a:rPr lang="en-US" sz="4000" b="1" dirty="0"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s</a:t>
            </a:r>
            <a:r>
              <a:rPr lang="en-US" sz="4000" b="1" dirty="0" err="1">
                <a:solidFill>
                  <a:srgbClr val="C00000"/>
                </a:solidFill>
              </a:rPr>
              <a:t>é</a:t>
            </a:r>
            <a:r>
              <a:rPr lang="en-US" sz="4000" b="1" dirty="0"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k</a:t>
            </a:r>
            <a:r>
              <a:rPr lang="en-US" sz="4000" b="1" dirty="0" err="1">
                <a:solidFill>
                  <a:srgbClr val="C00000"/>
                </a:solidFill>
              </a:rPr>
              <a:t>é</a:t>
            </a:r>
            <a:r>
              <a:rPr lang="en-US" sz="4000" b="1" dirty="0" err="1">
                <a:solidFill>
                  <a:schemeClr val="tx1"/>
                </a:solidFill>
              </a:rPr>
              <a:t>l</a:t>
            </a:r>
            <a:r>
              <a:rPr lang="en-US" sz="4000" b="1" dirty="0" err="1">
                <a:solidFill>
                  <a:srgbClr val="C00000"/>
                </a:solidFill>
              </a:rPr>
              <a:t>é</a:t>
            </a:r>
            <a:r>
              <a:rPr lang="en-US" sz="4000" b="1" dirty="0"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l</a:t>
            </a:r>
            <a:r>
              <a:rPr lang="en-US" sz="4000" b="1" dirty="0" err="1">
                <a:solidFill>
                  <a:srgbClr val="C00000"/>
                </a:solidFill>
              </a:rPr>
              <a:t>é</a:t>
            </a:r>
            <a:r>
              <a:rPr lang="en-US" sz="4000" b="1" dirty="0" err="1">
                <a:solidFill>
                  <a:schemeClr val="tx1"/>
                </a:solidFill>
              </a:rPr>
              <a:t>l</a:t>
            </a:r>
            <a:r>
              <a:rPr lang="en-US" sz="4000" b="1" dirty="0" err="1">
                <a:solidFill>
                  <a:srgbClr val="C00000"/>
                </a:solidFill>
              </a:rPr>
              <a:t>é</a:t>
            </a: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117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92E9-73CC-458C-83D3-56A7B240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5421" y="66386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2. Accent grave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7EC87-D5A1-4611-AFEA-37CA8DF74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7956205" cy="3777622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C00000"/>
                </a:solidFill>
              </a:rPr>
              <a:t>è, </a:t>
            </a:r>
            <a:r>
              <a:rPr lang="fr-FR" sz="4000" b="1" dirty="0">
                <a:solidFill>
                  <a:srgbClr val="7030A0"/>
                </a:solidFill>
              </a:rPr>
              <a:t>à, ù</a:t>
            </a:r>
            <a:endParaRPr lang="en-US" sz="4000" b="1" dirty="0">
              <a:solidFill>
                <a:srgbClr val="7030A0"/>
              </a:solidFill>
            </a:endParaRPr>
          </a:p>
          <a:p>
            <a:r>
              <a:rPr lang="fr-FR" sz="4000" b="1" dirty="0"/>
              <a:t>p</a:t>
            </a:r>
            <a:r>
              <a:rPr lang="fr-FR" sz="4000" b="1" dirty="0">
                <a:solidFill>
                  <a:srgbClr val="C00000"/>
                </a:solidFill>
              </a:rPr>
              <a:t>è</a:t>
            </a:r>
            <a:r>
              <a:rPr lang="fr-FR" sz="4000" b="1" dirty="0"/>
              <a:t>re</a:t>
            </a:r>
            <a:r>
              <a:rPr lang="en-US" sz="4000" b="1" dirty="0"/>
              <a:t>, </a:t>
            </a:r>
            <a:r>
              <a:rPr lang="en-US" sz="4000" b="1" dirty="0" err="1"/>
              <a:t>m</a:t>
            </a:r>
            <a:r>
              <a:rPr lang="en-US" sz="4000" b="1" dirty="0" err="1">
                <a:solidFill>
                  <a:srgbClr val="C00000"/>
                </a:solidFill>
              </a:rPr>
              <a:t>è</a:t>
            </a:r>
            <a:r>
              <a:rPr lang="en-US" sz="4000" b="1" dirty="0" err="1"/>
              <a:t>re</a:t>
            </a:r>
            <a:r>
              <a:rPr lang="en-US" sz="4000" b="1" dirty="0"/>
              <a:t>, fr</a:t>
            </a:r>
            <a:r>
              <a:rPr lang="en-US" sz="4000" b="1" dirty="0">
                <a:solidFill>
                  <a:srgbClr val="C00000"/>
                </a:solidFill>
              </a:rPr>
              <a:t>è</a:t>
            </a:r>
            <a:r>
              <a:rPr lang="en-US" sz="4000" b="1" dirty="0"/>
              <a:t>re</a:t>
            </a:r>
          </a:p>
          <a:p>
            <a:r>
              <a:rPr lang="fr-FR" sz="4000" b="1" dirty="0">
                <a:solidFill>
                  <a:schemeClr val="tx1"/>
                </a:solidFill>
              </a:rPr>
              <a:t>m</a:t>
            </a:r>
            <a:r>
              <a:rPr lang="en-US" sz="4000" b="1" dirty="0" err="1">
                <a:solidFill>
                  <a:srgbClr val="C00000"/>
                </a:solidFill>
              </a:rPr>
              <a:t>é</a:t>
            </a:r>
            <a:r>
              <a:rPr lang="en-US" sz="4000" b="1" dirty="0" err="1">
                <a:solidFill>
                  <a:schemeClr val="tx1"/>
                </a:solidFill>
              </a:rPr>
              <a:t>la</a:t>
            </a:r>
            <a:r>
              <a:rPr lang="en-US" sz="4000" b="1" dirty="0">
                <a:solidFill>
                  <a:srgbClr val="C00000"/>
                </a:solidFill>
              </a:rPr>
              <a:t> </a:t>
            </a:r>
            <a:r>
              <a:rPr lang="en-US" sz="4000" b="1" dirty="0">
                <a:solidFill>
                  <a:schemeClr val="tx1"/>
                </a:solidFill>
              </a:rPr>
              <a:t>≠</a:t>
            </a:r>
            <a:r>
              <a:rPr lang="en-US" sz="4000" b="1" dirty="0">
                <a:solidFill>
                  <a:srgbClr val="C00000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m</a:t>
            </a:r>
            <a:r>
              <a:rPr lang="en-US" sz="4000" b="1" dirty="0" err="1">
                <a:solidFill>
                  <a:srgbClr val="C00000"/>
                </a:solidFill>
              </a:rPr>
              <a:t>è</a:t>
            </a:r>
            <a:r>
              <a:rPr lang="en-US" sz="4000" b="1" dirty="0" err="1">
                <a:solidFill>
                  <a:schemeClr val="tx1"/>
                </a:solidFill>
              </a:rPr>
              <a:t>la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738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92E9-73CC-458C-83D3-56A7B240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5421" y="66386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3. Accent </a:t>
            </a:r>
            <a:r>
              <a:rPr lang="en-US" sz="4400" b="1" dirty="0" err="1"/>
              <a:t>circonflexe</a:t>
            </a:r>
            <a:endParaRPr lang="en-US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7EC87-D5A1-4611-AFEA-37CA8DF74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7956205" cy="3777622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C00000"/>
                </a:solidFill>
              </a:rPr>
              <a:t>â, ê, î, ô, û</a:t>
            </a:r>
            <a:endParaRPr lang="en-US" sz="4000" b="1" dirty="0">
              <a:solidFill>
                <a:srgbClr val="7030A0"/>
              </a:solidFill>
            </a:endParaRPr>
          </a:p>
          <a:p>
            <a:r>
              <a:rPr lang="fr-FR" sz="4000" b="1" dirty="0" err="1"/>
              <a:t>h</a:t>
            </a:r>
            <a:r>
              <a:rPr lang="fr-FR" sz="4000" b="1" dirty="0" err="1">
                <a:solidFill>
                  <a:srgbClr val="7030A0"/>
                </a:solidFill>
              </a:rPr>
              <a:t>os</a:t>
            </a:r>
            <a:r>
              <a:rPr lang="fr-FR" sz="4000" b="1" dirty="0" err="1"/>
              <a:t>pital</a:t>
            </a:r>
            <a:r>
              <a:rPr lang="fr-FR" sz="4000" b="1" dirty="0"/>
              <a:t> – h</a:t>
            </a:r>
            <a:r>
              <a:rPr lang="fr-FR" sz="4000" b="1" dirty="0">
                <a:solidFill>
                  <a:srgbClr val="C00000"/>
                </a:solidFill>
              </a:rPr>
              <a:t>ô</a:t>
            </a:r>
            <a:r>
              <a:rPr lang="fr-FR" sz="4000" b="1" dirty="0"/>
              <a:t>pital</a:t>
            </a:r>
          </a:p>
          <a:p>
            <a:r>
              <a:rPr lang="fr-FR" sz="4000" b="1" dirty="0" err="1">
                <a:solidFill>
                  <a:schemeClr val="tx1"/>
                </a:solidFill>
              </a:rPr>
              <a:t>h</a:t>
            </a:r>
            <a:r>
              <a:rPr lang="fr-FR" sz="4000" b="1" dirty="0" err="1">
                <a:solidFill>
                  <a:srgbClr val="7030A0"/>
                </a:solidFill>
              </a:rPr>
              <a:t>os</a:t>
            </a:r>
            <a:r>
              <a:rPr lang="fr-FR" sz="4000" b="1" dirty="0" err="1">
                <a:solidFill>
                  <a:schemeClr val="tx1"/>
                </a:solidFill>
              </a:rPr>
              <a:t>tel</a:t>
            </a:r>
            <a:r>
              <a:rPr lang="fr-FR" sz="4000" b="1" dirty="0">
                <a:solidFill>
                  <a:schemeClr val="tx1"/>
                </a:solidFill>
              </a:rPr>
              <a:t> – h</a:t>
            </a:r>
            <a:r>
              <a:rPr lang="fr-FR" sz="4000" b="1" dirty="0">
                <a:solidFill>
                  <a:srgbClr val="C00000"/>
                </a:solidFill>
              </a:rPr>
              <a:t>ô</a:t>
            </a:r>
            <a:r>
              <a:rPr lang="fr-FR" sz="4000" b="1" dirty="0">
                <a:solidFill>
                  <a:schemeClr val="tx1"/>
                </a:solidFill>
              </a:rPr>
              <a:t>tel</a:t>
            </a:r>
          </a:p>
          <a:p>
            <a:r>
              <a:rPr lang="fr-FR" sz="4000" b="1" dirty="0" err="1">
                <a:solidFill>
                  <a:schemeClr val="tx1"/>
                </a:solidFill>
              </a:rPr>
              <a:t>for</a:t>
            </a:r>
            <a:r>
              <a:rPr lang="fr-FR" sz="4000" b="1" dirty="0" err="1">
                <a:solidFill>
                  <a:srgbClr val="7030A0"/>
                </a:solidFill>
              </a:rPr>
              <a:t>es</a:t>
            </a:r>
            <a:r>
              <a:rPr lang="fr-FR" sz="4000" b="1" dirty="0" err="1">
                <a:solidFill>
                  <a:schemeClr val="tx1"/>
                </a:solidFill>
              </a:rPr>
              <a:t>t</a:t>
            </a:r>
            <a:r>
              <a:rPr lang="fr-FR" sz="4000" b="1" dirty="0">
                <a:solidFill>
                  <a:schemeClr val="tx1"/>
                </a:solidFill>
              </a:rPr>
              <a:t> - for</a:t>
            </a:r>
            <a:r>
              <a:rPr lang="fr-FR" sz="4000" b="1" dirty="0">
                <a:solidFill>
                  <a:srgbClr val="C00000"/>
                </a:solidFill>
              </a:rPr>
              <a:t>ê</a:t>
            </a:r>
            <a:r>
              <a:rPr lang="fr-FR" sz="4000" b="1" dirty="0">
                <a:solidFill>
                  <a:schemeClr val="tx1"/>
                </a:solidFill>
              </a:rPr>
              <a:t>t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824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92E9-73CC-458C-83D3-56A7B240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5421" y="66386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4. Le </a:t>
            </a:r>
            <a:r>
              <a:rPr lang="en-US" sz="4400" b="1" dirty="0" err="1"/>
              <a:t>tréma</a:t>
            </a:r>
            <a:endParaRPr lang="en-US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7EC87-D5A1-4611-AFEA-37CA8DF74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7956205" cy="3777622"/>
          </a:xfrm>
        </p:spPr>
        <p:txBody>
          <a:bodyPr>
            <a:normAutofit fontScale="92500" lnSpcReduction="10000"/>
          </a:bodyPr>
          <a:lstStyle/>
          <a:p>
            <a:r>
              <a:rPr lang="fr-FR" sz="4000" b="1" dirty="0">
                <a:solidFill>
                  <a:srgbClr val="C00000"/>
                </a:solidFill>
              </a:rPr>
              <a:t>ä, ë, ï, ö, ü</a:t>
            </a:r>
            <a:endParaRPr lang="en-US" sz="4000" b="1" dirty="0">
              <a:solidFill>
                <a:srgbClr val="7030A0"/>
              </a:solidFill>
            </a:endParaRPr>
          </a:p>
          <a:p>
            <a:r>
              <a:rPr lang="fr-FR" sz="4000" b="1" dirty="0"/>
              <a:t>ai – </a:t>
            </a:r>
            <a:r>
              <a:rPr lang="fr-FR" sz="4000" b="1" dirty="0">
                <a:solidFill>
                  <a:srgbClr val="00B050"/>
                </a:solidFill>
              </a:rPr>
              <a:t>a</a:t>
            </a:r>
            <a:r>
              <a:rPr lang="fr-FR" sz="4000" b="1" dirty="0">
                <a:solidFill>
                  <a:srgbClr val="0070C0"/>
                </a:solidFill>
              </a:rPr>
              <a:t>i</a:t>
            </a:r>
          </a:p>
          <a:p>
            <a:r>
              <a:rPr lang="fr-FR" sz="4000" b="1" dirty="0">
                <a:solidFill>
                  <a:schemeClr val="tx1"/>
                </a:solidFill>
              </a:rPr>
              <a:t>Na</a:t>
            </a:r>
            <a:r>
              <a:rPr lang="fr-FR" sz="4000" b="1" dirty="0">
                <a:solidFill>
                  <a:srgbClr val="C00000"/>
                </a:solidFill>
              </a:rPr>
              <a:t>ï</a:t>
            </a:r>
            <a:r>
              <a:rPr lang="fr-FR" sz="4000" b="1" dirty="0">
                <a:solidFill>
                  <a:schemeClr val="tx1"/>
                </a:solidFill>
              </a:rPr>
              <a:t>f</a:t>
            </a:r>
          </a:p>
          <a:p>
            <a:r>
              <a:rPr lang="fr-FR" sz="4000" b="1" dirty="0">
                <a:solidFill>
                  <a:schemeClr val="tx1"/>
                </a:solidFill>
              </a:rPr>
              <a:t>No</a:t>
            </a:r>
            <a:r>
              <a:rPr lang="fr-FR" sz="4000" b="1" dirty="0">
                <a:solidFill>
                  <a:srgbClr val="C00000"/>
                </a:solidFill>
              </a:rPr>
              <a:t>ë</a:t>
            </a:r>
            <a:r>
              <a:rPr lang="fr-FR" sz="4000" b="1" dirty="0">
                <a:solidFill>
                  <a:schemeClr val="tx1"/>
                </a:solidFill>
              </a:rPr>
              <a:t>l</a:t>
            </a:r>
          </a:p>
          <a:p>
            <a:r>
              <a:rPr lang="fr-FR" sz="4000" b="1" dirty="0">
                <a:solidFill>
                  <a:schemeClr val="tx1"/>
                </a:solidFill>
              </a:rPr>
              <a:t>Duba</a:t>
            </a:r>
            <a:r>
              <a:rPr lang="fr-FR" sz="4000" b="1" dirty="0">
                <a:solidFill>
                  <a:srgbClr val="C00000"/>
                </a:solidFill>
              </a:rPr>
              <a:t>ï</a:t>
            </a:r>
          </a:p>
          <a:p>
            <a:r>
              <a:rPr lang="fr-FR" sz="4000" b="1" dirty="0">
                <a:solidFill>
                  <a:schemeClr val="tx1"/>
                </a:solidFill>
              </a:rPr>
              <a:t>Tha</a:t>
            </a:r>
            <a:r>
              <a:rPr lang="fr-FR" sz="4000" b="1" dirty="0">
                <a:solidFill>
                  <a:srgbClr val="C00000"/>
                </a:solidFill>
              </a:rPr>
              <a:t>ï</a:t>
            </a:r>
            <a:r>
              <a:rPr lang="fr-FR" sz="4000" b="1" dirty="0">
                <a:solidFill>
                  <a:schemeClr val="tx1"/>
                </a:solidFill>
              </a:rPr>
              <a:t>lande</a:t>
            </a:r>
          </a:p>
        </p:txBody>
      </p:sp>
    </p:spTree>
    <p:extLst>
      <p:ext uri="{BB962C8B-B14F-4D97-AF65-F5344CB8AC3E}">
        <p14:creationId xmlns:p14="http://schemas.microsoft.com/office/powerpoint/2010/main" val="4025483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92E9-73CC-458C-83D3-56A7B240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5421" y="66386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5. La </a:t>
            </a:r>
            <a:r>
              <a:rPr lang="en-US" sz="4400" b="1" dirty="0" err="1"/>
              <a:t>cédille</a:t>
            </a:r>
            <a:endParaRPr lang="en-US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7EC87-D5A1-4611-AFEA-37CA8DF74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7956205" cy="3777622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C00000"/>
                </a:solidFill>
              </a:rPr>
              <a:t>Ç, ç </a:t>
            </a:r>
            <a:endParaRPr lang="en-US" sz="4000" b="1" dirty="0">
              <a:solidFill>
                <a:srgbClr val="7030A0"/>
              </a:solidFill>
            </a:endParaRPr>
          </a:p>
          <a:p>
            <a:r>
              <a:rPr lang="fr-FR" sz="4000" b="1" dirty="0"/>
              <a:t>ca va – </a:t>
            </a:r>
            <a:r>
              <a:rPr lang="fr-FR" sz="4000" b="1" dirty="0">
                <a:solidFill>
                  <a:srgbClr val="C00000"/>
                </a:solidFill>
              </a:rPr>
              <a:t>ç</a:t>
            </a:r>
            <a:r>
              <a:rPr lang="fr-FR" sz="4000" b="1" dirty="0"/>
              <a:t>a va</a:t>
            </a:r>
          </a:p>
          <a:p>
            <a:r>
              <a:rPr lang="fr-FR" sz="4000" b="1" dirty="0">
                <a:solidFill>
                  <a:srgbClr val="7030A0"/>
                </a:solidFill>
              </a:rPr>
              <a:t>C cédille</a:t>
            </a:r>
          </a:p>
        </p:txBody>
      </p:sp>
    </p:spTree>
    <p:extLst>
      <p:ext uri="{BB962C8B-B14F-4D97-AF65-F5344CB8AC3E}">
        <p14:creationId xmlns:p14="http://schemas.microsoft.com/office/powerpoint/2010/main" val="254244512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28</TotalTime>
  <Words>124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Accents</vt:lpstr>
      <vt:lpstr>L’accent – Les accents </vt:lpstr>
      <vt:lpstr>5 Accents </vt:lpstr>
      <vt:lpstr>1. Accent aigu</vt:lpstr>
      <vt:lpstr>2. Accent grave</vt:lpstr>
      <vt:lpstr>3. Accent circonflexe</vt:lpstr>
      <vt:lpstr>4. Le tréma</vt:lpstr>
      <vt:lpstr>5. La cédille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Accents</dc:title>
  <dc:creator>User</dc:creator>
  <cp:lastModifiedBy>dell</cp:lastModifiedBy>
  <cp:revision>10</cp:revision>
  <dcterms:created xsi:type="dcterms:W3CDTF">2021-02-28T10:53:45Z</dcterms:created>
  <dcterms:modified xsi:type="dcterms:W3CDTF">2024-02-21T05:45:49Z</dcterms:modified>
</cp:coreProperties>
</file>