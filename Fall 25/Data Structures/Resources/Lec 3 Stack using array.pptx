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8" r:id="rId3"/>
    <p:sldId id="288" r:id="rId4"/>
    <p:sldId id="289" r:id="rId5"/>
    <p:sldId id="291" r:id="rId6"/>
    <p:sldId id="290" r:id="rId7"/>
    <p:sldId id="292" r:id="rId8"/>
    <p:sldId id="293" r:id="rId9"/>
    <p:sldId id="294" r:id="rId10"/>
    <p:sldId id="295" r:id="rId11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>
      <p:cViewPr>
        <p:scale>
          <a:sx n="120" d="100"/>
          <a:sy n="120" d="100"/>
        </p:scale>
        <p:origin x="-236" y="-168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/>
          </p:cNvSpPr>
          <p:nvPr userDrawn="1"/>
        </p:nvSpPr>
        <p:spPr bwMode="auto">
          <a:xfrm>
            <a:off x="0" y="5181600"/>
            <a:ext cx="9144000" cy="1682750"/>
          </a:xfrm>
          <a:custGeom>
            <a:avLst/>
            <a:gdLst>
              <a:gd name="T0" fmla="*/ 0 w 5760"/>
              <a:gd name="T1" fmla="*/ 1347717 h 1331"/>
              <a:gd name="T2" fmla="*/ 0 w 5760"/>
              <a:gd name="T3" fmla="*/ 1682750 h 1331"/>
              <a:gd name="T4" fmla="*/ 9144000 w 5760"/>
              <a:gd name="T5" fmla="*/ 1682750 h 1331"/>
              <a:gd name="T6" fmla="*/ 9144000 w 5760"/>
              <a:gd name="T7" fmla="*/ 0 h 1331"/>
              <a:gd name="T8" fmla="*/ 0 w 5760"/>
              <a:gd name="T9" fmla="*/ 1347717 h 13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0"/>
              <a:gd name="T16" fmla="*/ 0 h 1331"/>
              <a:gd name="T17" fmla="*/ 5760 w 5760"/>
              <a:gd name="T18" fmla="*/ 1331 h 13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18900000" scaled="1"/>
          </a:gradFill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44450" dir="16200000" algn="ctr" rotWithShape="0">
              <a:srgbClr val="000000">
                <a:alpha val="34998"/>
              </a:srgb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reeform 4"/>
          <p:cNvSpPr>
            <a:spLocks/>
          </p:cNvSpPr>
          <p:nvPr userDrawn="1"/>
        </p:nvSpPr>
        <p:spPr bwMode="auto">
          <a:xfrm>
            <a:off x="8153400" y="-9525"/>
            <a:ext cx="990600" cy="6858000"/>
          </a:xfrm>
          <a:custGeom>
            <a:avLst/>
            <a:gdLst>
              <a:gd name="T0" fmla="*/ 512689843 w 1914"/>
              <a:gd name="T1" fmla="*/ 22587518 h 4329"/>
              <a:gd name="T2" fmla="*/ 512689843 w 1914"/>
              <a:gd name="T3" fmla="*/ 2147483647 h 4329"/>
              <a:gd name="T4" fmla="*/ 54643960 w 1914"/>
              <a:gd name="T5" fmla="*/ 2147483647 h 4329"/>
              <a:gd name="T6" fmla="*/ 0 w 1914"/>
              <a:gd name="T7" fmla="*/ 0 h 4329"/>
              <a:gd name="T8" fmla="*/ 512689843 w 1914"/>
              <a:gd name="T9" fmla="*/ 22587518 h 43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002060"/>
          </a:solidFill>
          <a:ln w="19050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50800" dir="10800000" algn="ctr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r">
              <a:defRPr sz="2800" b="1">
                <a:latin typeface="Bell MT" panose="02020503060305020303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Bell MT" panose="020205030603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FB7D4-92B1-48C8-B71A-555FDFE19305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EBECF-D2EF-480A-B507-648CF8F3D3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1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E556-9546-434A-BB7D-00167C88558E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FF6-5F62-4C4D-B2DF-85D8F01ACD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AFB8F-2009-4073-A88E-5EA5406EC987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9AF39-4E11-4E00-A6B0-2CF9161F1B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8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1600"/>
            <a:ext cx="3867150" cy="4805363"/>
          </a:xfr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67150" cy="4805363"/>
          </a:xfr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5C195-7DC7-463E-9252-BC1496CEDDB9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E6642-27DB-4832-A618-CD76C5B06D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1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7778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19200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119312"/>
            <a:ext cx="3868737" cy="40703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19200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19312"/>
            <a:ext cx="3887788" cy="40703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F6082-80A8-4E0C-9C05-AC09826CFDC1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5934F-3109-486D-861D-167DCA73B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1EEA4-9642-46FF-85AB-7546FBC76B85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61E8E-6FDC-43E6-92EE-6C0B7B713B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8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04AC82-6F94-4A78-8950-7821C0B5266F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6CCFC-20DB-4647-A615-AFA3DF9C5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1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45F7FB-DD9A-4F0D-A751-4A68536633EE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F3637-B5BF-4C9E-B9D4-0D2B7DABF5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24605-142B-445A-8EC6-2705AB697402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880E6-24C2-4CDF-8C68-E5423EDC40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8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8F901-EC18-4C5A-B84C-08ED44FF200A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5A91D-339E-4039-BEB2-C5C4B3FAC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9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82713"/>
            <a:ext cx="7886700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A9302D-D501-48E9-8C22-D2E3CCA1E6F6}" type="datetimeFigureOut">
              <a:rPr lang="en-US"/>
              <a:pPr>
                <a:defRPr/>
              </a:pPr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0D89A1D-DFBA-41DE-952D-4E6D643984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Freeform 7"/>
          <p:cNvSpPr/>
          <p:nvPr userDrawn="1"/>
        </p:nvSpPr>
        <p:spPr>
          <a:xfrm>
            <a:off x="0" y="-152400"/>
            <a:ext cx="9144000" cy="228600"/>
          </a:xfrm>
          <a:custGeom>
            <a:avLst/>
            <a:gdLst>
              <a:gd name="connsiteX0" fmla="*/ 0 w 9144000"/>
              <a:gd name="connsiteY0" fmla="*/ 0 h 990600"/>
              <a:gd name="connsiteX1" fmla="*/ 9144000 w 9144000"/>
              <a:gd name="connsiteY1" fmla="*/ 0 h 990600"/>
              <a:gd name="connsiteX2" fmla="*/ 9144000 w 9144000"/>
              <a:gd name="connsiteY2" fmla="*/ 990600 h 990600"/>
              <a:gd name="connsiteX3" fmla="*/ 0 w 9144000"/>
              <a:gd name="connsiteY3" fmla="*/ 990600 h 990600"/>
              <a:gd name="connsiteX4" fmla="*/ 0 w 9144000"/>
              <a:gd name="connsiteY4" fmla="*/ 0 h 990600"/>
              <a:gd name="connsiteX0" fmla="*/ 0 w 9144000"/>
              <a:gd name="connsiteY0" fmla="*/ 0 h 990600"/>
              <a:gd name="connsiteX1" fmla="*/ 4607626 w 9144000"/>
              <a:gd name="connsiteY1" fmla="*/ 215735 h 990600"/>
              <a:gd name="connsiteX2" fmla="*/ 9144000 w 9144000"/>
              <a:gd name="connsiteY2" fmla="*/ 0 h 990600"/>
              <a:gd name="connsiteX3" fmla="*/ 9144000 w 9144000"/>
              <a:gd name="connsiteY3" fmla="*/ 990600 h 990600"/>
              <a:gd name="connsiteX4" fmla="*/ 0 w 9144000"/>
              <a:gd name="connsiteY4" fmla="*/ 990600 h 990600"/>
              <a:gd name="connsiteX5" fmla="*/ 0 w 9144000"/>
              <a:gd name="connsiteY5" fmla="*/ 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990600">
                <a:moveTo>
                  <a:pt x="0" y="0"/>
                </a:moveTo>
                <a:lnTo>
                  <a:pt x="4607626" y="215735"/>
                </a:lnTo>
                <a:lnTo>
                  <a:pt x="9144000" y="0"/>
                </a:lnTo>
                <a:lnTo>
                  <a:pt x="91440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3600" smtClean="0"/>
              <a:t>Data Structures and Algorithms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ea typeface="Geneva" charset="-128"/>
              </a:rPr>
              <a:t>Lecture 05</a:t>
            </a:r>
            <a:endParaRPr lang="en-US" altLang="en-US" dirty="0">
              <a:ea typeface="Geneva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Outlines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Stack</a:t>
            </a:r>
          </a:p>
          <a:p>
            <a:pPr lvl="1"/>
            <a:r>
              <a:rPr lang="en-US" altLang="en-US" dirty="0" smtClean="0"/>
              <a:t>Creating Stack</a:t>
            </a:r>
          </a:p>
          <a:p>
            <a:pPr lvl="1"/>
            <a:r>
              <a:rPr lang="en-US" altLang="en-US" dirty="0" smtClean="0"/>
              <a:t>Push and Pop operation</a:t>
            </a:r>
          </a:p>
          <a:p>
            <a:pPr lvl="1"/>
            <a:r>
              <a:rPr lang="en-US" altLang="en-US" dirty="0" smtClean="0"/>
              <a:t>Dynamic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Stack: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Stack is a data structure that is based on </a:t>
            </a:r>
            <a:r>
              <a:rPr lang="en-US" b="1" dirty="0" smtClean="0"/>
              <a:t>Last In First Out (LIFO) </a:t>
            </a:r>
            <a:r>
              <a:rPr lang="en-US" dirty="0" smtClean="0"/>
              <a:t>i.e. elements that are inserted first will be removed at the end and the elements that are inserted last will be removed first. </a:t>
            </a:r>
          </a:p>
          <a:p>
            <a:pPr algn="just"/>
            <a:r>
              <a:rPr lang="en-US" dirty="0" smtClean="0"/>
              <a:t>A</a:t>
            </a:r>
            <a:r>
              <a:rPr lang="en-US" b="1" dirty="0" smtClean="0"/>
              <a:t> stack</a:t>
            </a:r>
            <a:r>
              <a:rPr lang="en-US" dirty="0" smtClean="0"/>
              <a:t> or LIFO (last in, first out) is an </a:t>
            </a:r>
            <a:r>
              <a:rPr lang="en-US" b="1" dirty="0" smtClean="0">
                <a:solidFill>
                  <a:srgbClr val="0000FF"/>
                </a:solidFill>
              </a:rPr>
              <a:t>abstract data type</a:t>
            </a:r>
            <a:r>
              <a:rPr lang="en-US" dirty="0" smtClean="0"/>
              <a:t> that serves as a collection of elements, with two principal operations: push, which adds an element to the collection, and pop, which removes the last element that was added.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7519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Stack operations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ush()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Push item to the top of the stack.</a:t>
            </a:r>
          </a:p>
          <a:p>
            <a:pPr lvl="1"/>
            <a:r>
              <a:rPr lang="en-US" dirty="0" smtClean="0"/>
              <a:t>Pop()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Pop the top item from the stack.</a:t>
            </a:r>
          </a:p>
          <a:p>
            <a:pPr lvl="1"/>
            <a:r>
              <a:rPr lang="en-US" dirty="0" smtClean="0"/>
              <a:t>Top()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Return item at the top without removing/pop it</a:t>
            </a:r>
          </a:p>
          <a:p>
            <a:pPr lvl="1"/>
            <a:r>
              <a:rPr lang="en-US" dirty="0" err="1" smtClean="0"/>
              <a:t>isEmpty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Returns true if stack is empty. </a:t>
            </a:r>
          </a:p>
        </p:txBody>
      </p:sp>
    </p:spTree>
    <p:extLst>
      <p:ext uri="{BB962C8B-B14F-4D97-AF65-F5344CB8AC3E}">
        <p14:creationId xmlns:p14="http://schemas.microsoft.com/office/powerpoint/2010/main" val="142251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Push() operation</a:t>
            </a:r>
            <a:endParaRPr lang="en-US" dirty="0"/>
          </a:p>
        </p:txBody>
      </p:sp>
      <p:pic>
        <p:nvPicPr>
          <p:cNvPr id="4" name="Picture 13" descr="Fig03-0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4"/>
          <a:stretch/>
        </p:blipFill>
        <p:spPr bwMode="auto">
          <a:xfrm>
            <a:off x="1752599" y="2695575"/>
            <a:ext cx="6780679" cy="348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45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Pop() operation</a:t>
            </a:r>
            <a:endParaRPr lang="en-US" dirty="0"/>
          </a:p>
        </p:txBody>
      </p:sp>
      <p:pic>
        <p:nvPicPr>
          <p:cNvPr id="4" name="Picture 12" descr="Fig03-0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9"/>
          <a:stretch/>
        </p:blipFill>
        <p:spPr bwMode="auto">
          <a:xfrm>
            <a:off x="1295400" y="2667000"/>
            <a:ext cx="7219950" cy="332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34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op() operation</a:t>
            </a:r>
            <a:endParaRPr lang="en-US" dirty="0"/>
          </a:p>
        </p:txBody>
      </p:sp>
      <p:pic>
        <p:nvPicPr>
          <p:cNvPr id="4" name="Picture 12" descr="Fig03-0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9" t="21083" r="-613" b="-21083"/>
          <a:stretch/>
        </p:blipFill>
        <p:spPr bwMode="auto">
          <a:xfrm>
            <a:off x="1219200" y="3276600"/>
            <a:ext cx="7291668" cy="325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10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Operations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12" descr="Fig03-0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7" r="3409" b="2576"/>
          <a:stretch/>
        </p:blipFill>
        <p:spPr bwMode="auto">
          <a:xfrm>
            <a:off x="3725863" y="-76200"/>
            <a:ext cx="5418137" cy="693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36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Stack: Array based Implementation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</a:rPr>
              <a:t>#include&lt;</a:t>
            </a:r>
            <a:r>
              <a:rPr lang="en-US" sz="1800" dirty="0" err="1">
                <a:solidFill>
                  <a:srgbClr val="0000FF"/>
                </a:solidFill>
              </a:rPr>
              <a:t>iostream</a:t>
            </a:r>
            <a:r>
              <a:rPr lang="en-US" sz="1800" dirty="0">
                <a:solidFill>
                  <a:srgbClr val="0000FF"/>
                </a:solidFill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</a:rPr>
              <a:t>using namespace </a:t>
            </a:r>
            <a:r>
              <a:rPr lang="en-US" sz="1800" dirty="0" err="1">
                <a:solidFill>
                  <a:srgbClr val="0000FF"/>
                </a:solidFill>
              </a:rPr>
              <a:t>std</a:t>
            </a:r>
            <a:r>
              <a:rPr lang="en-US" sz="1800" dirty="0">
                <a:solidFill>
                  <a:srgbClr val="0000FF"/>
                </a:solidFill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rgbClr val="00B050"/>
                </a:solidFill>
              </a:rPr>
              <a:t>class</a:t>
            </a:r>
            <a:r>
              <a:rPr lang="en-US" sz="1800" dirty="0"/>
              <a:t> Stack{</a:t>
            </a:r>
          </a:p>
          <a:p>
            <a:pPr marL="174625">
              <a:spcBef>
                <a:spcPts val="0"/>
              </a:spcBef>
            </a:pPr>
            <a:r>
              <a:rPr lang="en-US" sz="1800" b="1" dirty="0">
                <a:solidFill>
                  <a:srgbClr val="00B050"/>
                </a:solidFill>
              </a:rPr>
              <a:t>double</a:t>
            </a:r>
            <a:r>
              <a:rPr lang="en-US" sz="1800" dirty="0"/>
              <a:t>* array;</a:t>
            </a:r>
          </a:p>
          <a:p>
            <a:pPr marL="174625">
              <a:spcBef>
                <a:spcPts val="0"/>
              </a:spcBef>
            </a:pPr>
            <a:r>
              <a:rPr lang="en-US" sz="1800" b="1" dirty="0" err="1">
                <a:solidFill>
                  <a:srgbClr val="00B050"/>
                </a:solidFill>
              </a:rPr>
              <a:t>int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 err="1" smtClean="0"/>
              <a:t>topIndex</a:t>
            </a:r>
            <a:r>
              <a:rPr lang="en-US" sz="1800" dirty="0" smtClean="0"/>
              <a:t>;</a:t>
            </a:r>
            <a:endParaRPr lang="en-US" sz="1800" dirty="0"/>
          </a:p>
          <a:p>
            <a:pPr marL="174625">
              <a:spcBef>
                <a:spcPts val="0"/>
              </a:spcBef>
            </a:pPr>
            <a:r>
              <a:rPr lang="en-US" sz="1800" b="1" dirty="0" err="1">
                <a:solidFill>
                  <a:srgbClr val="00B050"/>
                </a:solidFill>
              </a:rPr>
              <a:t>int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/>
              <a:t>size</a:t>
            </a:r>
            <a:r>
              <a:rPr lang="en-US" sz="1800" dirty="0" smtClean="0"/>
              <a:t>;</a:t>
            </a:r>
          </a:p>
          <a:p>
            <a:pPr marL="174625">
              <a:spcBef>
                <a:spcPts val="0"/>
              </a:spcBef>
            </a:pPr>
            <a:r>
              <a:rPr lang="en-US" sz="1800" b="1" dirty="0"/>
              <a:t>p</a:t>
            </a:r>
            <a:r>
              <a:rPr lang="en-US" sz="1800" b="1" dirty="0" smtClean="0"/>
              <a:t>ublic</a:t>
            </a:r>
            <a:r>
              <a:rPr lang="en-US" sz="1800" dirty="0" smtClean="0"/>
              <a:t>:</a:t>
            </a:r>
            <a:endParaRPr lang="en-US" sz="1800" dirty="0"/>
          </a:p>
          <a:p>
            <a:pPr marL="174625">
              <a:spcBef>
                <a:spcPts val="0"/>
              </a:spcBef>
            </a:pPr>
            <a:r>
              <a:rPr lang="en-US" sz="1800" b="1" dirty="0" smtClean="0">
                <a:solidFill>
                  <a:srgbClr val="00B050"/>
                </a:solidFill>
              </a:rPr>
              <a:t>Stack</a:t>
            </a:r>
            <a:r>
              <a:rPr lang="en-US" sz="1800" dirty="0" smtClean="0"/>
              <a:t> (</a:t>
            </a:r>
            <a:r>
              <a:rPr lang="en-US" sz="1800" dirty="0" err="1"/>
              <a:t>int</a:t>
            </a:r>
            <a:r>
              <a:rPr lang="en-US" sz="1800" dirty="0"/>
              <a:t> size</a:t>
            </a:r>
            <a:r>
              <a:rPr lang="en-US" sz="1800" dirty="0" smtClean="0"/>
              <a:t>) {</a:t>
            </a:r>
            <a:endParaRPr lang="en-US" sz="1800" dirty="0"/>
          </a:p>
          <a:p>
            <a:pPr marL="349250">
              <a:spcBef>
                <a:spcPts val="0"/>
              </a:spcBef>
            </a:pPr>
            <a:r>
              <a:rPr lang="en-US" sz="1800" b="1" dirty="0">
                <a:solidFill>
                  <a:srgbClr val="00B050"/>
                </a:solidFill>
              </a:rPr>
              <a:t>double</a:t>
            </a:r>
            <a:r>
              <a:rPr lang="en-US" sz="1800" dirty="0"/>
              <a:t>* </a:t>
            </a:r>
            <a:r>
              <a:rPr lang="en-US" sz="1800" dirty="0" smtClean="0"/>
              <a:t>array=</a:t>
            </a:r>
            <a:r>
              <a:rPr lang="en-US" sz="1800" dirty="0" smtClean="0"/>
              <a:t>new </a:t>
            </a:r>
            <a:r>
              <a:rPr lang="en-US" sz="1800" dirty="0"/>
              <a:t>double[size];</a:t>
            </a:r>
          </a:p>
          <a:p>
            <a:pPr marL="349250">
              <a:spcBef>
                <a:spcPts val="0"/>
              </a:spcBef>
            </a:pPr>
            <a:r>
              <a:rPr lang="en-US" sz="1800" dirty="0" err="1" smtClean="0"/>
              <a:t>topIndex</a:t>
            </a:r>
            <a:r>
              <a:rPr lang="en-US" sz="1800" dirty="0" smtClean="0"/>
              <a:t>=0</a:t>
            </a:r>
            <a:r>
              <a:rPr lang="en-US" sz="1800" dirty="0"/>
              <a:t>;</a:t>
            </a:r>
          </a:p>
          <a:p>
            <a:pPr marL="174625">
              <a:spcBef>
                <a:spcPts val="0"/>
              </a:spcBef>
            </a:pPr>
            <a:r>
              <a:rPr lang="en-US" sz="1800" dirty="0"/>
              <a:t>}</a:t>
            </a:r>
          </a:p>
          <a:p>
            <a:pPr marL="174625">
              <a:spcBef>
                <a:spcPts val="0"/>
              </a:spcBef>
            </a:pPr>
            <a:r>
              <a:rPr lang="en-US" sz="1800" b="1" dirty="0">
                <a:solidFill>
                  <a:srgbClr val="00B050"/>
                </a:solidFill>
              </a:rPr>
              <a:t>void</a:t>
            </a:r>
            <a:r>
              <a:rPr lang="en-US" sz="1800" dirty="0"/>
              <a:t> push(double </a:t>
            </a:r>
            <a:r>
              <a:rPr lang="en-US" sz="1800" dirty="0" err="1"/>
              <a:t>val</a:t>
            </a:r>
            <a:r>
              <a:rPr lang="en-US" sz="1800" dirty="0" smtClean="0"/>
              <a:t>) {</a:t>
            </a:r>
            <a:endParaRPr lang="en-US" sz="1800" dirty="0"/>
          </a:p>
          <a:p>
            <a:pPr marL="349250">
              <a:spcBef>
                <a:spcPts val="0"/>
              </a:spcBef>
            </a:pPr>
            <a:r>
              <a:rPr lang="en-US" sz="1800" b="1" dirty="0">
                <a:solidFill>
                  <a:srgbClr val="00B050"/>
                </a:solidFill>
              </a:rPr>
              <a:t>i</a:t>
            </a:r>
            <a:r>
              <a:rPr lang="en-US" sz="1800" b="1" dirty="0" smtClean="0">
                <a:solidFill>
                  <a:srgbClr val="00B050"/>
                </a:solidFill>
              </a:rPr>
              <a:t>f</a:t>
            </a:r>
            <a:r>
              <a:rPr lang="en-US" sz="1800" dirty="0" smtClean="0"/>
              <a:t> (</a:t>
            </a:r>
            <a:r>
              <a:rPr lang="en-US" sz="1800" dirty="0" err="1" smtClean="0"/>
              <a:t>topIndex</a:t>
            </a:r>
            <a:r>
              <a:rPr lang="en-US" sz="1800" dirty="0" smtClean="0"/>
              <a:t>&lt;size) {</a:t>
            </a:r>
            <a:endParaRPr lang="en-US" sz="1800" dirty="0"/>
          </a:p>
          <a:p>
            <a:pPr marL="511175">
              <a:spcBef>
                <a:spcPts val="0"/>
              </a:spcBef>
            </a:pPr>
            <a:r>
              <a:rPr lang="en-US" sz="1800" dirty="0" smtClean="0"/>
              <a:t>array[</a:t>
            </a:r>
            <a:r>
              <a:rPr lang="en-US" sz="1800" dirty="0" err="1" smtClean="0"/>
              <a:t>topIndex</a:t>
            </a:r>
            <a:r>
              <a:rPr lang="en-US" sz="1800" dirty="0" smtClean="0"/>
              <a:t>]=</a:t>
            </a:r>
            <a:r>
              <a:rPr lang="en-US" sz="1800" dirty="0" err="1"/>
              <a:t>val</a:t>
            </a:r>
            <a:r>
              <a:rPr lang="en-US" sz="1800" dirty="0"/>
              <a:t>;</a:t>
            </a:r>
          </a:p>
          <a:p>
            <a:pPr marL="511175">
              <a:spcBef>
                <a:spcPts val="0"/>
              </a:spcBef>
            </a:pPr>
            <a:r>
              <a:rPr lang="en-US" sz="1800" dirty="0" err="1" smtClean="0"/>
              <a:t>topIndex</a:t>
            </a:r>
            <a:r>
              <a:rPr lang="en-US" sz="1800" dirty="0" smtClean="0"/>
              <a:t>++;</a:t>
            </a:r>
            <a:endParaRPr lang="en-US" sz="1800" dirty="0"/>
          </a:p>
          <a:p>
            <a:pPr marL="349250">
              <a:spcBef>
                <a:spcPts val="0"/>
              </a:spcBef>
            </a:pPr>
            <a:r>
              <a:rPr lang="en-US" sz="1800" dirty="0"/>
              <a:t>}</a:t>
            </a:r>
          </a:p>
          <a:p>
            <a:pPr marL="349250">
              <a:spcBef>
                <a:spcPts val="0"/>
              </a:spcBef>
            </a:pPr>
            <a:r>
              <a:rPr lang="en-US" sz="1800" b="1" dirty="0">
                <a:solidFill>
                  <a:srgbClr val="00B050"/>
                </a:solidFill>
              </a:rPr>
              <a:t>e</a:t>
            </a:r>
            <a:r>
              <a:rPr lang="en-US" sz="1800" b="1" dirty="0" smtClean="0">
                <a:solidFill>
                  <a:srgbClr val="00B050"/>
                </a:solidFill>
              </a:rPr>
              <a:t>lse</a:t>
            </a:r>
            <a:r>
              <a:rPr lang="en-US" sz="1800" dirty="0" smtClean="0"/>
              <a:t> {</a:t>
            </a:r>
            <a:endParaRPr lang="en-US" sz="1800" dirty="0"/>
          </a:p>
          <a:p>
            <a:pPr marL="511175">
              <a:spcBef>
                <a:spcPts val="0"/>
              </a:spcBef>
            </a:pPr>
            <a:r>
              <a:rPr lang="en-US" sz="1800" dirty="0" err="1"/>
              <a:t>cout</a:t>
            </a:r>
            <a:r>
              <a:rPr lang="en-US" sz="1800" dirty="0"/>
              <a:t>&lt;&lt;"stack is full";</a:t>
            </a:r>
          </a:p>
          <a:p>
            <a:pPr marL="349250">
              <a:spcBef>
                <a:spcPts val="0"/>
              </a:spcBef>
            </a:pPr>
            <a:r>
              <a:rPr lang="en-US" sz="1800" dirty="0"/>
              <a:t>}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</a:rPr>
              <a:t>double</a:t>
            </a:r>
            <a:r>
              <a:rPr lang="en-US" sz="1800" dirty="0"/>
              <a:t> pop()</a:t>
            </a:r>
          </a:p>
          <a:p>
            <a:pPr marL="174625">
              <a:spcBef>
                <a:spcPts val="0"/>
              </a:spcBef>
            </a:pPr>
            <a:r>
              <a:rPr lang="en-US" sz="1800" dirty="0"/>
              <a:t>{</a:t>
            </a:r>
          </a:p>
          <a:p>
            <a:pPr marL="174625"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</a:rPr>
              <a:t>i</a:t>
            </a:r>
            <a:r>
              <a:rPr lang="en-US" sz="1800" dirty="0" smtClean="0">
                <a:solidFill>
                  <a:srgbClr val="0000FF"/>
                </a:solidFill>
              </a:rPr>
              <a:t>f</a:t>
            </a:r>
            <a:r>
              <a:rPr lang="en-US" sz="1800" dirty="0" smtClean="0"/>
              <a:t> (</a:t>
            </a:r>
            <a:r>
              <a:rPr lang="en-US" sz="1800" dirty="0" err="1" smtClean="0"/>
              <a:t>topIndex</a:t>
            </a:r>
            <a:r>
              <a:rPr lang="en-US" sz="1800" dirty="0" smtClean="0"/>
              <a:t>&gt;0){</a:t>
            </a:r>
            <a:endParaRPr lang="en-US" sz="1800" dirty="0"/>
          </a:p>
          <a:p>
            <a:pPr marL="403225">
              <a:spcBef>
                <a:spcPts val="0"/>
              </a:spcBef>
            </a:pPr>
            <a:r>
              <a:rPr lang="en-US" sz="1800" dirty="0" smtClean="0">
                <a:solidFill>
                  <a:srgbClr val="0000FF"/>
                </a:solidFill>
              </a:rPr>
              <a:t>return</a:t>
            </a:r>
            <a:r>
              <a:rPr lang="en-US" sz="1800" dirty="0" smtClean="0"/>
              <a:t> array[--</a:t>
            </a:r>
            <a:r>
              <a:rPr lang="en-US" sz="1800" dirty="0" err="1" smtClean="0"/>
              <a:t>topIndex</a:t>
            </a:r>
            <a:r>
              <a:rPr lang="en-US" sz="1800" dirty="0" smtClean="0"/>
              <a:t>];</a:t>
            </a:r>
            <a:endParaRPr lang="en-US" sz="1800" dirty="0"/>
          </a:p>
          <a:p>
            <a:pPr marL="174625">
              <a:spcBef>
                <a:spcPts val="0"/>
              </a:spcBef>
            </a:pPr>
            <a:r>
              <a:rPr lang="en-US" sz="1800" dirty="0" smtClean="0"/>
              <a:t>   }</a:t>
            </a:r>
            <a:endParaRPr lang="en-US" sz="1800" dirty="0"/>
          </a:p>
          <a:p>
            <a:pPr marL="174625">
              <a:spcBef>
                <a:spcPts val="0"/>
              </a:spcBef>
            </a:pPr>
            <a:r>
              <a:rPr lang="en-US" sz="1800" dirty="0"/>
              <a:t>}</a:t>
            </a:r>
          </a:p>
          <a:p>
            <a:pPr marL="174625"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</a:rPr>
              <a:t>double</a:t>
            </a:r>
            <a:r>
              <a:rPr lang="en-US" sz="1800" dirty="0"/>
              <a:t> </a:t>
            </a:r>
            <a:r>
              <a:rPr lang="en-US" sz="1800" dirty="0" err="1" smtClean="0"/>
              <a:t>topIndex</a:t>
            </a:r>
            <a:r>
              <a:rPr lang="en-US" sz="1800" dirty="0" smtClean="0"/>
              <a:t>() {</a:t>
            </a:r>
            <a:endParaRPr lang="en-US" sz="1800" dirty="0"/>
          </a:p>
          <a:p>
            <a:pPr marL="174625"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</a:rPr>
              <a:t>i</a:t>
            </a:r>
            <a:r>
              <a:rPr lang="en-US" sz="1800" dirty="0" smtClean="0">
                <a:solidFill>
                  <a:srgbClr val="0000FF"/>
                </a:solidFill>
              </a:rPr>
              <a:t>f</a:t>
            </a:r>
            <a:r>
              <a:rPr lang="en-US" sz="1800" dirty="0" smtClean="0"/>
              <a:t> (</a:t>
            </a:r>
            <a:r>
              <a:rPr lang="en-US" sz="1800" dirty="0" err="1" smtClean="0"/>
              <a:t>topIndex</a:t>
            </a:r>
            <a:r>
              <a:rPr lang="en-US" sz="1800" dirty="0" smtClean="0"/>
              <a:t>&gt;0</a:t>
            </a:r>
            <a:r>
              <a:rPr lang="en-US" sz="1800" dirty="0"/>
              <a:t>)</a:t>
            </a:r>
          </a:p>
          <a:p>
            <a:pPr marL="174625">
              <a:spcBef>
                <a:spcPts val="0"/>
              </a:spcBef>
            </a:pPr>
            <a:r>
              <a:rPr lang="en-US" sz="1800" dirty="0" smtClean="0"/>
              <a:t>    </a:t>
            </a:r>
            <a:r>
              <a:rPr lang="en-US" sz="1800" dirty="0" smtClean="0">
                <a:solidFill>
                  <a:srgbClr val="0000FF"/>
                </a:solidFill>
              </a:rPr>
              <a:t>return</a:t>
            </a:r>
            <a:r>
              <a:rPr lang="en-US" sz="1800" dirty="0" smtClean="0"/>
              <a:t> array[topIndex-1];</a:t>
            </a:r>
            <a:endParaRPr lang="en-US" sz="1800" dirty="0"/>
          </a:p>
          <a:p>
            <a:pPr marL="174625">
              <a:spcBef>
                <a:spcPts val="0"/>
              </a:spcBef>
            </a:pPr>
            <a:r>
              <a:rPr lang="en-US" sz="1800" dirty="0"/>
              <a:t>}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5733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Stack: Array based Implementation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#</a:t>
            </a:r>
            <a:r>
              <a:rPr lang="en-US" sz="1600" dirty="0" err="1"/>
              <a:t>include"stack.h</a:t>
            </a:r>
            <a:r>
              <a:rPr lang="en-US" sz="1600" dirty="0"/>
              <a:t>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#include&lt;</a:t>
            </a:r>
            <a:r>
              <a:rPr lang="en-US" sz="1600" dirty="0" err="1"/>
              <a:t>conio.h</a:t>
            </a:r>
            <a:r>
              <a:rPr lang="en-US" sz="16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void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{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b="1" dirty="0"/>
              <a:t>Stack</a:t>
            </a:r>
            <a:r>
              <a:rPr lang="en-US" sz="1600" dirty="0"/>
              <a:t> s(3);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s.push</a:t>
            </a:r>
            <a:r>
              <a:rPr lang="en-US" sz="1600" dirty="0"/>
              <a:t>(20);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s.push</a:t>
            </a:r>
            <a:r>
              <a:rPr lang="en-US" sz="1600" dirty="0"/>
              <a:t>(30);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s.push</a:t>
            </a:r>
            <a:r>
              <a:rPr lang="en-US" sz="1600" dirty="0"/>
              <a:t>(40);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s.push</a:t>
            </a:r>
            <a:r>
              <a:rPr lang="en-US" sz="1600" dirty="0"/>
              <a:t>(50);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s.push</a:t>
            </a:r>
            <a:r>
              <a:rPr lang="en-US" sz="1600" dirty="0"/>
              <a:t>(20);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/>
              <a:t>_</a:t>
            </a:r>
            <a:r>
              <a:rPr lang="en-US" sz="1600" dirty="0" err="1"/>
              <a:t>getch</a:t>
            </a:r>
            <a:r>
              <a:rPr lang="en-US" sz="1600" dirty="0"/>
              <a:t>();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s.top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s.top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s.pop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s.pop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s.pop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s.pop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s.pop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s.pop</a:t>
            </a:r>
            <a:r>
              <a:rPr lang="en-US" sz="1600" dirty="0"/>
              <a:t>()&lt;&lt;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403225" indent="0">
              <a:spcBef>
                <a:spcPts val="0"/>
              </a:spcBef>
              <a:buNone/>
            </a:pPr>
            <a:r>
              <a:rPr lang="en-US" sz="1600" dirty="0"/>
              <a:t>_</a:t>
            </a:r>
            <a:r>
              <a:rPr lang="en-US" sz="1600" dirty="0" err="1"/>
              <a:t>getch</a:t>
            </a:r>
            <a:r>
              <a:rPr lang="en-US" sz="16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783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3" id="{F5AD4678-7679-4377-835E-FB198AD9148D}" vid="{1BAE2C01-8116-45DC-A9FA-ABAB0BEAB81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03</Template>
  <TotalTime>2487</TotalTime>
  <Words>301</Words>
  <Application>Microsoft Office PowerPoint</Application>
  <PresentationFormat>On-screen Show (4:3)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Bell MT</vt:lpstr>
      <vt:lpstr>Calibri</vt:lpstr>
      <vt:lpstr>Calibri Light</vt:lpstr>
      <vt:lpstr>Geneva</vt:lpstr>
      <vt:lpstr>Times New Roman</vt:lpstr>
      <vt:lpstr>Custom Design</vt:lpstr>
      <vt:lpstr>Data Structures and Algorithms</vt:lpstr>
      <vt:lpstr>Outlines</vt:lpstr>
      <vt:lpstr>Stack: Introduction</vt:lpstr>
      <vt:lpstr>Stack </vt:lpstr>
      <vt:lpstr>Stack</vt:lpstr>
      <vt:lpstr>Stack</vt:lpstr>
      <vt:lpstr>Stack </vt:lpstr>
      <vt:lpstr>Stack Operations</vt:lpstr>
      <vt:lpstr>Stack: Array based Implementation</vt:lpstr>
      <vt:lpstr>Stack: Array based Implementation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</dc:title>
  <dc:creator>samir obaid</dc:creator>
  <cp:lastModifiedBy>HP</cp:lastModifiedBy>
  <cp:revision>116</cp:revision>
  <dcterms:created xsi:type="dcterms:W3CDTF">2015-09-28T07:33:52Z</dcterms:created>
  <dcterms:modified xsi:type="dcterms:W3CDTF">2022-10-10T03:59:07Z</dcterms:modified>
</cp:coreProperties>
</file>