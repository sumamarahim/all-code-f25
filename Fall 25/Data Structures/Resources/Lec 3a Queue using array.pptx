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3" r:id="rId24"/>
    <p:sldId id="284" r:id="rId25"/>
    <p:sldId id="285" r:id="rId26"/>
    <p:sldId id="286" r:id="rId27"/>
    <p:sldId id="287" r:id="rId28"/>
    <p:sldId id="268" r:id="rId29"/>
    <p:sldId id="296" r:id="rId30"/>
    <p:sldId id="297" r:id="rId31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eneva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1" autoAdjust="0"/>
    <p:restoredTop sz="79487" autoAdjust="0"/>
  </p:normalViewPr>
  <p:slideViewPr>
    <p:cSldViewPr>
      <p:cViewPr varScale="1">
        <p:scale>
          <a:sx n="50" d="100"/>
          <a:sy n="50" d="100"/>
        </p:scale>
        <p:origin x="1764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72E7D-07BC-4E07-8A62-8E498F1ED7B2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82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575"/>
            <a:ext cx="548640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E4AC3-5839-42F2-8920-5882ACC8B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53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amodb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=a−b×⌊a/b⌋, a mod b = Dividend (a) - [Divisor (b) × Quotient]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is smaller than b, then a % b = a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E4AC3-5839-42F2-8920-5882ACC8BD5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37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/>
          </p:cNvSpPr>
          <p:nvPr userDrawn="1"/>
        </p:nvSpPr>
        <p:spPr bwMode="auto">
          <a:xfrm>
            <a:off x="0" y="5181600"/>
            <a:ext cx="9144000" cy="1682750"/>
          </a:xfrm>
          <a:custGeom>
            <a:avLst/>
            <a:gdLst>
              <a:gd name="T0" fmla="*/ 0 w 5760"/>
              <a:gd name="T1" fmla="*/ 1347717 h 1331"/>
              <a:gd name="T2" fmla="*/ 0 w 5760"/>
              <a:gd name="T3" fmla="*/ 1682750 h 1331"/>
              <a:gd name="T4" fmla="*/ 9144000 w 5760"/>
              <a:gd name="T5" fmla="*/ 1682750 h 1331"/>
              <a:gd name="T6" fmla="*/ 9144000 w 5760"/>
              <a:gd name="T7" fmla="*/ 0 h 1331"/>
              <a:gd name="T8" fmla="*/ 0 w 5760"/>
              <a:gd name="T9" fmla="*/ 1347717 h 13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0"/>
              <a:gd name="T16" fmla="*/ 0 h 1331"/>
              <a:gd name="T17" fmla="*/ 5760 w 5760"/>
              <a:gd name="T18" fmla="*/ 1331 h 13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18900000" scaled="1"/>
          </a:gradFill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44450" dir="16200000" algn="ctr" rotWithShape="0">
              <a:srgbClr val="000000">
                <a:alpha val="34998"/>
              </a:srgb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reeform 4"/>
          <p:cNvSpPr>
            <a:spLocks/>
          </p:cNvSpPr>
          <p:nvPr userDrawn="1"/>
        </p:nvSpPr>
        <p:spPr bwMode="auto">
          <a:xfrm>
            <a:off x="8153400" y="-9525"/>
            <a:ext cx="990600" cy="6858000"/>
          </a:xfrm>
          <a:custGeom>
            <a:avLst/>
            <a:gdLst>
              <a:gd name="T0" fmla="*/ 512689843 w 1914"/>
              <a:gd name="T1" fmla="*/ 22587518 h 4329"/>
              <a:gd name="T2" fmla="*/ 512689843 w 1914"/>
              <a:gd name="T3" fmla="*/ 2147483647 h 4329"/>
              <a:gd name="T4" fmla="*/ 54643960 w 1914"/>
              <a:gd name="T5" fmla="*/ 2147483647 h 4329"/>
              <a:gd name="T6" fmla="*/ 0 w 1914"/>
              <a:gd name="T7" fmla="*/ 0 h 4329"/>
              <a:gd name="T8" fmla="*/ 512689843 w 1914"/>
              <a:gd name="T9" fmla="*/ 22587518 h 43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002060"/>
          </a:solidFill>
          <a:ln w="19050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50800" dir="10800000" algn="ctr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r">
              <a:defRPr sz="2800" b="1">
                <a:latin typeface="Bell MT" panose="020205030603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Bell MT" panose="020205030603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FB7D4-92B1-48C8-B71A-555FDFE19305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EBECF-D2EF-480A-B507-648CF8F3D3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1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E556-9546-434A-BB7D-00167C88558E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FF6-5F62-4C4D-B2DF-85D8F01ACD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AFB8F-2009-4073-A88E-5EA5406EC987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9AF39-4E11-4E00-A6B0-2CF9161F1B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8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1600"/>
            <a:ext cx="3867150" cy="4805363"/>
          </a:xfr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67150" cy="4805363"/>
          </a:xfr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5C195-7DC7-463E-9252-BC1496CEDDB9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E6642-27DB-4832-A618-CD76C5B06D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1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19200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119312"/>
            <a:ext cx="3868737" cy="4070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19200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19312"/>
            <a:ext cx="3887788" cy="4070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F6082-80A8-4E0C-9C05-AC09826CFDC1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5934F-3109-486D-861D-167DCA73B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1EEA4-9642-46FF-85AB-7546FBC76B85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61E8E-6FDC-43E6-92EE-6C0B7B713B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8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04AC82-6F94-4A78-8950-7821C0B5266F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6CCFC-20DB-4647-A615-AFA3DF9C5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1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45F7FB-DD9A-4F0D-A751-4A68536633EE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F3637-B5BF-4C9E-B9D4-0D2B7DABF5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24605-142B-445A-8EC6-2705AB697402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880E6-24C2-4CDF-8C68-E5423EDC40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8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8F901-EC18-4C5A-B84C-08ED44FF200A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5A91D-339E-4039-BEB2-C5C4B3FAC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9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82713"/>
            <a:ext cx="7886700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A9302D-D501-48E9-8C22-D2E3CCA1E6F6}" type="datetimeFigureOut">
              <a:rPr lang="en-US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0D89A1D-DFBA-41DE-952D-4E6D643984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Freeform 7"/>
          <p:cNvSpPr/>
          <p:nvPr userDrawn="1"/>
        </p:nvSpPr>
        <p:spPr>
          <a:xfrm>
            <a:off x="0" y="-152400"/>
            <a:ext cx="9144000" cy="228600"/>
          </a:xfrm>
          <a:custGeom>
            <a:avLst/>
            <a:gdLst>
              <a:gd name="connsiteX0" fmla="*/ 0 w 9144000"/>
              <a:gd name="connsiteY0" fmla="*/ 0 h 990600"/>
              <a:gd name="connsiteX1" fmla="*/ 9144000 w 9144000"/>
              <a:gd name="connsiteY1" fmla="*/ 0 h 990600"/>
              <a:gd name="connsiteX2" fmla="*/ 9144000 w 9144000"/>
              <a:gd name="connsiteY2" fmla="*/ 990600 h 990600"/>
              <a:gd name="connsiteX3" fmla="*/ 0 w 9144000"/>
              <a:gd name="connsiteY3" fmla="*/ 990600 h 990600"/>
              <a:gd name="connsiteX4" fmla="*/ 0 w 9144000"/>
              <a:gd name="connsiteY4" fmla="*/ 0 h 990600"/>
              <a:gd name="connsiteX0" fmla="*/ 0 w 9144000"/>
              <a:gd name="connsiteY0" fmla="*/ 0 h 990600"/>
              <a:gd name="connsiteX1" fmla="*/ 4607626 w 9144000"/>
              <a:gd name="connsiteY1" fmla="*/ 215735 h 990600"/>
              <a:gd name="connsiteX2" fmla="*/ 9144000 w 9144000"/>
              <a:gd name="connsiteY2" fmla="*/ 0 h 990600"/>
              <a:gd name="connsiteX3" fmla="*/ 9144000 w 9144000"/>
              <a:gd name="connsiteY3" fmla="*/ 990600 h 990600"/>
              <a:gd name="connsiteX4" fmla="*/ 0 w 9144000"/>
              <a:gd name="connsiteY4" fmla="*/ 990600 h 990600"/>
              <a:gd name="connsiteX5" fmla="*/ 0 w 9144000"/>
              <a:gd name="connsiteY5" fmla="*/ 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990600">
                <a:moveTo>
                  <a:pt x="0" y="0"/>
                </a:moveTo>
                <a:lnTo>
                  <a:pt x="4607626" y="215735"/>
                </a:lnTo>
                <a:lnTo>
                  <a:pt x="9144000" y="0"/>
                </a:lnTo>
                <a:lnTo>
                  <a:pt x="91440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3600"/>
              <a:t>Data Structures and Algorithms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>
                <a:ea typeface="Geneva" charset="-128"/>
              </a:rPr>
              <a:t>Lecture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Queue</a:t>
            </a:r>
          </a:p>
          <a:p>
            <a:pPr lvl="1"/>
            <a:r>
              <a:rPr lang="en-US" altLang="en-US" dirty="0"/>
              <a:t>Defining Queue Class</a:t>
            </a:r>
          </a:p>
          <a:p>
            <a:pPr lvl="1"/>
            <a:r>
              <a:rPr lang="en-US" altLang="en-US" dirty="0" err="1"/>
              <a:t>Enqueue</a:t>
            </a:r>
            <a:r>
              <a:rPr lang="en-US" altLang="en-US" dirty="0"/>
              <a:t> and </a:t>
            </a:r>
            <a:r>
              <a:rPr lang="en-US" altLang="en-US" dirty="0" err="1"/>
              <a:t>Dequeue</a:t>
            </a:r>
            <a:r>
              <a:rPr lang="en-US" altLang="en-US" dirty="0"/>
              <a:t> operations</a:t>
            </a:r>
          </a:p>
          <a:p>
            <a:pPr lvl="1"/>
            <a:r>
              <a:rPr lang="en-US" altLang="en-US" dirty="0"/>
              <a:t>Problem with Simple Queue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 queue is a data structure that is based upon </a:t>
            </a:r>
            <a:r>
              <a:rPr lang="en-US" altLang="en-US" b="1" dirty="0"/>
              <a:t>first-come first-serve</a:t>
            </a:r>
            <a:r>
              <a:rPr lang="en-US" altLang="en-US" dirty="0"/>
              <a:t> order, or </a:t>
            </a:r>
            <a:r>
              <a:rPr lang="en-US" altLang="en-US" b="1" dirty="0"/>
              <a:t>first-in first-out</a:t>
            </a:r>
            <a:r>
              <a:rPr lang="en-US" altLang="en-US" dirty="0"/>
              <a:t> (FIFO) order.</a:t>
            </a:r>
          </a:p>
          <a:p>
            <a:pPr algn="just"/>
            <a:r>
              <a:rPr lang="en-US" dirty="0"/>
              <a:t>A</a:t>
            </a:r>
            <a:r>
              <a:rPr lang="en-US" b="1" dirty="0"/>
              <a:t> Queue</a:t>
            </a:r>
            <a:r>
              <a:rPr lang="en-US" dirty="0"/>
              <a:t> or FIFO (First in, first out) is an </a:t>
            </a:r>
            <a:r>
              <a:rPr lang="en-US" b="1" dirty="0">
                <a:solidFill>
                  <a:srgbClr val="0000FF"/>
                </a:solidFill>
              </a:rPr>
              <a:t>abstract data type</a:t>
            </a:r>
            <a:r>
              <a:rPr lang="en-US" dirty="0"/>
              <a:t> that serves as a collection of elements, with two principal operations: </a:t>
            </a:r>
            <a:r>
              <a:rPr lang="en-US" dirty="0" err="1"/>
              <a:t>enqueue</a:t>
            </a:r>
            <a:r>
              <a:rPr lang="en-US" dirty="0"/>
              <a:t>, which adds an element to the collection, and </a:t>
            </a:r>
            <a:r>
              <a:rPr lang="en-US" dirty="0" err="1"/>
              <a:t>dequeue</a:t>
            </a:r>
            <a:r>
              <a:rPr lang="en-US" dirty="0"/>
              <a:t>, which removes the first element that was added.</a:t>
            </a:r>
            <a:endParaRPr lang="en-US" altLang="en-US" dirty="0"/>
          </a:p>
          <a:p>
            <a:pPr algn="just"/>
            <a:r>
              <a:rPr lang="en-US" altLang="en-US" dirty="0"/>
              <a:t>The elements that are inserted first will be removed first, and similarly, the elements that are inserted last will be removed last.</a:t>
            </a:r>
          </a:p>
        </p:txBody>
      </p:sp>
    </p:spTree>
    <p:extLst>
      <p:ext uri="{BB962C8B-B14F-4D97-AF65-F5344CB8AC3E}">
        <p14:creationId xmlns:p14="http://schemas.microsoft.com/office/powerpoint/2010/main" val="28785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199"/>
            <a:ext cx="9144000" cy="5410201"/>
          </a:xfrm>
        </p:spPr>
      </p:pic>
    </p:spTree>
    <p:extLst>
      <p:ext uri="{BB962C8B-B14F-4D97-AF65-F5344CB8AC3E}">
        <p14:creationId xmlns:p14="http://schemas.microsoft.com/office/powerpoint/2010/main" val="3561661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382713"/>
            <a:ext cx="7886700" cy="479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1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b="1" dirty="0"/>
              <a:t>Insert(</a:t>
            </a:r>
            <a:r>
              <a:rPr lang="en-US" altLang="en-US" sz="2400" dirty="0"/>
              <a:t>item</a:t>
            </a:r>
            <a:r>
              <a:rPr lang="en-US" altLang="en-US" sz="2400" b="1" dirty="0"/>
              <a:t>)</a:t>
            </a:r>
            <a:r>
              <a:rPr lang="en-US" altLang="en-US" sz="2400" dirty="0"/>
              <a:t>: (also called </a:t>
            </a:r>
            <a:r>
              <a:rPr lang="en-US" altLang="en-US" sz="2400" dirty="0" err="1"/>
              <a:t>enqueue</a:t>
            </a:r>
            <a:r>
              <a:rPr lang="en-US" altLang="en-US" sz="24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It adds a new item to the end of the queue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/>
              <a:t>Remove( )</a:t>
            </a:r>
            <a:r>
              <a:rPr lang="en-US" altLang="en-US" sz="2400" dirty="0"/>
              <a:t>:  (also called delete or </a:t>
            </a:r>
            <a:r>
              <a:rPr lang="en-US" altLang="en-US" sz="2400" dirty="0" err="1"/>
              <a:t>dequeue</a:t>
            </a:r>
            <a:r>
              <a:rPr lang="en-US" altLang="en-US" sz="24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It deletes the head item of the queue, and returns to the caller. If the queue is already empty, this operation returns NULL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 err="1"/>
              <a:t>getHead</a:t>
            </a:r>
            <a:r>
              <a:rPr lang="en-US" altLang="en-US" sz="2400" b="1" dirty="0"/>
              <a:t>( ):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Returns the value in the head element of the queue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 err="1"/>
              <a:t>getTail</a:t>
            </a:r>
            <a:r>
              <a:rPr lang="en-US" altLang="en-US" sz="2400" b="1" dirty="0"/>
              <a:t>( ):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Returns the value in the tail/end element of the queue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 err="1"/>
              <a:t>isEmpty</a:t>
            </a:r>
            <a:r>
              <a:rPr lang="en-US" altLang="en-US" sz="2400" b="1" dirty="0"/>
              <a:t>( )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Returns </a:t>
            </a:r>
            <a:r>
              <a:rPr lang="en-US" altLang="en-US" sz="2000" b="1" dirty="0">
                <a:solidFill>
                  <a:schemeClr val="accent2"/>
                </a:solidFill>
              </a:rPr>
              <a:t>true</a:t>
            </a:r>
            <a:r>
              <a:rPr lang="en-US" altLang="en-US" sz="2000" dirty="0"/>
              <a:t> if the queue has no items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/>
              <a:t>size</a:t>
            </a:r>
            <a:r>
              <a:rPr lang="en-US" altLang="en-US" sz="2400" dirty="0"/>
              <a:t>( )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Returns the number of items in the queue</a:t>
            </a:r>
          </a:p>
        </p:txBody>
      </p:sp>
    </p:spTree>
    <p:extLst>
      <p:ext uri="{BB962C8B-B14F-4D97-AF65-F5344CB8AC3E}">
        <p14:creationId xmlns:p14="http://schemas.microsoft.com/office/powerpoint/2010/main" val="105751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Queue consist of</a:t>
            </a:r>
          </a:p>
          <a:p>
            <a:r>
              <a:rPr lang="en-US" b="1" dirty="0"/>
              <a:t>Front</a:t>
            </a:r>
          </a:p>
          <a:p>
            <a:pPr lvl="1"/>
            <a:r>
              <a:rPr lang="en-US" dirty="0"/>
              <a:t>Represents start of the queue. Element are always </a:t>
            </a:r>
            <a:r>
              <a:rPr lang="en-US" dirty="0" err="1"/>
              <a:t>dequeued</a:t>
            </a:r>
            <a:r>
              <a:rPr lang="en-US" dirty="0"/>
              <a:t> from </a:t>
            </a:r>
            <a:r>
              <a:rPr lang="en-US" b="1" dirty="0"/>
              <a:t>front</a:t>
            </a:r>
            <a:r>
              <a:rPr lang="en-US" dirty="0"/>
              <a:t>.</a:t>
            </a:r>
          </a:p>
          <a:p>
            <a:r>
              <a:rPr lang="en-US" b="1" dirty="0"/>
              <a:t>Rare</a:t>
            </a:r>
          </a:p>
          <a:p>
            <a:pPr lvl="1" algn="just"/>
            <a:r>
              <a:rPr lang="en-US" dirty="0"/>
              <a:t>Represents end of the queue. Elements are always </a:t>
            </a:r>
            <a:r>
              <a:rPr lang="en-US" dirty="0" err="1"/>
              <a:t>enqueued</a:t>
            </a:r>
            <a:r>
              <a:rPr lang="en-US" dirty="0"/>
              <a:t> from </a:t>
            </a:r>
            <a:r>
              <a:rPr lang="en-US" b="1" dirty="0"/>
              <a:t>rare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0444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Queue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2742"/>
            <a:ext cx="9144000" cy="5146658"/>
          </a:xfrm>
        </p:spPr>
      </p:pic>
    </p:spTree>
    <p:extLst>
      <p:ext uri="{BB962C8B-B14F-4D97-AF65-F5344CB8AC3E}">
        <p14:creationId xmlns:p14="http://schemas.microsoft.com/office/powerpoint/2010/main" val="245182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queue Class based on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class </a:t>
            </a:r>
            <a:r>
              <a:rPr lang="en-US" sz="2400" b="1" dirty="0"/>
              <a:t>Queue</a:t>
            </a:r>
            <a:r>
              <a:rPr lang="en-US" sz="2400" dirty="0"/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private: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2400" b="1" dirty="0" err="1"/>
              <a:t>int</a:t>
            </a:r>
            <a:r>
              <a:rPr lang="en-US" sz="2400" dirty="0"/>
              <a:t> front, rare, </a:t>
            </a:r>
            <a:r>
              <a:rPr lang="en-US" sz="2400" dirty="0" err="1"/>
              <a:t>length,capacity</a:t>
            </a:r>
            <a:r>
              <a:rPr lang="en-US" sz="2400" dirty="0"/>
              <a:t>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2400" b="1" dirty="0"/>
              <a:t>double</a:t>
            </a:r>
            <a:r>
              <a:rPr lang="en-US" sz="2400" dirty="0"/>
              <a:t>* </a:t>
            </a:r>
            <a:r>
              <a:rPr lang="en-US" sz="2400" dirty="0" err="1"/>
              <a:t>arr</a:t>
            </a:r>
            <a:r>
              <a:rPr lang="en-US" sz="2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public:</a:t>
            </a:r>
          </a:p>
          <a:p>
            <a:pPr marL="0" indent="282575">
              <a:spcBef>
                <a:spcPts val="0"/>
              </a:spcBef>
              <a:buNone/>
            </a:pPr>
            <a:r>
              <a:rPr lang="en-US" sz="2400" b="1" dirty="0"/>
              <a:t>Queue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cap)</a:t>
            </a:r>
          </a:p>
          <a:p>
            <a:pPr marL="0" indent="282575">
              <a:spcBef>
                <a:spcPts val="0"/>
              </a:spcBef>
              <a:buNone/>
            </a:pPr>
            <a:r>
              <a:rPr lang="en-US" sz="2400" dirty="0"/>
              <a:t>{</a:t>
            </a:r>
          </a:p>
          <a:p>
            <a:pPr marL="0" indent="631825">
              <a:spcBef>
                <a:spcPts val="0"/>
              </a:spcBef>
              <a:buNone/>
            </a:pPr>
            <a:r>
              <a:rPr lang="en-US" sz="2400" dirty="0"/>
              <a:t>front=0;		</a:t>
            </a:r>
            <a:r>
              <a:rPr lang="en-US" sz="2400" dirty="0">
                <a:solidFill>
                  <a:srgbClr val="00B050"/>
                </a:solidFill>
              </a:rPr>
              <a:t>//represents the head of queue</a:t>
            </a:r>
          </a:p>
          <a:p>
            <a:pPr marL="0" indent="631825">
              <a:spcBef>
                <a:spcPts val="0"/>
              </a:spcBef>
              <a:buNone/>
            </a:pPr>
            <a:r>
              <a:rPr lang="en-US" sz="2400" dirty="0"/>
              <a:t>rare=0;		</a:t>
            </a:r>
            <a:r>
              <a:rPr lang="en-US" sz="2400" dirty="0">
                <a:solidFill>
                  <a:srgbClr val="00B050"/>
                </a:solidFill>
              </a:rPr>
              <a:t>//represents the tail/end of queue</a:t>
            </a:r>
            <a:endParaRPr lang="en-US" sz="2400" dirty="0"/>
          </a:p>
          <a:p>
            <a:pPr marL="0" indent="631825">
              <a:spcBef>
                <a:spcPts val="0"/>
              </a:spcBef>
              <a:buNone/>
            </a:pPr>
            <a:r>
              <a:rPr lang="en-US" sz="2400" dirty="0"/>
              <a:t>length=0;		</a:t>
            </a:r>
            <a:r>
              <a:rPr lang="en-US" sz="2400" dirty="0">
                <a:solidFill>
                  <a:srgbClr val="00B050"/>
                </a:solidFill>
              </a:rPr>
              <a:t>//represents total elements in queue</a:t>
            </a:r>
            <a:endParaRPr lang="en-US" sz="2400" dirty="0"/>
          </a:p>
          <a:p>
            <a:pPr marL="0" indent="631825">
              <a:spcBef>
                <a:spcPts val="0"/>
              </a:spcBef>
              <a:buNone/>
            </a:pPr>
            <a:r>
              <a:rPr lang="en-US" sz="2400" dirty="0"/>
              <a:t>capacity=cap;	</a:t>
            </a:r>
            <a:r>
              <a:rPr lang="en-US" sz="2400" dirty="0">
                <a:solidFill>
                  <a:srgbClr val="00B050"/>
                </a:solidFill>
              </a:rPr>
              <a:t>//represents total capacity of queue</a:t>
            </a:r>
            <a:endParaRPr lang="en-US" sz="2400" dirty="0"/>
          </a:p>
          <a:p>
            <a:pPr marL="0" indent="631825">
              <a:spcBef>
                <a:spcPts val="0"/>
              </a:spcBef>
              <a:buNone/>
            </a:pPr>
            <a:r>
              <a:rPr lang="en-US" sz="2400" dirty="0" err="1"/>
              <a:t>arr</a:t>
            </a:r>
            <a:r>
              <a:rPr lang="en-US" sz="2400" dirty="0"/>
              <a:t>=new double[capacity];</a:t>
            </a:r>
          </a:p>
          <a:p>
            <a:pPr marL="0" indent="282575">
              <a:spcBef>
                <a:spcPts val="0"/>
              </a:spcBef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7254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>
                <a:solidFill>
                  <a:srgbClr val="CC0000"/>
                </a:solidFill>
              </a:rPr>
              <a:t>head</a:t>
            </a:r>
            <a:r>
              <a:rPr lang="en-US" altLang="en-US" b="1" dirty="0"/>
              <a:t> and </a:t>
            </a:r>
            <a:r>
              <a:rPr lang="en-US" altLang="en-US" b="1" dirty="0">
                <a:solidFill>
                  <a:srgbClr val="CC0000"/>
                </a:solidFill>
              </a:rPr>
              <a:t>tail</a:t>
            </a:r>
            <a:r>
              <a:rPr lang="en-US" altLang="en-US" b="1" dirty="0"/>
              <a:t>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C0000"/>
                </a:solidFill>
              </a:rPr>
              <a:t>head</a:t>
            </a:r>
            <a:r>
              <a:rPr lang="en-US" altLang="en-US" b="1" dirty="0"/>
              <a:t> </a:t>
            </a:r>
            <a:r>
              <a:rPr lang="en-US" altLang="en-US" dirty="0"/>
              <a:t>increases by 1 after each </a:t>
            </a:r>
            <a:r>
              <a:rPr lang="en-US" altLang="en-US" dirty="0" err="1"/>
              <a:t>dequeue</a:t>
            </a:r>
            <a:r>
              <a:rPr lang="en-US" altLang="en-US" dirty="0"/>
              <a:t>( )</a:t>
            </a:r>
          </a:p>
          <a:p>
            <a:r>
              <a:rPr lang="en-US" altLang="en-US" b="1" dirty="0">
                <a:solidFill>
                  <a:srgbClr val="CC0000"/>
                </a:solidFill>
              </a:rPr>
              <a:t>tail</a:t>
            </a:r>
            <a:r>
              <a:rPr lang="en-US" altLang="en-US" b="1" dirty="0"/>
              <a:t> </a:t>
            </a:r>
            <a:r>
              <a:rPr lang="en-US" altLang="en-US" dirty="0"/>
              <a:t>increases by 1 after each </a:t>
            </a:r>
            <a:r>
              <a:rPr lang="en-US" altLang="en-US" dirty="0" err="1"/>
              <a:t>enqueue</a:t>
            </a:r>
            <a:r>
              <a:rPr lang="en-US" altLang="en-US" dirty="0"/>
              <a:t>( )</a:t>
            </a:r>
          </a:p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endParaRPr lang="en-US" dirty="0"/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133600" y="30480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sp>
        <p:nvSpPr>
          <p:cNvPr id="23" name="Text Box 61"/>
          <p:cNvSpPr txBox="1">
            <a:spLocks noChangeArrowheads="1"/>
          </p:cNvSpPr>
          <p:nvPr/>
        </p:nvSpPr>
        <p:spPr bwMode="auto">
          <a:xfrm>
            <a:off x="822325" y="2936875"/>
            <a:ext cx="862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Now:</a:t>
            </a:r>
          </a:p>
        </p:txBody>
      </p:sp>
      <p:sp>
        <p:nvSpPr>
          <p:cNvPr id="24" name="Text Box 62"/>
          <p:cNvSpPr txBox="1">
            <a:spLocks noChangeArrowheads="1"/>
          </p:cNvSpPr>
          <p:nvPr/>
        </p:nvSpPr>
        <p:spPr bwMode="auto">
          <a:xfrm>
            <a:off x="152400" y="4038600"/>
            <a:ext cx="2001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After </a:t>
            </a:r>
            <a:r>
              <a:rPr lang="en-US" altLang="en-US" dirty="0" err="1"/>
              <a:t>enqueue</a:t>
            </a:r>
            <a:r>
              <a:rPr lang="en-US" altLang="en-US" dirty="0"/>
              <a:t>:</a:t>
            </a:r>
          </a:p>
        </p:txBody>
      </p:sp>
      <p:sp>
        <p:nvSpPr>
          <p:cNvPr id="25" name="Text Box 63"/>
          <p:cNvSpPr txBox="1">
            <a:spLocks noChangeArrowheads="1"/>
          </p:cNvSpPr>
          <p:nvPr/>
        </p:nvSpPr>
        <p:spPr bwMode="auto">
          <a:xfrm>
            <a:off x="152400" y="5181600"/>
            <a:ext cx="2001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After </a:t>
            </a:r>
            <a:r>
              <a:rPr lang="en-US" altLang="en-US" dirty="0" err="1"/>
              <a:t>dequeue</a:t>
            </a:r>
            <a:r>
              <a:rPr lang="en-US" altLang="en-US" dirty="0"/>
              <a:t>:</a:t>
            </a:r>
          </a:p>
        </p:txBody>
      </p:sp>
      <p:grpSp>
        <p:nvGrpSpPr>
          <p:cNvPr id="26" name="Group 23"/>
          <p:cNvGrpSpPr>
            <a:grpSpLocks/>
          </p:cNvGrpSpPr>
          <p:nvPr/>
        </p:nvGrpSpPr>
        <p:grpSpPr bwMode="auto">
          <a:xfrm>
            <a:off x="2133600" y="4038600"/>
            <a:ext cx="6203950" cy="685800"/>
            <a:chOff x="720" y="2592"/>
            <a:chExt cx="3908" cy="432"/>
          </a:xfrm>
        </p:grpSpPr>
        <p:grpSp>
          <p:nvGrpSpPr>
            <p:cNvPr id="27" name="Group 2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32" name="Rectangle 2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Rectangle 2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Rectangle 2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Rectangle 2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Rectangle 2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Text Box 3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38" name="Text Box 3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39" name="Rectangle 3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Text Box 3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41" name="Text Box 3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42" name="Text Box 3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43" name="Text Box 3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44" name="Line 3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" name="Rectangle 3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3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4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31" name="Text Box 4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grpSp>
        <p:nvGrpSpPr>
          <p:cNvPr id="45" name="Group 42"/>
          <p:cNvGrpSpPr>
            <a:grpSpLocks/>
          </p:cNvGrpSpPr>
          <p:nvPr/>
        </p:nvGrpSpPr>
        <p:grpSpPr bwMode="auto">
          <a:xfrm>
            <a:off x="2133600" y="5181600"/>
            <a:ext cx="6203950" cy="685800"/>
            <a:chOff x="720" y="2592"/>
            <a:chExt cx="3908" cy="432"/>
          </a:xfrm>
        </p:grpSpPr>
        <p:grpSp>
          <p:nvGrpSpPr>
            <p:cNvPr id="46" name="Group 43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51" name="Rectangle 44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Rectangle 45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Rectangle 46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Rectangle 47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Rectangle 48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Text Box 49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57" name="Text Box 50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58" name="Rectangle 51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Text Box 52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60" name="Text Box 53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61" name="Text Box 54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62" name="Text Box 55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63" name="Line 56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Rectangle 57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58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59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50" name="Text Box 60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043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>
                <a:solidFill>
                  <a:srgbClr val="CC0000"/>
                </a:solidFill>
              </a:rPr>
              <a:t>head</a:t>
            </a:r>
            <a:r>
              <a:rPr lang="en-US" altLang="en-US" b="1" dirty="0"/>
              <a:t> and </a:t>
            </a:r>
            <a:r>
              <a:rPr lang="en-US" altLang="en-US" b="1" dirty="0">
                <a:solidFill>
                  <a:srgbClr val="CC0000"/>
                </a:solidFill>
              </a:rPr>
              <a:t>tail</a:t>
            </a:r>
            <a:r>
              <a:rPr lang="en-US" altLang="en-US" b="1" dirty="0"/>
              <a:t>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C0000"/>
                </a:solidFill>
              </a:rPr>
              <a:t>head</a:t>
            </a:r>
            <a:r>
              <a:rPr lang="en-US" altLang="en-US" b="1" dirty="0"/>
              <a:t> </a:t>
            </a:r>
            <a:r>
              <a:rPr lang="en-US" altLang="en-US" dirty="0"/>
              <a:t>increases by 1 after each </a:t>
            </a:r>
            <a:r>
              <a:rPr lang="en-US" altLang="en-US" dirty="0" err="1"/>
              <a:t>dequeue</a:t>
            </a:r>
            <a:r>
              <a:rPr lang="en-US" altLang="en-US" dirty="0"/>
              <a:t>( )</a:t>
            </a:r>
          </a:p>
          <a:p>
            <a:r>
              <a:rPr lang="en-US" altLang="en-US" b="1" dirty="0">
                <a:solidFill>
                  <a:srgbClr val="CC0000"/>
                </a:solidFill>
              </a:rPr>
              <a:t>tail</a:t>
            </a:r>
            <a:r>
              <a:rPr lang="en-US" altLang="en-US" b="1" dirty="0"/>
              <a:t> </a:t>
            </a:r>
            <a:r>
              <a:rPr lang="en-US" altLang="en-US" dirty="0"/>
              <a:t>increases by 1 after each </a:t>
            </a:r>
            <a:r>
              <a:rPr lang="en-US" altLang="en-US" dirty="0" err="1"/>
              <a:t>enqueue</a:t>
            </a:r>
            <a:r>
              <a:rPr lang="en-US" altLang="en-US" dirty="0"/>
              <a:t>( )</a:t>
            </a:r>
          </a:p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24" name="Text Box 62"/>
          <p:cNvSpPr txBox="1">
            <a:spLocks noChangeArrowheads="1"/>
          </p:cNvSpPr>
          <p:nvPr/>
        </p:nvSpPr>
        <p:spPr bwMode="auto">
          <a:xfrm>
            <a:off x="152400" y="4038600"/>
            <a:ext cx="2001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After </a:t>
            </a:r>
            <a:r>
              <a:rPr lang="en-US" altLang="en-US" dirty="0" err="1"/>
              <a:t>enqueue</a:t>
            </a:r>
            <a:r>
              <a:rPr lang="en-US" altLang="en-US" dirty="0"/>
              <a:t>:</a:t>
            </a:r>
          </a:p>
        </p:txBody>
      </p:sp>
      <p:sp>
        <p:nvSpPr>
          <p:cNvPr id="64" name="Text Box 63"/>
          <p:cNvSpPr txBox="1">
            <a:spLocks noChangeArrowheads="1"/>
          </p:cNvSpPr>
          <p:nvPr/>
        </p:nvSpPr>
        <p:spPr bwMode="auto">
          <a:xfrm>
            <a:off x="152400" y="3018865"/>
            <a:ext cx="2001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After </a:t>
            </a:r>
            <a:r>
              <a:rPr lang="en-US" altLang="en-US" dirty="0" err="1"/>
              <a:t>dequeue</a:t>
            </a:r>
            <a:r>
              <a:rPr lang="en-US" altLang="en-US" dirty="0"/>
              <a:t>:</a:t>
            </a:r>
          </a:p>
        </p:txBody>
      </p:sp>
      <p:grpSp>
        <p:nvGrpSpPr>
          <p:cNvPr id="65" name="Group 42"/>
          <p:cNvGrpSpPr>
            <a:grpSpLocks/>
          </p:cNvGrpSpPr>
          <p:nvPr/>
        </p:nvGrpSpPr>
        <p:grpSpPr bwMode="auto">
          <a:xfrm>
            <a:off x="2133600" y="3018865"/>
            <a:ext cx="6203950" cy="685800"/>
            <a:chOff x="720" y="2592"/>
            <a:chExt cx="3908" cy="432"/>
          </a:xfrm>
        </p:grpSpPr>
        <p:grpSp>
          <p:nvGrpSpPr>
            <p:cNvPr id="66" name="Group 43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71" name="Rectangle 44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45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46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Rectangle 47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Rectangle 48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Text Box 49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77" name="Text Box 50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78" name="Rectangle 51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Text Box 52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80" name="Text Box 53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81" name="Text Box 54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82" name="Text Box 55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83" name="Line 56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7" name="Rectangle 57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Rectangle 58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Text Box 59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70" name="Text Box 60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grpSp>
        <p:nvGrpSpPr>
          <p:cNvPr id="84" name="Group 42"/>
          <p:cNvGrpSpPr>
            <a:grpSpLocks/>
          </p:cNvGrpSpPr>
          <p:nvPr/>
        </p:nvGrpSpPr>
        <p:grpSpPr bwMode="auto">
          <a:xfrm>
            <a:off x="2151156" y="3995738"/>
            <a:ext cx="6203950" cy="685800"/>
            <a:chOff x="720" y="2592"/>
            <a:chExt cx="3908" cy="432"/>
          </a:xfrm>
        </p:grpSpPr>
        <p:grpSp>
          <p:nvGrpSpPr>
            <p:cNvPr id="85" name="Group 43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90" name="Rectangle 44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45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46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47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48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Text Box 49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96" name="Text Box 50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97" name="Rectangle 51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Text Box 52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99" name="Text Box 53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100" name="Text Box 54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101" name="Text Box 55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102" name="Line 56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6" name="Rectangle 57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Rectangle 58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Text Box 59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89" name="Text Box 60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406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b="1" dirty="0" err="1"/>
              <a:t>enqueue</a:t>
            </a:r>
            <a:r>
              <a:rPr lang="en-US" sz="1800" dirty="0"/>
              <a:t> 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     </a:t>
            </a:r>
            <a:r>
              <a:rPr lang="en-US" sz="1800" dirty="0" err="1"/>
              <a:t>arr</a:t>
            </a:r>
            <a:r>
              <a:rPr lang="en-US" sz="1800" dirty="0"/>
              <a:t>[rare]=</a:t>
            </a:r>
            <a:r>
              <a:rPr lang="en-US" sz="1800" dirty="0" err="1"/>
              <a:t>val</a:t>
            </a:r>
            <a:r>
              <a:rPr lang="en-US" sz="1800" dirty="0"/>
              <a:t>; //</a:t>
            </a:r>
            <a:r>
              <a:rPr lang="en-US" sz="1800" dirty="0" err="1"/>
              <a:t>arr</a:t>
            </a:r>
            <a:r>
              <a:rPr lang="en-US" sz="1800" dirty="0"/>
              <a:t>[0]=10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else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&lt;&lt;"queue is full"&lt;&lt;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6031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b="1" dirty="0" err="1"/>
              <a:t>enqueue</a:t>
            </a:r>
            <a:r>
              <a:rPr lang="en-US" sz="1800" dirty="0"/>
              <a:t> 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solidFill>
                  <a:srgbClr val="00B050"/>
                </a:solidFill>
              </a:rPr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arr</a:t>
            </a:r>
            <a:r>
              <a:rPr lang="en-US" sz="1800" dirty="0"/>
              <a:t>[rare]=</a:t>
            </a:r>
            <a:r>
              <a:rPr lang="en-US" sz="1800" dirty="0" err="1"/>
              <a:t>val</a:t>
            </a:r>
            <a:r>
              <a:rPr lang="en-US" sz="1800" dirty="0"/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4" name="Straight Arrow Connector 23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207125" y="3786654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and Rare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</p:spTree>
    <p:extLst>
      <p:ext uri="{BB962C8B-B14F-4D97-AF65-F5344CB8AC3E}">
        <p14:creationId xmlns:p14="http://schemas.microsoft.com/office/powerpoint/2010/main" val="2568277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enqueue</a:t>
            </a:r>
            <a:r>
              <a:rPr lang="en-US" sz="1800" dirty="0"/>
              <a:t>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B050"/>
                </a:solidFill>
              </a:rPr>
              <a:t>arr</a:t>
            </a:r>
            <a:r>
              <a:rPr lang="en-US" sz="1800" dirty="0">
                <a:solidFill>
                  <a:srgbClr val="00B050"/>
                </a:solidFill>
              </a:rPr>
              <a:t>[rare]=</a:t>
            </a:r>
            <a:r>
              <a:rPr lang="en-US" sz="1800" dirty="0" err="1">
                <a:solidFill>
                  <a:srgbClr val="00B050"/>
                </a:solidFill>
              </a:rPr>
              <a:t>val</a:t>
            </a:r>
            <a:r>
              <a:rPr lang="en-US" sz="1800" dirty="0">
                <a:solidFill>
                  <a:srgbClr val="00B050"/>
                </a:solidFill>
              </a:rPr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4" name="Straight Arrow Connector 23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207125" y="3786654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and Rare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</p:spTree>
    <p:extLst>
      <p:ext uri="{BB962C8B-B14F-4D97-AF65-F5344CB8AC3E}">
        <p14:creationId xmlns:p14="http://schemas.microsoft.com/office/powerpoint/2010/main" val="799961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enqueue</a:t>
            </a:r>
            <a:r>
              <a:rPr lang="en-US" sz="1800" dirty="0"/>
              <a:t>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arr</a:t>
            </a:r>
            <a:r>
              <a:rPr lang="en-US" sz="1800" dirty="0"/>
              <a:t>[rare]=</a:t>
            </a:r>
            <a:r>
              <a:rPr lang="en-US" sz="1800" dirty="0" err="1"/>
              <a:t>val</a:t>
            </a:r>
            <a:r>
              <a:rPr lang="en-US" sz="1800" dirty="0"/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07125" y="3786654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and Rare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</p:spTree>
    <p:extLst>
      <p:ext uri="{BB962C8B-B14F-4D97-AF65-F5344CB8AC3E}">
        <p14:creationId xmlns:p14="http://schemas.microsoft.com/office/powerpoint/2010/main" val="1539109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enqueue</a:t>
            </a:r>
            <a:r>
              <a:rPr lang="en-US" sz="1800" dirty="0"/>
              <a:t>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arr</a:t>
            </a:r>
            <a:r>
              <a:rPr lang="en-US" sz="1800" dirty="0"/>
              <a:t>[rare]=</a:t>
            </a:r>
            <a:r>
              <a:rPr lang="en-US" sz="1800" dirty="0" err="1"/>
              <a:t>val</a:t>
            </a:r>
            <a:r>
              <a:rPr lang="en-US" sz="1800" dirty="0"/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56375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248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269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enqueue</a:t>
            </a:r>
            <a:r>
              <a:rPr lang="en-US" sz="1800" dirty="0"/>
              <a:t>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B050"/>
                </a:solidFill>
              </a:rPr>
              <a:t>arr</a:t>
            </a:r>
            <a:r>
              <a:rPr lang="en-US" sz="1800" dirty="0">
                <a:solidFill>
                  <a:srgbClr val="00B050"/>
                </a:solidFill>
              </a:rPr>
              <a:t>[rare]=</a:t>
            </a:r>
            <a:r>
              <a:rPr lang="en-US" sz="1800" dirty="0" err="1">
                <a:solidFill>
                  <a:srgbClr val="00B050"/>
                </a:solidFill>
              </a:rPr>
              <a:t>val</a:t>
            </a:r>
            <a:r>
              <a:rPr lang="en-US" sz="1800" dirty="0">
                <a:solidFill>
                  <a:srgbClr val="00B050"/>
                </a:solidFill>
              </a:rPr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56375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248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55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enqueue</a:t>
            </a:r>
            <a:r>
              <a:rPr lang="en-US" sz="1800" dirty="0"/>
              <a:t>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arr</a:t>
            </a:r>
            <a:r>
              <a:rPr lang="en-US" sz="1800" dirty="0"/>
              <a:t>[rare]=</a:t>
            </a:r>
            <a:r>
              <a:rPr lang="en-US" sz="1800" dirty="0" err="1"/>
              <a:t>val</a:t>
            </a:r>
            <a:r>
              <a:rPr lang="en-US" sz="1800" dirty="0"/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56375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248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914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enqueue</a:t>
            </a:r>
            <a:r>
              <a:rPr lang="en-US" sz="1800" dirty="0"/>
              <a:t>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arr</a:t>
            </a:r>
            <a:r>
              <a:rPr lang="en-US" sz="1800" dirty="0"/>
              <a:t>[rare]=</a:t>
            </a:r>
            <a:r>
              <a:rPr lang="en-US" sz="1800" dirty="0" err="1"/>
              <a:t>val</a:t>
            </a:r>
            <a:r>
              <a:rPr lang="en-US" sz="1800" dirty="0"/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56375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054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6388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910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enqueue</a:t>
            </a:r>
            <a:r>
              <a:rPr lang="en-US" sz="1800" dirty="0"/>
              <a:t>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B050"/>
                </a:solidFill>
              </a:rPr>
              <a:t>arr</a:t>
            </a:r>
            <a:r>
              <a:rPr lang="en-US" sz="1800" dirty="0">
                <a:solidFill>
                  <a:srgbClr val="00B050"/>
                </a:solidFill>
              </a:rPr>
              <a:t>[rare]=</a:t>
            </a:r>
            <a:r>
              <a:rPr lang="en-US" sz="1800" dirty="0" err="1">
                <a:solidFill>
                  <a:srgbClr val="00B050"/>
                </a:solidFill>
              </a:rPr>
              <a:t>val</a:t>
            </a:r>
            <a:r>
              <a:rPr lang="en-US" sz="1800" dirty="0">
                <a:solidFill>
                  <a:srgbClr val="00B050"/>
                </a:solidFill>
              </a:rPr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rare=rare+1;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56375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975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032375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744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Suppose 5 </a:t>
            </a:r>
            <a:r>
              <a:rPr lang="en-US" dirty="0" err="1"/>
              <a:t>enqueue</a:t>
            </a:r>
            <a:r>
              <a:rPr lang="en-US" dirty="0"/>
              <a:t> have been made. Now, we like to </a:t>
            </a:r>
            <a:r>
              <a:rPr lang="en-US" dirty="0" err="1"/>
              <a:t>dequeue</a:t>
            </a:r>
            <a:r>
              <a:rPr lang="en-US" dirty="0"/>
              <a:t> 2 elements</a:t>
            </a:r>
            <a:endParaRPr lang="en-US" sz="3200" dirty="0"/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56375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9775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3813175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3581400" y="487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3581400" y="5105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707472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dequeue</a:t>
            </a:r>
            <a:r>
              <a:rPr lang="en-US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solidFill>
                  <a:srgbClr val="00B050"/>
                </a:solidFill>
              </a:rPr>
              <a:t>(length&gt;0)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{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value=</a:t>
            </a:r>
            <a:r>
              <a:rPr lang="en-US" sz="1800" dirty="0" err="1">
                <a:solidFill>
                  <a:srgbClr val="00B050"/>
                </a:solidFill>
              </a:rPr>
              <a:t>arr</a:t>
            </a:r>
            <a:r>
              <a:rPr lang="en-US" sz="1800" dirty="0">
                <a:solidFill>
                  <a:srgbClr val="00B050"/>
                </a:solidFill>
              </a:rPr>
              <a:t>[front];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front=front+1;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length--;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return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>
            <a:endCxn id="14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56375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343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16269" y="5738346"/>
            <a:ext cx="1638300" cy="602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value= value at index 0</a:t>
            </a:r>
          </a:p>
        </p:txBody>
      </p:sp>
    </p:spTree>
    <p:extLst>
      <p:ext uri="{BB962C8B-B14F-4D97-AF65-F5344CB8AC3E}">
        <p14:creationId xmlns:p14="http://schemas.microsoft.com/office/powerpoint/2010/main" val="1667573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dequeue</a:t>
            </a:r>
            <a:r>
              <a:rPr lang="en-US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(length&gt;0)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value=</a:t>
            </a:r>
            <a:r>
              <a:rPr lang="en-US" sz="1800" dirty="0" err="1"/>
              <a:t>arr</a:t>
            </a:r>
            <a:r>
              <a:rPr lang="en-US" sz="1800" dirty="0"/>
              <a:t>[front];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front=front+1;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length--;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return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6283325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867400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343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16269" y="5738346"/>
            <a:ext cx="1638300" cy="602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value= value at index 0</a:t>
            </a:r>
          </a:p>
        </p:txBody>
      </p:sp>
    </p:spTree>
    <p:extLst>
      <p:ext uri="{BB962C8B-B14F-4D97-AF65-F5344CB8AC3E}">
        <p14:creationId xmlns:p14="http://schemas.microsoft.com/office/powerpoint/2010/main" val="3180478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dequeue</a:t>
            </a:r>
            <a:r>
              <a:rPr lang="en-US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(length&gt;0)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value=</a:t>
            </a:r>
            <a:r>
              <a:rPr lang="en-US" sz="1800" dirty="0" err="1"/>
              <a:t>arr</a:t>
            </a:r>
            <a:r>
              <a:rPr lang="en-US" sz="1800" dirty="0"/>
              <a:t>[front];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front=front+1;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length--;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return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6283325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867400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343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16269" y="5738346"/>
            <a:ext cx="1638300" cy="602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value= value at index 0</a:t>
            </a:r>
          </a:p>
        </p:txBody>
      </p:sp>
    </p:spTree>
    <p:extLst>
      <p:ext uri="{BB962C8B-B14F-4D97-AF65-F5344CB8AC3E}">
        <p14:creationId xmlns:p14="http://schemas.microsoft.com/office/powerpoint/2010/main" val="39823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dequeue</a:t>
            </a:r>
            <a:r>
              <a:rPr lang="en-US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solidFill>
                  <a:srgbClr val="00B050"/>
                </a:solidFill>
              </a:rPr>
              <a:t>(length&gt;0)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{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value=</a:t>
            </a:r>
            <a:r>
              <a:rPr lang="en-US" sz="1800" dirty="0" err="1">
                <a:solidFill>
                  <a:srgbClr val="00B050"/>
                </a:solidFill>
              </a:rPr>
              <a:t>arr</a:t>
            </a:r>
            <a:r>
              <a:rPr lang="en-US" sz="1800" dirty="0">
                <a:solidFill>
                  <a:srgbClr val="00B050"/>
                </a:solidFill>
              </a:rPr>
              <a:t>[front];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front=front+1;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length--;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return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6283325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867400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343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16269" y="5738346"/>
            <a:ext cx="1638300" cy="602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value= value at index 1</a:t>
            </a:r>
          </a:p>
        </p:txBody>
      </p:sp>
    </p:spTree>
    <p:extLst>
      <p:ext uri="{BB962C8B-B14F-4D97-AF65-F5344CB8AC3E}">
        <p14:creationId xmlns:p14="http://schemas.microsoft.com/office/powerpoint/2010/main" val="2250008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dequeue</a:t>
            </a:r>
            <a:r>
              <a:rPr lang="en-US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(length&gt;0)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value=</a:t>
            </a:r>
            <a:r>
              <a:rPr lang="en-US" sz="1800" dirty="0" err="1"/>
              <a:t>arr</a:t>
            </a:r>
            <a:r>
              <a:rPr lang="en-US" sz="1800" dirty="0"/>
              <a:t>[front];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front=front+1;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length--;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return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5597525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81600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343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16269" y="5738346"/>
            <a:ext cx="1638300" cy="602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value= value at index 1</a:t>
            </a:r>
          </a:p>
        </p:txBody>
      </p:sp>
    </p:spTree>
    <p:extLst>
      <p:ext uri="{BB962C8B-B14F-4D97-AF65-F5344CB8AC3E}">
        <p14:creationId xmlns:p14="http://schemas.microsoft.com/office/powerpoint/2010/main" val="833356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dequeue</a:t>
            </a:r>
            <a:r>
              <a:rPr lang="en-US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(length&gt;0)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value=</a:t>
            </a:r>
            <a:r>
              <a:rPr lang="en-US" sz="1800" dirty="0" err="1"/>
              <a:t>arr</a:t>
            </a:r>
            <a:r>
              <a:rPr lang="en-US" sz="1800" dirty="0"/>
              <a:t>[front];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front=front+1;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length--;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return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5597525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81600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343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16269" y="5738346"/>
            <a:ext cx="1638300" cy="602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value= value at index 1</a:t>
            </a:r>
          </a:p>
        </p:txBody>
      </p:sp>
    </p:spTree>
    <p:extLst>
      <p:ext uri="{BB962C8B-B14F-4D97-AF65-F5344CB8AC3E}">
        <p14:creationId xmlns:p14="http://schemas.microsoft.com/office/powerpoint/2010/main" val="2939387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Overflow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Suppose 50 </a:t>
            </a:r>
            <a:r>
              <a:rPr lang="en-US" altLang="en-US" dirty="0" err="1"/>
              <a:t>enqueue</a:t>
            </a:r>
            <a:r>
              <a:rPr lang="en-US" altLang="en-US" dirty="0"/>
              <a:t> have been made when program starts, so now the queue array is full</a:t>
            </a:r>
          </a:p>
          <a:p>
            <a:pPr>
              <a:buNone/>
            </a:pPr>
            <a:r>
              <a:rPr lang="en-US" altLang="en-US" dirty="0"/>
              <a:t>   </a:t>
            </a:r>
          </a:p>
          <a:p>
            <a:endParaRPr lang="en-US" altLang="en-US" dirty="0"/>
          </a:p>
          <a:p>
            <a:r>
              <a:rPr lang="en-US" altLang="en-US" dirty="0"/>
              <a:t>Assume 4 calls to </a:t>
            </a:r>
            <a:r>
              <a:rPr lang="en-US" altLang="en-US" dirty="0" err="1"/>
              <a:t>dequeue</a:t>
            </a:r>
            <a:r>
              <a:rPr lang="en-US" altLang="en-US" dirty="0"/>
              <a:t>( ) are made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Assume a call to </a:t>
            </a:r>
            <a:r>
              <a:rPr lang="en-US" altLang="en-US" dirty="0" err="1"/>
              <a:t>enqueue</a:t>
            </a:r>
            <a:r>
              <a:rPr lang="en-US" altLang="en-US" dirty="0"/>
              <a:t>( ) is made now. The tail part seems to have no space, but the front has 4 unused spaces; if never used, they are wasted.</a:t>
            </a:r>
          </a:p>
          <a:p>
            <a:endParaRPr lang="en-US" dirty="0"/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1143000" y="2362200"/>
            <a:ext cx="6203950" cy="685800"/>
            <a:chOff x="720" y="2592"/>
            <a:chExt cx="3908" cy="432"/>
          </a:xfrm>
        </p:grpSpPr>
        <p:grpSp>
          <p:nvGrpSpPr>
            <p:cNvPr id="5" name="Group 2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2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2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2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2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2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3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3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3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3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3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3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3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3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3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3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4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4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grpSp>
        <p:nvGrpSpPr>
          <p:cNvPr id="23" name="Group 23"/>
          <p:cNvGrpSpPr>
            <a:grpSpLocks/>
          </p:cNvGrpSpPr>
          <p:nvPr/>
        </p:nvGrpSpPr>
        <p:grpSpPr bwMode="auto">
          <a:xfrm>
            <a:off x="1143000" y="3926681"/>
            <a:ext cx="6203950" cy="685800"/>
            <a:chOff x="720" y="2592"/>
            <a:chExt cx="3908" cy="432"/>
          </a:xfrm>
        </p:grpSpPr>
        <p:grpSp>
          <p:nvGrpSpPr>
            <p:cNvPr id="24" name="Group 2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Text Box 3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35" name="Text Box 3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36" name="Rectangle 3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Text Box 3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38" name="Text Box 3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39" name="Text Box 3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40" name="Text Box 3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41" name="Line 3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Rectangle 3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3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4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28" name="Text Box 4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1987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1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7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8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20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1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2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3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4" name="Straight Arrow Connector 23"/>
          <p:cNvCxnSpPr>
            <a:endCxn id="15" idx="0"/>
          </p:cNvCxnSpPr>
          <p:nvPr/>
        </p:nvCxnSpPr>
        <p:spPr>
          <a:xfrm>
            <a:off x="69723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556375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054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6388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781050" y="1535113"/>
            <a:ext cx="7886700" cy="479425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Use modulus to increment </a:t>
            </a:r>
            <a:r>
              <a:rPr lang="en-US" b="1" dirty="0"/>
              <a:t>front</a:t>
            </a:r>
            <a:r>
              <a:rPr lang="en-US" dirty="0"/>
              <a:t> and </a:t>
            </a:r>
            <a:r>
              <a:rPr lang="en-US" b="1" dirty="0"/>
              <a:t>rare</a:t>
            </a:r>
            <a:r>
              <a:rPr lang="en-US" dirty="0"/>
              <a:t>. 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solidFill>
                <a:srgbClr val="0000FF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void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enqueue</a:t>
            </a:r>
            <a:r>
              <a:rPr lang="en-US" sz="1800" dirty="0"/>
              <a:t>(double </a:t>
            </a:r>
            <a:r>
              <a:rPr lang="en-US" sz="1800" dirty="0" err="1"/>
              <a:t>val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(length&lt;capacity)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arr</a:t>
            </a:r>
            <a:r>
              <a:rPr lang="en-US" sz="1800" dirty="0"/>
              <a:t>[rare]=</a:t>
            </a:r>
            <a:r>
              <a:rPr lang="en-US" sz="1800" dirty="0" err="1"/>
              <a:t>val</a:t>
            </a:r>
            <a:r>
              <a:rPr lang="en-US" sz="1800" dirty="0"/>
              <a:t>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/>
              <a:t>length++; 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B050"/>
                </a:solidFill>
              </a:rPr>
              <a:t>rare=rare+1%capacity;</a:t>
            </a:r>
          </a:p>
          <a:p>
            <a:pPr marL="0" indent="457200">
              <a:spcBef>
                <a:spcPts val="0"/>
              </a:spcBef>
              <a:buNone/>
            </a:pPr>
            <a:r>
              <a:rPr lang="en-US" sz="1800" dirty="0" err="1"/>
              <a:t>cout</a:t>
            </a:r>
            <a:r>
              <a:rPr lang="en-US" sz="1800" dirty="0"/>
              <a:t>&lt;&lt;"value added "&lt;&lt;</a:t>
            </a:r>
            <a:r>
              <a:rPr lang="en-US" sz="1800" dirty="0" err="1"/>
              <a:t>val</a:t>
            </a:r>
            <a:r>
              <a:rPr lang="en-US" sz="1800" dirty="0"/>
              <a:t>&lt;&lt;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174625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673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/>
              <a:t>dequeue</a:t>
            </a:r>
            <a:r>
              <a:rPr lang="en-US" sz="18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double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if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(length&gt;0)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{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value=</a:t>
            </a:r>
            <a:r>
              <a:rPr lang="en-US" sz="1800" dirty="0" err="1"/>
              <a:t>arr</a:t>
            </a:r>
            <a:r>
              <a:rPr lang="en-US" sz="1800" dirty="0"/>
              <a:t>[front];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B050"/>
                </a:solidFill>
              </a:rPr>
              <a:t>front=front+1%capacity;</a:t>
            </a: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/>
              <a:t>length--;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  <a:p>
            <a:pPr marL="282575" indent="0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FF"/>
                </a:solidFill>
              </a:rPr>
              <a:t>return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/>
              <a:t>value;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990600" y="4876800"/>
            <a:ext cx="6203950" cy="685800"/>
            <a:chOff x="720" y="2592"/>
            <a:chExt cx="3908" cy="43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20" y="2592"/>
              <a:ext cx="3908" cy="432"/>
              <a:chOff x="720" y="2592"/>
              <a:chExt cx="3908" cy="432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20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3936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240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4416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0</a:t>
                </a: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1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240" cy="192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3552" y="2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2</a:t>
                </a:r>
              </a:p>
            </p:txBody>
          </p: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47</a:t>
                </a: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48</a:t>
                </a:r>
              </a:p>
            </p:txBody>
          </p: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49</a:t>
                </a: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1968" y="268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3120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9"/>
            <p:cNvSpPr>
              <a:spLocks noChangeArrowheads="1"/>
            </p:cNvSpPr>
            <p:nvPr/>
          </p:nvSpPr>
          <p:spPr bwMode="auto">
            <a:xfrm>
              <a:off x="2736" y="2592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784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4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316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3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5597525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81600" y="3786654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7125" y="5738346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length=3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09" y="5679281"/>
            <a:ext cx="16383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capacity=50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3810000"/>
            <a:ext cx="98742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rare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343400" y="4191000"/>
            <a:ext cx="0" cy="68580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16269" y="5738346"/>
            <a:ext cx="1638300" cy="602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value= value at index 1</a:t>
            </a:r>
          </a:p>
        </p:txBody>
      </p:sp>
    </p:spTree>
    <p:extLst>
      <p:ext uri="{BB962C8B-B14F-4D97-AF65-F5344CB8AC3E}">
        <p14:creationId xmlns:p14="http://schemas.microsoft.com/office/powerpoint/2010/main" val="19440302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3" id="{F5AD4678-7679-4377-835E-FB198AD9148D}" vid="{1BAE2C01-8116-45DC-A9FA-ABAB0BEAB8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03</Template>
  <TotalTime>2663</TotalTime>
  <Words>1615</Words>
  <Application>Microsoft Office PowerPoint</Application>
  <PresentationFormat>On-screen Show (4:3)</PresentationFormat>
  <Paragraphs>538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Bell MT</vt:lpstr>
      <vt:lpstr>Calibri</vt:lpstr>
      <vt:lpstr>Calibri Light</vt:lpstr>
      <vt:lpstr>Geneva</vt:lpstr>
      <vt:lpstr>Times New Roman</vt:lpstr>
      <vt:lpstr>Custom Design</vt:lpstr>
      <vt:lpstr>Data Structures and Algorithms</vt:lpstr>
      <vt:lpstr>Outlines</vt:lpstr>
      <vt:lpstr>Queue</vt:lpstr>
      <vt:lpstr>Example</vt:lpstr>
      <vt:lpstr>Example</vt:lpstr>
      <vt:lpstr>Queue Operations</vt:lpstr>
      <vt:lpstr>More About Queue</vt:lpstr>
      <vt:lpstr>Example of Queue</vt:lpstr>
      <vt:lpstr>A queue Class based on Array</vt:lpstr>
      <vt:lpstr>How head and tail Change</vt:lpstr>
      <vt:lpstr>How head and tail Change</vt:lpstr>
      <vt:lpstr>Example: enqueue</vt:lpstr>
      <vt:lpstr>Example: enqueue</vt:lpstr>
      <vt:lpstr>Example: enqueue</vt:lpstr>
      <vt:lpstr>Example: enqueue</vt:lpstr>
      <vt:lpstr>Example: enqueue</vt:lpstr>
      <vt:lpstr>Example: enqueue</vt:lpstr>
      <vt:lpstr>Example: enqueue</vt:lpstr>
      <vt:lpstr>Example: enqueue</vt:lpstr>
      <vt:lpstr>Example: enqueue</vt:lpstr>
      <vt:lpstr>Example: dequeue</vt:lpstr>
      <vt:lpstr>Example: dequeue</vt:lpstr>
      <vt:lpstr>Example: dequeue</vt:lpstr>
      <vt:lpstr>Example: dequeue</vt:lpstr>
      <vt:lpstr>Example: dequeue</vt:lpstr>
      <vt:lpstr>Example: dequeue</vt:lpstr>
      <vt:lpstr>Example: dequeue</vt:lpstr>
      <vt:lpstr>Overflow Issue</vt:lpstr>
      <vt:lpstr>Solution</vt:lpstr>
      <vt:lpstr>Example: dequeue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</dc:title>
  <dc:creator>samir obaid</dc:creator>
  <cp:lastModifiedBy>Afifa Zafar</cp:lastModifiedBy>
  <cp:revision>121</cp:revision>
  <dcterms:created xsi:type="dcterms:W3CDTF">2015-09-28T07:33:52Z</dcterms:created>
  <dcterms:modified xsi:type="dcterms:W3CDTF">2025-10-09T22:50:29Z</dcterms:modified>
</cp:coreProperties>
</file>